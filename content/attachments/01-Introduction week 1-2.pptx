
<file path=[Content_Types].xml><?xml version="1.0" encoding="utf-8"?>
<Types xmlns="http://schemas.openxmlformats.org/package/2006/content-types">
  <Default Extension="jpg" ContentType="image/jp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91" r:id="rId26"/>
    <p:sldId id="280" r:id="rId27"/>
    <p:sldId id="281" r:id="rId28"/>
    <p:sldId id="282" r:id="rId29"/>
    <p:sldId id="283" r:id="rId30"/>
    <p:sldId id="284" r:id="rId31"/>
    <p:sldId id="285" r:id="rId32"/>
    <p:sldId id="286" r:id="rId33"/>
    <p:sldId id="287" r:id="rId34"/>
    <p:sldId id="288" r:id="rId35"/>
    <p:sldId id="289" r:id="rId36"/>
    <p:sldId id="290" r:id="rId37"/>
  </p:sldIdLst>
  <p:sldSz cx="9144000" cy="6858000" type="screen4x3"/>
  <p:notesSz cx="9144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6458" autoAdjust="0"/>
    <p:restoredTop sz="94660"/>
  </p:normalViewPr>
  <p:slideViewPr>
    <p:cSldViewPr>
      <p:cViewPr varScale="1">
        <p:scale>
          <a:sx n="105" d="100"/>
          <a:sy n="105" d="100"/>
        </p:scale>
        <p:origin x="1746" y="9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06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06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06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1" i="0">
                <a:solidFill>
                  <a:srgbClr val="F06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jp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bg object 16"/>
          <p:cNvPicPr/>
          <p:nvPr/>
        </p:nvPicPr>
        <p:blipFill>
          <a:blip r:embed="rId7" cstate="print"/>
          <a:stretch>
            <a:fillRect/>
          </a:stretch>
        </p:blipFill>
        <p:spPr>
          <a:xfrm>
            <a:off x="0" y="-1"/>
            <a:ext cx="882395" cy="6857999"/>
          </a:xfrm>
          <a:prstGeom prst="rect">
            <a:avLst/>
          </a:prstGeom>
        </p:spPr>
      </p:pic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1173886" y="350646"/>
            <a:ext cx="6796227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1" i="0">
                <a:solidFill>
                  <a:srgbClr val="F06200"/>
                </a:solidFill>
                <a:latin typeface="Calibri"/>
                <a:cs typeface="Calibr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1851405" y="3041840"/>
            <a:ext cx="4693284" cy="3265169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b="0" i="0">
                <a:solidFill>
                  <a:schemeClr val="tx1"/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7/19/2025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g"/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mailto:catherine.shi@aut.ac.nz" TargetMode="External"/><Relationship Id="rId2" Type="http://schemas.openxmlformats.org/officeDocument/2006/relationships/hyperlink" Target="mailto:ramesh.lal@aut.ac.n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mailto:cmsundergrad@aut.ac.nz" TargetMode="External"/><Relationship Id="rId5" Type="http://schemas.openxmlformats.org/officeDocument/2006/relationships/hyperlink" Target="mailto:leanne.bint@aut.ac.nz" TargetMode="External"/><Relationship Id="rId4" Type="http://schemas.openxmlformats.org/officeDocument/2006/relationships/hyperlink" Target="mailto:olivia.tang@aut.ac.nz" TargetMode="Externa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hyperlink" Target="mailto:cmsundergrad@aut.ac.nz" TargetMode="Externa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hyperlink" Target="mailto:cmsundergrad@aut.ac.nz" TargetMode="Externa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g"/><Relationship Id="rId1" Type="http://schemas.openxmlformats.org/officeDocument/2006/relationships/slideLayout" Target="../slideLayouts/slideLayout5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3" Type="http://schemas.openxmlformats.org/officeDocument/2006/relationships/hyperlink" Target="mailto:tr@betelgeuse.gal" TargetMode="External"/><Relationship Id="rId2" Type="http://schemas.openxmlformats.org/officeDocument/2006/relationships/hyperlink" Target="mailto:fp@betelgeuse.gal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zaphod@betelgeuse.gal" TargetMode="External"/><Relationship Id="rId4" Type="http://schemas.openxmlformats.org/officeDocument/2006/relationships/hyperlink" Target="mailto:marvin@betelgeuse.gal" TargetMode="Externa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2" Type="http://schemas.openxmlformats.org/officeDocument/2006/relationships/hyperlink" Target="https://aut.ac.nz.libguides.com/APA7th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7098792" y="0"/>
              <a:ext cx="1676400" cy="1667255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0" y="3282696"/>
            <a:ext cx="6923405" cy="2151871"/>
          </a:xfrm>
          <a:prstGeom prst="rect">
            <a:avLst/>
          </a:prstGeom>
          <a:solidFill>
            <a:srgbClr val="F06200">
              <a:alpha val="79998"/>
            </a:srgbClr>
          </a:solidFill>
        </p:spPr>
        <p:txBody>
          <a:bodyPr vert="horz" wrap="square" lIns="0" tIns="314960" rIns="0" bIns="0" rtlCol="0">
            <a:spAutoFit/>
          </a:bodyPr>
          <a:lstStyle/>
          <a:p>
            <a:pPr>
              <a:lnSpc>
                <a:spcPct val="100000"/>
              </a:lnSpc>
              <a:spcBef>
                <a:spcPts val="2480"/>
              </a:spcBef>
            </a:pPr>
            <a:endParaRPr sz="3600" dirty="0">
              <a:latin typeface="Times New Roman"/>
              <a:cs typeface="Times New Roman"/>
            </a:endParaRPr>
          </a:p>
          <a:p>
            <a:pPr marL="740410">
              <a:lnSpc>
                <a:spcPct val="100000"/>
              </a:lnSpc>
            </a:pP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Introduction</a:t>
            </a:r>
            <a:r>
              <a:rPr sz="3600" b="1" spc="-8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to</a:t>
            </a:r>
            <a:r>
              <a:rPr sz="3600" b="1" spc="-14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dirty="0">
                <a:solidFill>
                  <a:srgbClr val="FFFFFF"/>
                </a:solidFill>
                <a:latin typeface="Calibri"/>
                <a:cs typeface="Calibri"/>
              </a:rPr>
              <a:t>BCIS</a:t>
            </a:r>
            <a:r>
              <a:rPr sz="3600" b="1" spc="-1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3600" b="1" spc="-10" dirty="0">
                <a:solidFill>
                  <a:srgbClr val="FFFFFF"/>
                </a:solidFill>
                <a:latin typeface="Calibri"/>
                <a:cs typeface="Calibri"/>
              </a:rPr>
              <a:t>Project</a:t>
            </a:r>
            <a:endParaRPr sz="3600" dirty="0">
              <a:latin typeface="Calibri"/>
              <a:cs typeface="Calibri"/>
            </a:endParaRPr>
          </a:p>
          <a:p>
            <a:pPr marL="740410">
              <a:lnSpc>
                <a:spcPct val="100000"/>
              </a:lnSpc>
              <a:spcBef>
                <a:spcPts val="720"/>
              </a:spcBef>
            </a:pP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Part</a:t>
            </a:r>
            <a:r>
              <a:rPr sz="1800" spc="-5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1-</a:t>
            </a:r>
            <a:r>
              <a:rPr sz="1800" spc="-3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FFFF"/>
                </a:solidFill>
                <a:latin typeface="Calibri"/>
                <a:cs typeface="Calibri"/>
              </a:rPr>
              <a:t>COMP702/COMP708</a:t>
            </a:r>
            <a:endParaRPr sz="1800" dirty="0">
              <a:latin typeface="Calibri"/>
              <a:cs typeface="Calibri"/>
            </a:endParaRPr>
          </a:p>
          <a:p>
            <a:pPr marL="740410">
              <a:lnSpc>
                <a:spcPts val="1985"/>
              </a:lnSpc>
              <a:spcBef>
                <a:spcPts val="800"/>
              </a:spcBef>
            </a:pPr>
            <a:r>
              <a:rPr lang="en-NZ" sz="1800" dirty="0">
                <a:solidFill>
                  <a:srgbClr val="FFFFFF"/>
                </a:solidFill>
                <a:latin typeface="Calibri"/>
                <a:cs typeface="Calibri"/>
              </a:rPr>
              <a:t>Olivia Tang, Prof. Catherine Shi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&amp;</a:t>
            </a:r>
            <a:r>
              <a:rPr sz="1800" spc="-6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Dr</a:t>
            </a:r>
            <a:r>
              <a:rPr sz="1800" spc="-6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FFFF"/>
                </a:solidFill>
                <a:latin typeface="Calibri"/>
                <a:cs typeface="Calibri"/>
              </a:rPr>
              <a:t>Ramesh</a:t>
            </a:r>
            <a:r>
              <a:rPr sz="1800" spc="-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800" spc="-25" dirty="0">
                <a:solidFill>
                  <a:srgbClr val="FFFFFF"/>
                </a:solidFill>
                <a:latin typeface="Calibri"/>
                <a:cs typeface="Calibri"/>
              </a:rPr>
              <a:t>Lal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9646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Workshop</a:t>
            </a:r>
            <a:r>
              <a:rPr sz="2400" spc="-45" dirty="0"/>
              <a:t> </a:t>
            </a:r>
            <a:r>
              <a:rPr sz="2400" spc="-10" dirty="0"/>
              <a:t>Agenda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764235" y="1078459"/>
            <a:ext cx="7609840" cy="273113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0"/>
              </a:spcBef>
            </a:pPr>
            <a:r>
              <a:rPr sz="2000" dirty="0">
                <a:latin typeface="Calibri"/>
                <a:cs typeface="Calibri"/>
              </a:rPr>
              <a:t>Provide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Information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various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aspects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paper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allocation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000" dirty="0">
                <a:latin typeface="Calibri"/>
                <a:cs typeface="Calibri"/>
              </a:rPr>
              <a:t>BCIS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teaching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team</a:t>
            </a:r>
            <a:endParaRPr sz="2000">
              <a:latin typeface="Calibri"/>
              <a:cs typeface="Calibri"/>
            </a:endParaRPr>
          </a:p>
          <a:p>
            <a:pPr marL="469900" marR="5080" indent="-457200">
              <a:lnSpc>
                <a:spcPts val="2200"/>
              </a:lnSpc>
              <a:spcBef>
                <a:spcPts val="1045"/>
              </a:spcBef>
              <a:buClr>
                <a:srgbClr val="F5821F"/>
              </a:buClr>
              <a:buAutoNum type="arabicPeriod"/>
              <a:tabLst>
                <a:tab pos="469900" algn="l"/>
              </a:tabLst>
            </a:pPr>
            <a:r>
              <a:rPr sz="2000" spc="-20" dirty="0">
                <a:latin typeface="Calibri"/>
                <a:cs typeface="Calibri"/>
              </a:rPr>
              <a:t>Workshop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35" dirty="0">
                <a:latin typeface="Calibri"/>
                <a:cs typeface="Calibri"/>
              </a:rPr>
              <a:t>off-</a:t>
            </a:r>
            <a:r>
              <a:rPr sz="2000" dirty="0">
                <a:latin typeface="Calibri"/>
                <a:cs typeface="Calibri"/>
              </a:rPr>
              <a:t>site</a:t>
            </a:r>
            <a:r>
              <a:rPr sz="2000" spc="-10" dirty="0">
                <a:latin typeface="Calibri"/>
                <a:cs typeface="Calibri"/>
              </a:rPr>
              <a:t> schedules,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assessments,</a:t>
            </a:r>
            <a:r>
              <a:rPr sz="2000" spc="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worklog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book,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portfolio, teamwork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665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proposal-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first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assessment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795"/>
              </a:spcBef>
              <a:buClr>
                <a:srgbClr val="F5821F"/>
              </a:buClr>
              <a:buAutoNum type="arabicPeriod"/>
              <a:tabLst>
                <a:tab pos="469265" algn="l"/>
              </a:tabLst>
            </a:pPr>
            <a:r>
              <a:rPr sz="2000" dirty="0">
                <a:latin typeface="Calibri"/>
                <a:cs typeface="Calibri"/>
              </a:rPr>
              <a:t>Things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week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77238" y="57150"/>
            <a:ext cx="31299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spc="-10" dirty="0"/>
              <a:t>Project</a:t>
            </a:r>
            <a:r>
              <a:rPr sz="2200" spc="-75" dirty="0"/>
              <a:t> </a:t>
            </a:r>
            <a:r>
              <a:rPr sz="2200" spc="-10" dirty="0"/>
              <a:t>Allocations</a:t>
            </a:r>
            <a:r>
              <a:rPr sz="2200" spc="-65" dirty="0"/>
              <a:t> </a:t>
            </a:r>
            <a:r>
              <a:rPr sz="2200" dirty="0"/>
              <a:t>S</a:t>
            </a:r>
            <a:r>
              <a:rPr lang="en-NZ" sz="2200" dirty="0"/>
              <a:t>2</a:t>
            </a:r>
            <a:r>
              <a:rPr sz="2200" spc="-65" dirty="0"/>
              <a:t> </a:t>
            </a:r>
            <a:r>
              <a:rPr sz="2200" spc="-20" dirty="0"/>
              <a:t>202</a:t>
            </a:r>
            <a:r>
              <a:rPr lang="en-NZ" sz="2200" spc="-20" dirty="0"/>
              <a:t>5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875487" y="429259"/>
            <a:ext cx="7973059" cy="5506251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305"/>
              </a:lnSpc>
              <a:spcBef>
                <a:spcPts val="1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30" dirty="0">
                <a:latin typeface="Calibri"/>
                <a:cs typeface="Calibri"/>
              </a:rPr>
              <a:t>Team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allocation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lang="en-NZ" sz="2000" spc="-30" dirty="0">
                <a:latin typeface="Calibri"/>
                <a:cs typeface="Calibri"/>
              </a:rPr>
              <a:t>will be </a:t>
            </a:r>
            <a:r>
              <a:rPr sz="2000" dirty="0">
                <a:latin typeface="Calibri"/>
                <a:cs typeface="Calibri"/>
              </a:rPr>
              <a:t>done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lang="en-NZ" sz="2000" spc="-80" dirty="0">
                <a:latin typeface="Calibri"/>
                <a:cs typeface="Calibri"/>
              </a:rPr>
              <a:t>tomorrow</a:t>
            </a:r>
            <a:r>
              <a:rPr sz="2000" spc="-20" dirty="0">
                <a:latin typeface="Calibri"/>
                <a:cs typeface="Calibri"/>
              </a:rPr>
              <a:t>;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lang="en-NZ" sz="2000" spc="-80" dirty="0">
                <a:latin typeface="Calibri"/>
                <a:cs typeface="Calibri"/>
              </a:rPr>
              <a:t>Monday, </a:t>
            </a:r>
            <a:r>
              <a:rPr sz="2000" spc="-20" dirty="0">
                <a:latin typeface="Calibri"/>
                <a:cs typeface="Calibri"/>
              </a:rPr>
              <a:t>notifications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emailed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you.</a:t>
            </a:r>
            <a:endParaRPr sz="2000" dirty="0">
              <a:latin typeface="Calibri"/>
              <a:cs typeface="Calibri"/>
            </a:endParaRPr>
          </a:p>
          <a:p>
            <a:pPr marL="241300" marR="367665" indent="-228600">
              <a:lnSpc>
                <a:spcPts val="2210"/>
              </a:lnSpc>
              <a:spcBef>
                <a:spcPts val="102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2000" dirty="0">
                <a:latin typeface="Calibri"/>
                <a:cs typeface="Calibri"/>
              </a:rPr>
              <a:t>EOI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closed Wednesday (11.59 pm</a:t>
            </a:r>
            <a:r>
              <a:rPr sz="2000" dirty="0">
                <a:latin typeface="Calibri"/>
                <a:cs typeface="Calibri"/>
              </a:rPr>
              <a:t>).</a:t>
            </a:r>
            <a:r>
              <a:rPr sz="2000" spc="2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lang="en-NZ" sz="2000" dirty="0">
                <a:latin typeface="Calibri"/>
                <a:cs typeface="Calibri"/>
              </a:rPr>
              <a:t>id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not </a:t>
            </a:r>
            <a:r>
              <a:rPr sz="2000" dirty="0">
                <a:latin typeface="Calibri"/>
                <a:cs typeface="Calibri"/>
              </a:rPr>
              <a:t>submit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one,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will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assign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major</a:t>
            </a:r>
            <a:r>
              <a:rPr lang="en-NZ" sz="2000" spc="-10" dirty="0">
                <a:latin typeface="Calibri"/>
                <a:cs typeface="Calibri"/>
              </a:rPr>
              <a:t>. 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5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lang="en-NZ" sz="2000" dirty="0">
                <a:highlight>
                  <a:srgbClr val="FFFF00"/>
                </a:highlight>
                <a:latin typeface="Calibri"/>
                <a:cs typeface="Calibri"/>
              </a:rPr>
              <a:t>We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have</a:t>
            </a:r>
            <a:r>
              <a:rPr sz="2000" spc="-4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spc="-45" dirty="0">
                <a:highlight>
                  <a:srgbClr val="FFFF00"/>
                </a:highlight>
                <a:latin typeface="Calibri"/>
                <a:cs typeface="Calibri"/>
              </a:rPr>
              <a:t>45 </a:t>
            </a:r>
            <a:r>
              <a:rPr sz="2000" spc="-55" dirty="0">
                <a:highlight>
                  <a:srgbClr val="FFFF00"/>
                </a:highlight>
                <a:latin typeface="Calibri"/>
                <a:cs typeface="Calibri"/>
              </a:rPr>
              <a:t>Part</a:t>
            </a:r>
            <a:r>
              <a:rPr sz="2000" spc="-6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lang="en-NZ" sz="2000" spc="-35" dirty="0">
                <a:highlight>
                  <a:srgbClr val="FFFF00"/>
                </a:highlight>
                <a:latin typeface="Calibri"/>
                <a:cs typeface="Calibri"/>
              </a:rPr>
              <a:t>2</a:t>
            </a:r>
            <a:r>
              <a:rPr sz="2000" spc="-100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teams</a:t>
            </a:r>
            <a:r>
              <a:rPr sz="2000" spc="5" dirty="0">
                <a:highlight>
                  <a:srgbClr val="FFFF00"/>
                </a:highlight>
                <a:latin typeface="Calibri"/>
                <a:cs typeface="Calibri"/>
              </a:rPr>
              <a:t> </a:t>
            </a:r>
            <a:r>
              <a:rPr sz="2000" dirty="0">
                <a:highlight>
                  <a:srgbClr val="FFFF00"/>
                </a:highlight>
                <a:latin typeface="Calibri"/>
                <a:cs typeface="Calibri"/>
              </a:rPr>
              <a:t>(</a:t>
            </a:r>
            <a:r>
              <a:rPr lang="en-NZ" sz="2000" dirty="0">
                <a:highlight>
                  <a:srgbClr val="FFFF00"/>
                </a:highlight>
                <a:latin typeface="Calibri"/>
                <a:cs typeface="Calibri"/>
              </a:rPr>
              <a:t>251 students</a:t>
            </a:r>
            <a:r>
              <a:rPr sz="2000" spc="-10" dirty="0">
                <a:highlight>
                  <a:srgbClr val="FFFF00"/>
                </a:highlight>
                <a:latin typeface="Calibri"/>
                <a:cs typeface="Calibri"/>
              </a:rPr>
              <a:t>).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The estimated number of Part 1 Teams for this semester is 35 and </a:t>
            </a:r>
            <a:r>
              <a:rPr lang="en-NZ" sz="2000" spc="-70" dirty="0">
                <a:latin typeface="Calibri"/>
                <a:cs typeface="Calibri"/>
              </a:rPr>
              <a:t>37 teams (around 160 Students). 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45" dirty="0">
                <a:latin typeface="Calibri"/>
                <a:cs typeface="Calibri"/>
              </a:rPr>
              <a:t>Team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capacity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(size)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R&amp;D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projects;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5-6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team</a:t>
            </a:r>
            <a:r>
              <a:rPr lang="en-NZ" sz="2000" spc="-20" dirty="0">
                <a:latin typeface="Calibri"/>
                <a:cs typeface="Calibri"/>
              </a:rPr>
              <a:t>. 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350"/>
              </a:lnSpc>
              <a:spcBef>
                <a:spcPts val="7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look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majors,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GPA,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30" dirty="0">
                <a:latin typeface="Calibri"/>
                <a:cs typeface="Calibri"/>
              </a:rPr>
              <a:t>preferences</a:t>
            </a:r>
            <a:r>
              <a:rPr lang="en-NZ" sz="2000" spc="-30" dirty="0">
                <a:latin typeface="Calibri"/>
                <a:cs typeface="Calibri"/>
              </a:rPr>
              <a:t>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received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your</a:t>
            </a:r>
            <a:endParaRPr sz="2000" dirty="0">
              <a:latin typeface="Calibri"/>
              <a:cs typeface="Calibri"/>
            </a:endParaRPr>
          </a:p>
          <a:p>
            <a:pPr marL="241300">
              <a:lnSpc>
                <a:spcPts val="2350"/>
              </a:lnSpc>
            </a:pPr>
            <a:r>
              <a:rPr sz="2000" spc="-10" dirty="0">
                <a:latin typeface="Calibri"/>
                <a:cs typeface="Calibri"/>
              </a:rPr>
              <a:t>EOI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time</a:t>
            </a:r>
            <a:r>
              <a:rPr lang="en-NZ" sz="2000" spc="-20" dirty="0">
                <a:latin typeface="Calibri"/>
                <a:cs typeface="Calibri"/>
              </a:rPr>
              <a:t>. </a:t>
            </a:r>
            <a:r>
              <a:rPr lang="en-NZ" sz="2000" spc="-10" dirty="0">
                <a:latin typeface="Calibri"/>
                <a:cs typeface="Calibri"/>
              </a:rPr>
              <a:t>Late submission before Friday morning is ok.</a:t>
            </a:r>
            <a:endParaRPr sz="2000" dirty="0">
              <a:latin typeface="Calibri"/>
              <a:cs typeface="Calibri"/>
            </a:endParaRPr>
          </a:p>
          <a:p>
            <a:pPr marL="239395" indent="-226695" algn="just">
              <a:lnSpc>
                <a:spcPct val="100000"/>
              </a:lnSpc>
              <a:spcBef>
                <a:spcPts val="790"/>
              </a:spcBef>
              <a:buClr>
                <a:srgbClr val="F5821F"/>
              </a:buClr>
              <a:buFont typeface="Arial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Some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have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EOI</a:t>
            </a:r>
            <a:r>
              <a:rPr lang="en-NZ" sz="2000" spc="-25" dirty="0">
                <a:latin typeface="Calibri"/>
                <a:cs typeface="Calibri"/>
              </a:rPr>
              <a:t>s. GPA is a major factor for team allocation </a:t>
            </a:r>
            <a:endParaRPr sz="2000" dirty="0">
              <a:latin typeface="Calibri"/>
              <a:cs typeface="Calibri"/>
            </a:endParaRPr>
          </a:p>
          <a:p>
            <a:pPr marL="239395" indent="-226695" algn="just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Font typeface="Arial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Most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lang="en-NZ" sz="2000" spc="-60" dirty="0">
                <a:latin typeface="Calibri"/>
                <a:cs typeface="Calibri"/>
              </a:rPr>
              <a:t>get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listed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their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EOI</a:t>
            </a:r>
            <a:r>
              <a:rPr lang="en-NZ" sz="2000" spc="-25" dirty="0">
                <a:latin typeface="Calibri"/>
                <a:cs typeface="Calibri"/>
              </a:rPr>
              <a:t>. Some will not get any of the projects they had chosen</a:t>
            </a:r>
            <a:endParaRPr sz="2000" dirty="0">
              <a:latin typeface="Calibri"/>
              <a:cs typeface="Calibri"/>
            </a:endParaRPr>
          </a:p>
          <a:p>
            <a:pPr marL="237490" marR="5080" indent="-225425" algn="just">
              <a:lnSpc>
                <a:spcPct val="9160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We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our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best</a:t>
            </a:r>
            <a:r>
              <a:rPr lang="en-NZ" sz="2000" dirty="0">
                <a:latin typeface="Calibri"/>
                <a:cs typeface="Calibri"/>
              </a:rPr>
              <a:t> to ensure the projects provided are doable,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but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projects have many uncertainties</a:t>
            </a:r>
            <a:r>
              <a:rPr sz="2000" spc="-10" dirty="0">
                <a:latin typeface="Calibri"/>
                <a:cs typeface="Calibri"/>
              </a:rPr>
              <a:t>.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of</a:t>
            </a:r>
            <a:r>
              <a:rPr lang="en-NZ"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journey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involves understanding and scoping the project – this means that what you initially start may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change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your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client.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336039" y="-19354"/>
            <a:ext cx="485076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But</a:t>
            </a:r>
            <a:r>
              <a:rPr sz="24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4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want</a:t>
            </a:r>
            <a:r>
              <a:rPr sz="2400" spc="-9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to</a:t>
            </a:r>
            <a:r>
              <a:rPr sz="2400" spc="-4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change</a:t>
            </a:r>
            <a:r>
              <a:rPr sz="2400" spc="-2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dirty="0">
                <a:solidFill>
                  <a:srgbClr val="FF0000"/>
                </a:solidFill>
                <a:latin typeface="Arial"/>
                <a:cs typeface="Arial"/>
              </a:rPr>
              <a:t>my</a:t>
            </a:r>
            <a:r>
              <a:rPr sz="24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400" spc="-10" dirty="0">
                <a:solidFill>
                  <a:srgbClr val="FF0000"/>
                </a:solidFill>
                <a:latin typeface="Arial"/>
                <a:cs typeface="Arial"/>
              </a:rPr>
              <a:t>project...</a:t>
            </a:r>
            <a:endParaRPr sz="24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75487" y="433273"/>
            <a:ext cx="7290434" cy="4732706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2305"/>
              </a:lnSpc>
              <a:spcBef>
                <a:spcPts val="10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As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general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rule,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we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do</a:t>
            </a:r>
            <a:r>
              <a:rPr sz="2000" spc="-3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not</a:t>
            </a:r>
            <a:r>
              <a:rPr sz="20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allow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project</a:t>
            </a:r>
            <a:r>
              <a:rPr sz="2000" spc="-9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changes</a:t>
            </a:r>
            <a:r>
              <a:rPr sz="2000" spc="-7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–</a:t>
            </a:r>
            <a:r>
              <a:rPr sz="2000" spc="-4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lang="en-NZ" sz="2000" spc="-40" dirty="0">
                <a:solidFill>
                  <a:srgbClr val="FF0000"/>
                </a:solidFill>
                <a:latin typeface="Arial"/>
                <a:cs typeface="Arial"/>
              </a:rPr>
              <a:t>it takes </a:t>
            </a:r>
            <a:r>
              <a:rPr lang="en-NZ" sz="2000" dirty="0">
                <a:solidFill>
                  <a:srgbClr val="FF0000"/>
                </a:solidFill>
                <a:latin typeface="Arial"/>
                <a:cs typeface="Arial"/>
              </a:rPr>
              <a:t>a significant amount of work to place</a:t>
            </a:r>
            <a:r>
              <a:rPr sz="2000" spc="-6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you</a:t>
            </a:r>
            <a:r>
              <a:rPr sz="2000" spc="-6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-3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team</a:t>
            </a:r>
            <a:r>
              <a:rPr sz="2000" spc="-70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and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project</a:t>
            </a:r>
            <a:r>
              <a:rPr lang="en-NZ" sz="2000" spc="-10" dirty="0">
                <a:solidFill>
                  <a:srgbClr val="FF0000"/>
                </a:solidFill>
                <a:latin typeface="Arial"/>
                <a:cs typeface="Arial"/>
              </a:rPr>
              <a:t>.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20"/>
              </a:spcBef>
            </a:pPr>
            <a:endParaRPr sz="20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000" b="1" dirty="0">
                <a:latin typeface="Calibri"/>
                <a:cs typeface="Calibri"/>
              </a:rPr>
              <a:t>When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change</a:t>
            </a:r>
            <a:r>
              <a:rPr sz="2000" b="1" spc="-6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request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considered?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305"/>
              </a:lnSpc>
              <a:spcBef>
                <a:spcPts val="18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personal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conflict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interest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supplied</a:t>
            </a:r>
            <a:endParaRPr sz="2000" dirty="0">
              <a:latin typeface="Calibri"/>
              <a:cs typeface="Calibri"/>
            </a:endParaRPr>
          </a:p>
          <a:p>
            <a:pPr marL="297180">
              <a:lnSpc>
                <a:spcPts val="2200"/>
              </a:lnSpc>
            </a:pPr>
            <a:r>
              <a:rPr sz="2000" dirty="0">
                <a:latin typeface="Calibri"/>
                <a:cs typeface="Calibri"/>
              </a:rPr>
              <a:t>e.g.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parents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client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30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workplace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conflict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interest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evidence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supplied</a:t>
            </a:r>
            <a:endParaRPr sz="2000" dirty="0">
              <a:latin typeface="Calibri"/>
              <a:cs typeface="Calibri"/>
            </a:endParaRPr>
          </a:p>
          <a:p>
            <a:pPr marL="241300">
              <a:lnSpc>
                <a:spcPts val="2300"/>
              </a:lnSpc>
            </a:pPr>
            <a:r>
              <a:rPr sz="2000" dirty="0">
                <a:latin typeface="Calibri"/>
                <a:cs typeface="Calibri"/>
              </a:rPr>
              <a:t>e.g.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company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same</a:t>
            </a:r>
            <a:r>
              <a:rPr sz="2000" spc="-2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industry,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contract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does</a:t>
            </a:r>
            <a:endParaRPr sz="2000" dirty="0">
              <a:latin typeface="Calibri"/>
              <a:cs typeface="Calibri"/>
            </a:endParaRPr>
          </a:p>
          <a:p>
            <a:pPr marL="241300">
              <a:lnSpc>
                <a:spcPts val="2300"/>
              </a:lnSpc>
            </a:pPr>
            <a:r>
              <a:rPr sz="2000" dirty="0">
                <a:latin typeface="Calibri"/>
                <a:cs typeface="Calibri"/>
              </a:rPr>
              <a:t>not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allow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competitor</a:t>
            </a:r>
            <a:endParaRPr sz="2000" dirty="0">
              <a:latin typeface="Calibri"/>
              <a:cs typeface="Calibri"/>
            </a:endParaRPr>
          </a:p>
          <a:p>
            <a:pPr marL="12700" marR="1826260">
              <a:lnSpc>
                <a:spcPts val="2300"/>
              </a:lnSpc>
              <a:spcBef>
                <a:spcPts val="1964"/>
              </a:spcBef>
            </a:pPr>
            <a:r>
              <a:rPr sz="2000" b="1" dirty="0">
                <a:latin typeface="Calibri"/>
                <a:cs typeface="Calibri"/>
              </a:rPr>
              <a:t>When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is</a:t>
            </a:r>
            <a:r>
              <a:rPr sz="2000" b="1" spc="-5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a</a:t>
            </a:r>
            <a:r>
              <a:rPr sz="2000" b="1" spc="-4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change</a:t>
            </a:r>
            <a:r>
              <a:rPr sz="2000" b="1" spc="-5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request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not</a:t>
            </a:r>
            <a:r>
              <a:rPr sz="2000" b="1" spc="-6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considered?</a:t>
            </a:r>
            <a:r>
              <a:rPr sz="2000" b="1" spc="-75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Common </a:t>
            </a:r>
            <a:r>
              <a:rPr sz="2000" b="1" dirty="0">
                <a:latin typeface="Calibri"/>
                <a:cs typeface="Calibri"/>
              </a:rPr>
              <a:t>examples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of</a:t>
            </a:r>
            <a:r>
              <a:rPr sz="2000" b="1" spc="-9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requests</a:t>
            </a:r>
            <a:r>
              <a:rPr sz="2000" b="1" spc="-85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we</a:t>
            </a:r>
            <a:r>
              <a:rPr sz="2000" b="1" spc="-80" dirty="0">
                <a:latin typeface="Calibri"/>
                <a:cs typeface="Calibri"/>
              </a:rPr>
              <a:t> </a:t>
            </a:r>
            <a:r>
              <a:rPr sz="2000" b="1" dirty="0">
                <a:latin typeface="Calibri"/>
                <a:cs typeface="Calibri"/>
              </a:rPr>
              <a:t>refuse</a:t>
            </a:r>
            <a:r>
              <a:rPr sz="2000" b="1" spc="-70" dirty="0">
                <a:latin typeface="Calibri"/>
                <a:cs typeface="Calibri"/>
              </a:rPr>
              <a:t> </a:t>
            </a:r>
            <a:r>
              <a:rPr sz="2000" b="1" spc="-10" dirty="0">
                <a:latin typeface="Calibri"/>
                <a:cs typeface="Calibri"/>
              </a:rPr>
              <a:t>include:</a:t>
            </a:r>
            <a:endParaRPr sz="2000" dirty="0">
              <a:latin typeface="Calibri"/>
              <a:cs typeface="Calibri"/>
            </a:endParaRPr>
          </a:p>
          <a:p>
            <a:pPr indent="-227965">
              <a:lnSpc>
                <a:spcPts val="235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lang="en-NZ" sz="2000" spc="-35" dirty="0">
                <a:latin typeface="Calibri"/>
                <a:cs typeface="Calibri"/>
              </a:rPr>
              <a:t>You</a:t>
            </a:r>
            <a:r>
              <a:rPr lang="en-NZ" sz="2000" spc="-12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don’t</a:t>
            </a:r>
            <a:r>
              <a:rPr lang="en-NZ" sz="2000" spc="-10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like</a:t>
            </a:r>
            <a:r>
              <a:rPr lang="en-NZ" sz="2000" spc="-4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the</a:t>
            </a:r>
            <a:r>
              <a:rPr lang="en-NZ" sz="2000" spc="-75" dirty="0">
                <a:latin typeface="Calibri"/>
                <a:cs typeface="Calibri"/>
              </a:rPr>
              <a:t> </a:t>
            </a:r>
            <a:r>
              <a:rPr lang="en-NZ" sz="2000" spc="-10" dirty="0">
                <a:latin typeface="Calibri"/>
                <a:cs typeface="Calibri"/>
              </a:rPr>
              <a:t>project</a:t>
            </a:r>
            <a:endParaRPr lang="en-NZ" sz="2000" dirty="0">
              <a:latin typeface="Calibri"/>
              <a:cs typeface="Calibri"/>
            </a:endParaRPr>
          </a:p>
          <a:p>
            <a:pPr indent="-227965">
              <a:lnSpc>
                <a:spcPts val="235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35" dirty="0">
                <a:latin typeface="Calibri"/>
                <a:cs typeface="Calibri"/>
              </a:rPr>
              <a:t>You</a:t>
            </a:r>
            <a:r>
              <a:rPr sz="2000" spc="-1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people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worked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before</a:t>
            </a:r>
            <a:endParaRPr sz="2000" dirty="0">
              <a:latin typeface="Calibri"/>
              <a:cs typeface="Calibri"/>
            </a:endParaRPr>
          </a:p>
          <a:p>
            <a:pPr indent="-227965">
              <a:lnSpc>
                <a:spcPts val="234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You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don’t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want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or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all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lang="en-NZ" sz="2000" spc="-60" dirty="0">
                <a:latin typeface="Calibri"/>
                <a:cs typeface="Calibri"/>
              </a:rPr>
              <a:t>of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members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4523" y="-36576"/>
            <a:ext cx="55048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800" dirty="0"/>
              <a:t>BCIS</a:t>
            </a:r>
            <a:r>
              <a:rPr sz="1800" spc="-80" dirty="0"/>
              <a:t> </a:t>
            </a:r>
            <a:r>
              <a:rPr sz="1800" dirty="0"/>
              <a:t>Project</a:t>
            </a:r>
            <a:r>
              <a:rPr sz="1800" spc="15" dirty="0"/>
              <a:t> </a:t>
            </a:r>
            <a:r>
              <a:rPr sz="1800" spc="-30" dirty="0"/>
              <a:t>Teaching</a:t>
            </a:r>
            <a:r>
              <a:rPr sz="1800" spc="-95" dirty="0"/>
              <a:t> </a:t>
            </a:r>
            <a:r>
              <a:rPr sz="1800" spc="-60" dirty="0"/>
              <a:t>Team</a:t>
            </a:r>
            <a:r>
              <a:rPr sz="1800" spc="-90" dirty="0"/>
              <a:t> </a:t>
            </a:r>
            <a:r>
              <a:rPr sz="1800" dirty="0"/>
              <a:t>202</a:t>
            </a:r>
            <a:r>
              <a:rPr lang="en-NZ" sz="1800" dirty="0"/>
              <a:t>5</a:t>
            </a:r>
            <a:r>
              <a:rPr sz="1800" spc="-85" dirty="0"/>
              <a:t> </a:t>
            </a:r>
            <a:r>
              <a:rPr sz="1800" spc="-10" dirty="0"/>
              <a:t>(Stakeholders</a:t>
            </a:r>
            <a:r>
              <a:rPr sz="2200" spc="-10" dirty="0"/>
              <a:t>)</a:t>
            </a:r>
            <a:endParaRPr sz="2200" dirty="0"/>
          </a:p>
        </p:txBody>
      </p:sp>
      <p:sp>
        <p:nvSpPr>
          <p:cNvPr id="3" name="object 3"/>
          <p:cNvSpPr/>
          <p:nvPr/>
        </p:nvSpPr>
        <p:spPr>
          <a:xfrm>
            <a:off x="3572255" y="2901675"/>
            <a:ext cx="1631950" cy="12065"/>
          </a:xfrm>
          <a:custGeom>
            <a:avLst/>
            <a:gdLst/>
            <a:ahLst/>
            <a:cxnLst/>
            <a:rect l="l" t="t" r="r" b="b"/>
            <a:pathLst>
              <a:path w="1631950" h="12064">
                <a:moveTo>
                  <a:pt x="1631823" y="0"/>
                </a:moveTo>
                <a:lnTo>
                  <a:pt x="0" y="0"/>
                </a:lnTo>
                <a:lnTo>
                  <a:pt x="0" y="11704"/>
                </a:lnTo>
                <a:lnTo>
                  <a:pt x="1631823" y="11704"/>
                </a:lnTo>
                <a:lnTo>
                  <a:pt x="1631823" y="0"/>
                </a:lnTo>
                <a:close/>
              </a:path>
            </a:pathLst>
          </a:custGeom>
          <a:solidFill>
            <a:srgbClr val="0461C1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860247" y="191135"/>
            <a:ext cx="8188959" cy="254229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Paper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leaders</a:t>
            </a:r>
            <a:r>
              <a:rPr lang="en-NZ" sz="1400" b="1" spc="-10" dirty="0">
                <a:latin typeface="Calibri"/>
                <a:cs typeface="Calibri"/>
              </a:rPr>
              <a:t> &amp; TA</a:t>
            </a:r>
            <a:r>
              <a:rPr sz="1400" spc="-10" dirty="0"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Dr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Ramesh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Lal,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2"/>
              </a:rPr>
              <a:t>ramesh.lal@aut.ac.nz</a:t>
            </a:r>
            <a:r>
              <a:rPr sz="1400" u="none" spc="-4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u="none" dirty="0">
                <a:latin typeface="Calibri"/>
                <a:cs typeface="Calibri"/>
              </a:rPr>
              <a:t>(WZ1114,</a:t>
            </a:r>
            <a:r>
              <a:rPr sz="1400" u="none" spc="15" dirty="0">
                <a:latin typeface="Calibri"/>
                <a:cs typeface="Calibri"/>
              </a:rPr>
              <a:t> </a:t>
            </a:r>
            <a:r>
              <a:rPr sz="1400" u="none" spc="-10" dirty="0">
                <a:latin typeface="Calibri"/>
                <a:cs typeface="Calibri"/>
              </a:rPr>
              <a:t>6323)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5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Prof Catherine Shi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libri"/>
                <a:cs typeface="Calibri"/>
                <a:hlinkClick r:id="rId3"/>
              </a:rPr>
              <a:t>catherine.shi@aut.ac.nz</a:t>
            </a:r>
            <a:r>
              <a:rPr lang="en-NZ" sz="1400" spc="-25" dirty="0">
                <a:latin typeface="Calibri"/>
                <a:cs typeface="Calibri"/>
              </a:rPr>
              <a:t> </a:t>
            </a:r>
            <a:r>
              <a:rPr sz="1400" u="none" spc="-7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u="none" dirty="0">
                <a:latin typeface="Calibri"/>
                <a:cs typeface="Calibri"/>
              </a:rPr>
              <a:t>(WZ11</a:t>
            </a:r>
            <a:r>
              <a:rPr lang="en-NZ" sz="1400" u="none" dirty="0">
                <a:latin typeface="Calibri"/>
                <a:cs typeface="Calibri"/>
              </a:rPr>
              <a:t>18</a:t>
            </a:r>
            <a:r>
              <a:rPr lang="en-NZ" sz="1400" dirty="0">
                <a:latin typeface="Calibri"/>
                <a:cs typeface="Calibri"/>
              </a:rPr>
              <a:t>)</a:t>
            </a:r>
          </a:p>
          <a:p>
            <a:pPr marL="240665" indent="-227965">
              <a:lnSpc>
                <a:spcPts val="155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lang="en-NZ" sz="1400" dirty="0">
                <a:latin typeface="Calibri"/>
                <a:cs typeface="Calibri"/>
              </a:rPr>
              <a:t>Olivia Tang (TA), </a:t>
            </a:r>
            <a:r>
              <a:rPr lang="en-NZ" sz="1400" dirty="0">
                <a:latin typeface="Calibri"/>
                <a:cs typeface="Calibri"/>
                <a:hlinkClick r:id="rId4"/>
              </a:rPr>
              <a:t>olivia.tang@aut.ac.nz</a:t>
            </a:r>
            <a:r>
              <a:rPr lang="en-NZ" sz="1400" dirty="0">
                <a:latin typeface="Calibri"/>
                <a:cs typeface="Calibri"/>
              </a:rPr>
              <a:t> (WZ Level 11) (Master in Project  &amp; over 15 years of industry experience, including being an agile coach in a distributed (global) large-scale software development environment. She will pursue a PhD in agile metrics this semester.  </a:t>
            </a:r>
            <a:endParaRPr sz="1400" dirty="0">
              <a:latin typeface="Calibri"/>
              <a:cs typeface="Calibri"/>
            </a:endParaRPr>
          </a:p>
          <a:p>
            <a:pPr marL="241300" marR="600075" indent="-228600">
              <a:lnSpc>
                <a:spcPts val="1500"/>
              </a:lnSpc>
              <a:spcBef>
                <a:spcPts val="15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400" spc="-20" dirty="0">
                <a:latin typeface="Calibri"/>
                <a:cs typeface="Calibri"/>
              </a:rPr>
              <a:t>Responsible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delivery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BCIS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R&amp;D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course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(COMP702/COMP703-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30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points)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including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conjoint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course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(COMP708/COMP709-</a:t>
            </a:r>
            <a:r>
              <a:rPr sz="1400" dirty="0">
                <a:latin typeface="Calibri"/>
                <a:cs typeface="Calibri"/>
              </a:rPr>
              <a:t>60</a:t>
            </a:r>
            <a:r>
              <a:rPr sz="1400" spc="1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points).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39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Contact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aspects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related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workshops,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assessments,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clients, </a:t>
            </a:r>
            <a:r>
              <a:rPr lang="en-NZ" sz="1400" spc="-20" dirty="0">
                <a:latin typeface="Calibri"/>
                <a:cs typeface="Calibri"/>
              </a:rPr>
              <a:t>supervisors</a:t>
            </a:r>
            <a:r>
              <a:rPr sz="1400" spc="-20" dirty="0">
                <a:latin typeface="Calibri"/>
                <a:cs typeface="Calibri"/>
              </a:rPr>
              <a:t>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resources,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issues.</a:t>
            </a:r>
            <a:endParaRPr lang="en-NZ" sz="1400" spc="-10" dirty="0">
              <a:latin typeface="Calibri"/>
              <a:cs typeface="Calibri"/>
            </a:endParaRPr>
          </a:p>
          <a:p>
            <a:pPr marL="240665" indent="-227965">
              <a:lnSpc>
                <a:spcPts val="139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endParaRPr lang="en-NZ" sz="1400" spc="-10" dirty="0">
              <a:latin typeface="Calibri"/>
              <a:cs typeface="Calibri"/>
            </a:endParaRPr>
          </a:p>
          <a:p>
            <a:pPr marL="240665" indent="-227965">
              <a:lnSpc>
                <a:spcPts val="139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endParaRPr lang="en-NZ" sz="1400" spc="-10" dirty="0">
              <a:latin typeface="Calibri"/>
              <a:cs typeface="Calibri"/>
            </a:endParaRPr>
          </a:p>
          <a:p>
            <a:pPr marL="240665" indent="-227965">
              <a:lnSpc>
                <a:spcPts val="139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endParaRPr sz="14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17090" y="1623060"/>
            <a:ext cx="2921509" cy="18203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395"/>
              </a:lnSpc>
            </a:pP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Email</a:t>
            </a:r>
            <a:r>
              <a:rPr sz="1400" i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one</a:t>
            </a:r>
            <a:r>
              <a:rPr sz="1400" i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CC</a:t>
            </a:r>
            <a:r>
              <a:rPr lang="en-NZ" sz="1400" i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the </a:t>
            </a:r>
            <a:r>
              <a:rPr sz="14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other</a:t>
            </a:r>
            <a:r>
              <a:rPr sz="1400" i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1400" i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two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988834" y="2222757"/>
            <a:ext cx="7931784" cy="4840428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ts val="1590"/>
              </a:lnSpc>
              <a:spcBef>
                <a:spcPts val="105"/>
              </a:spcBef>
            </a:pPr>
            <a:r>
              <a:rPr sz="1400" b="1" spc="-10" dirty="0">
                <a:latin typeface="Calibri"/>
                <a:cs typeface="Calibri"/>
              </a:rPr>
              <a:t>Workshops</a:t>
            </a:r>
            <a:r>
              <a:rPr sz="1400" spc="-10" dirty="0"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COMP702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(Part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Sem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1)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Ramesh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5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COMP703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(Part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Sem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2)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–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Catherine 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639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COMP708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COMP709-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Ramesh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lang="en-NZ" sz="1400" dirty="0">
                <a:latin typeface="Calibri"/>
                <a:cs typeface="Calibri"/>
              </a:rPr>
              <a:t> Catherine</a:t>
            </a:r>
            <a:r>
              <a:rPr sz="1400" dirty="0">
                <a:latin typeface="Calibri"/>
                <a:cs typeface="Calibri"/>
              </a:rPr>
              <a:t>,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both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jointly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delivering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these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conjoint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courses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1639"/>
              </a:lnSpc>
              <a:spcBef>
                <a:spcPts val="715"/>
              </a:spcBef>
            </a:pPr>
            <a:r>
              <a:rPr sz="1400" b="1" spc="-10" dirty="0">
                <a:latin typeface="Calibri"/>
                <a:cs typeface="Calibri"/>
              </a:rPr>
              <a:t>Industry</a:t>
            </a:r>
            <a:r>
              <a:rPr sz="1400" b="1" spc="-8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advisor</a:t>
            </a:r>
            <a:r>
              <a:rPr sz="1400" spc="-10" dirty="0">
                <a:latin typeface="Calibri"/>
                <a:cs typeface="Calibri"/>
              </a:rPr>
              <a:t>: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Leanne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Bint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WZ12,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5"/>
              </a:rPr>
              <a:t>leanne.bint@aut.ac.nz</a:t>
            </a:r>
            <a:endParaRPr sz="1400" dirty="0">
              <a:latin typeface="Calibri"/>
              <a:cs typeface="Calibri"/>
            </a:endParaRPr>
          </a:p>
          <a:p>
            <a:pPr marL="241300" marR="719455" indent="-228600">
              <a:lnSpc>
                <a:spcPts val="1500"/>
              </a:lnSpc>
              <a:spcBef>
                <a:spcPts val="16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She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works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industry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source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R&amp;D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projects.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40" dirty="0">
                <a:latin typeface="Calibri"/>
                <a:cs typeface="Calibri"/>
              </a:rPr>
              <a:t>Leanne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help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issues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related</a:t>
            </a:r>
            <a:r>
              <a:rPr sz="1400" spc="-25" dirty="0">
                <a:latin typeface="Calibri"/>
                <a:cs typeface="Calibri"/>
              </a:rPr>
              <a:t> to </a:t>
            </a:r>
            <a:r>
              <a:rPr sz="1400" spc="-10" dirty="0">
                <a:latin typeface="Calibri"/>
                <a:cs typeface="Calibri"/>
              </a:rPr>
              <a:t>project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clients.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48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She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wants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solid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working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relationship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clients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deliver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what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agree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deliver.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805"/>
              </a:spcBef>
            </a:pPr>
            <a:r>
              <a:rPr sz="1400" b="1" spc="-20" dirty="0">
                <a:latin typeface="Calibri"/>
                <a:cs typeface="Calibri"/>
              </a:rPr>
              <a:t>Project</a:t>
            </a:r>
            <a:r>
              <a:rPr sz="1400" b="1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administrator</a:t>
            </a:r>
            <a:r>
              <a:rPr lang="en-NZ" sz="1400" b="1" spc="-10" dirty="0">
                <a:latin typeface="Calibri"/>
                <a:cs typeface="Calibri"/>
              </a:rPr>
              <a:t> (CMS admin)</a:t>
            </a:r>
            <a:r>
              <a:rPr sz="1400" b="1" spc="-10" dirty="0">
                <a:latin typeface="Calibri"/>
                <a:cs typeface="Calibri"/>
              </a:rPr>
              <a:t>:</a:t>
            </a:r>
            <a:endParaRPr sz="1400" dirty="0">
              <a:latin typeface="Calibri"/>
              <a:cs typeface="Calibri"/>
            </a:endParaRPr>
          </a:p>
          <a:p>
            <a:pPr marL="469900">
              <a:lnSpc>
                <a:spcPts val="1645"/>
              </a:lnSpc>
              <a:spcBef>
                <a:spcPts val="215"/>
              </a:spcBef>
            </a:pPr>
            <a:r>
              <a:rPr lang="fr-FR" sz="1400" spc="-35" dirty="0">
                <a:latin typeface="Calibri"/>
                <a:cs typeface="Calibri"/>
              </a:rPr>
              <a:t>Chris Nguyen &lt;chris.nguyen@aut.ac.nz&gt;</a:t>
            </a:r>
            <a:r>
              <a:rPr sz="1400" spc="-20" dirty="0">
                <a:latin typeface="Calibri"/>
                <a:cs typeface="Calibri"/>
              </a:rPr>
              <a:t>.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lang="en-NZ" sz="1400" spc="-40" dirty="0">
                <a:latin typeface="Calibri"/>
                <a:cs typeface="Calibri"/>
              </a:rPr>
              <a:t>Chris </a:t>
            </a:r>
            <a:r>
              <a:rPr sz="1400" dirty="0">
                <a:latin typeface="Calibri"/>
                <a:cs typeface="Calibri"/>
              </a:rPr>
              <a:t>handles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enrolments,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withdrawals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attendance</a:t>
            </a:r>
            <a:r>
              <a:rPr sz="1400" spc="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records,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etc.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contact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email-</a:t>
            </a:r>
            <a:endParaRPr sz="1400" dirty="0">
              <a:latin typeface="Calibri"/>
              <a:cs typeface="Calibri"/>
            </a:endParaRPr>
          </a:p>
          <a:p>
            <a:pPr marL="469900">
              <a:lnSpc>
                <a:spcPts val="1645"/>
              </a:lnSpc>
            </a:pPr>
            <a:r>
              <a:rPr sz="1400" u="sng" spc="-2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  <a:hlinkClick r:id="rId6"/>
              </a:rPr>
              <a:t>cmsundergrad@aut.ac.nz</a:t>
            </a:r>
            <a:r>
              <a:rPr sz="1400" u="none" spc="95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400" u="none" dirty="0">
                <a:solidFill>
                  <a:srgbClr val="F06200"/>
                </a:solidFill>
                <a:latin typeface="Calibri"/>
                <a:cs typeface="Calibri"/>
              </a:rPr>
              <a:t>or</a:t>
            </a:r>
            <a:r>
              <a:rPr sz="1400" u="none" spc="4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lang="fr-FR" sz="1400" u="sng" spc="-10" dirty="0">
                <a:solidFill>
                  <a:srgbClr val="0000FF"/>
                </a:solidFill>
                <a:uFill>
                  <a:solidFill>
                    <a:srgbClr val="0000FF"/>
                  </a:solidFill>
                </a:uFill>
                <a:latin typeface="Calibri"/>
                <a:cs typeface="Calibri"/>
              </a:rPr>
              <a:t>chris.nguyen@aut.ac.nz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95"/>
              </a:spcBef>
            </a:pPr>
            <a:r>
              <a:rPr sz="1400" b="1" spc="-25" dirty="0">
                <a:latin typeface="Calibri"/>
                <a:cs typeface="Calibri"/>
              </a:rPr>
              <a:t>Team</a:t>
            </a:r>
            <a:r>
              <a:rPr sz="1400" b="1" spc="-114" dirty="0">
                <a:latin typeface="Calibri"/>
                <a:cs typeface="Calibri"/>
              </a:rPr>
              <a:t> </a:t>
            </a:r>
            <a:r>
              <a:rPr lang="en-NZ" sz="1400" b="1" dirty="0">
                <a:latin typeface="Calibri"/>
                <a:cs typeface="Calibri"/>
              </a:rPr>
              <a:t>supervisor</a:t>
            </a:r>
            <a:r>
              <a:rPr sz="1400" b="1" spc="-7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moderator</a:t>
            </a:r>
            <a:r>
              <a:rPr sz="1400" spc="-20" dirty="0">
                <a:latin typeface="Calibri"/>
                <a:cs typeface="Calibri"/>
              </a:rPr>
              <a:t>:</a:t>
            </a:r>
            <a:r>
              <a:rPr sz="1400" spc="-1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marking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all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assessments</a:t>
            </a:r>
            <a:endParaRPr sz="1400" dirty="0">
              <a:latin typeface="Calibri"/>
              <a:cs typeface="Calibri"/>
            </a:endParaRPr>
          </a:p>
          <a:p>
            <a:pPr marL="241300" marR="239395" indent="-228600">
              <a:lnSpc>
                <a:spcPts val="1500"/>
              </a:lnSpc>
              <a:spcBef>
                <a:spcPts val="103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Each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have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same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supervisor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moderator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both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semesters.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Your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expected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work </a:t>
            </a:r>
            <a:r>
              <a:rPr sz="1400" spc="-10" dirty="0">
                <a:latin typeface="Calibri"/>
                <a:cs typeface="Calibri"/>
              </a:rPr>
              <a:t>closely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supervisor</a:t>
            </a:r>
            <a:r>
              <a:rPr sz="1400" dirty="0">
                <a:latin typeface="Calibri"/>
                <a:cs typeface="Calibri"/>
              </a:rPr>
              <a:t>.</a:t>
            </a:r>
            <a:r>
              <a:rPr sz="1400" spc="175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Must</a:t>
            </a:r>
            <a:r>
              <a:rPr sz="14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aim</a:t>
            </a:r>
            <a:r>
              <a:rPr sz="1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400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weekly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</a:t>
            </a:r>
            <a:r>
              <a:rPr sz="14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meeting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with</a:t>
            </a:r>
            <a:r>
              <a:rPr sz="14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supervisor 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639"/>
              </a:lnSpc>
              <a:spcBef>
                <a:spcPts val="7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A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lang="en-NZ" sz="1400" spc="-10" dirty="0">
                <a:latin typeface="Calibri"/>
                <a:cs typeface="Calibri"/>
              </a:rPr>
              <a:t>supervisor’s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role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understand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how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functioning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achievement</a:t>
            </a:r>
            <a:r>
              <a:rPr sz="1400" spc="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date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assessment</a:t>
            </a:r>
            <a:r>
              <a:rPr lang="en-NZ" sz="140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marking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purposes.</a:t>
            </a:r>
            <a:endParaRPr sz="1400" dirty="0">
              <a:latin typeface="Calibri"/>
              <a:cs typeface="Calibri"/>
            </a:endParaRPr>
          </a:p>
          <a:p>
            <a:pPr marL="241300" marR="24765" indent="-228600">
              <a:lnSpc>
                <a:spcPts val="1500"/>
              </a:lnSpc>
              <a:spcBef>
                <a:spcPts val="1015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400" dirty="0">
                <a:latin typeface="Calibri"/>
                <a:cs typeface="Calibri"/>
              </a:rPr>
              <a:t>He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support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giving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feedback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even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provide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some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ideas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suggestions</a:t>
            </a:r>
            <a:r>
              <a:rPr lang="en-NZ" sz="1400" spc="-20" dirty="0">
                <a:latin typeface="Calibri"/>
                <a:cs typeface="Calibri"/>
              </a:rPr>
              <a:t>,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but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will </a:t>
            </a:r>
            <a:r>
              <a:rPr sz="1400" dirty="0">
                <a:latin typeface="Calibri"/>
                <a:cs typeface="Calibri"/>
              </a:rPr>
              <a:t>not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work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even</a:t>
            </a:r>
            <a:r>
              <a:rPr sz="1400" spc="-20" dirty="0">
                <a:latin typeface="Calibri"/>
                <a:cs typeface="Calibri"/>
              </a:rPr>
              <a:t> micro-manage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team.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400" spc="-20" dirty="0">
                <a:latin typeface="Calibri"/>
                <a:cs typeface="Calibri"/>
              </a:rPr>
              <a:t>Moderator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helps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with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marking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assessments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311277"/>
            <a:ext cx="550481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/>
              <a:t>BCIS</a:t>
            </a:r>
            <a:r>
              <a:rPr sz="2200" spc="-80" dirty="0"/>
              <a:t> </a:t>
            </a:r>
            <a:r>
              <a:rPr sz="2200" dirty="0"/>
              <a:t>Project</a:t>
            </a:r>
            <a:r>
              <a:rPr sz="2200" spc="15" dirty="0"/>
              <a:t> </a:t>
            </a:r>
            <a:r>
              <a:rPr sz="2200" spc="-30" dirty="0"/>
              <a:t>Teaching</a:t>
            </a:r>
            <a:r>
              <a:rPr sz="2200" spc="-95" dirty="0"/>
              <a:t> </a:t>
            </a:r>
            <a:r>
              <a:rPr sz="2200" spc="-60" dirty="0"/>
              <a:t>Team</a:t>
            </a:r>
            <a:r>
              <a:rPr sz="2200" spc="-90" dirty="0"/>
              <a:t> </a:t>
            </a:r>
            <a:r>
              <a:rPr sz="2200" dirty="0"/>
              <a:t>202</a:t>
            </a:r>
            <a:r>
              <a:rPr lang="en-NZ" sz="2200" dirty="0"/>
              <a:t>5</a:t>
            </a:r>
            <a:r>
              <a:rPr sz="2200" spc="-85" dirty="0"/>
              <a:t> </a:t>
            </a:r>
            <a:r>
              <a:rPr sz="2200" spc="-10" dirty="0"/>
              <a:t>(Stakeholders)</a:t>
            </a:r>
            <a:endParaRPr sz="2200" dirty="0"/>
          </a:p>
        </p:txBody>
      </p:sp>
      <p:sp>
        <p:nvSpPr>
          <p:cNvPr id="3" name="object 3"/>
          <p:cNvSpPr txBox="1"/>
          <p:nvPr/>
        </p:nvSpPr>
        <p:spPr>
          <a:xfrm>
            <a:off x="764235" y="722164"/>
            <a:ext cx="7914640" cy="1742144"/>
          </a:xfrm>
          <a:prstGeom prst="rect">
            <a:avLst/>
          </a:prstGeom>
        </p:spPr>
        <p:txBody>
          <a:bodyPr vert="horz" wrap="square" lIns="0" tIns="692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45"/>
              </a:spcBef>
            </a:pPr>
            <a:r>
              <a:rPr sz="1400" b="1" spc="-10" dirty="0">
                <a:latin typeface="Calibri"/>
                <a:cs typeface="Calibri"/>
              </a:rPr>
              <a:t>Marking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panel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the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team’s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poster</a:t>
            </a:r>
            <a:endParaRPr sz="1400" dirty="0">
              <a:latin typeface="Calibri"/>
              <a:cs typeface="Calibri"/>
            </a:endParaRPr>
          </a:p>
          <a:p>
            <a:pPr marL="469900" marR="5080">
              <a:lnSpc>
                <a:spcPts val="1390"/>
              </a:lnSpc>
              <a:spcBef>
                <a:spcPts val="470"/>
              </a:spcBef>
            </a:pPr>
            <a:r>
              <a:rPr sz="1200" spc="-35" dirty="0">
                <a:latin typeface="Calibri"/>
                <a:cs typeface="Calibri"/>
              </a:rPr>
              <a:t>Team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marking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poster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assessments</a:t>
            </a:r>
            <a:r>
              <a:rPr sz="1200" spc="2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consists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3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academics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(can </a:t>
            </a:r>
            <a:r>
              <a:rPr sz="1200" spc="-10" dirty="0">
                <a:latin typeface="Calibri"/>
                <a:cs typeface="Calibri"/>
              </a:rPr>
              <a:t>include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team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moderator)</a:t>
            </a:r>
            <a:r>
              <a:rPr sz="1200" spc="-8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and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may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also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include </a:t>
            </a:r>
            <a:r>
              <a:rPr sz="1200" dirty="0">
                <a:latin typeface="Calibri"/>
                <a:cs typeface="Calibri"/>
              </a:rPr>
              <a:t>an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industry</a:t>
            </a:r>
            <a:r>
              <a:rPr sz="1200" spc="-9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person.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Mentors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not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be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part</a:t>
            </a:r>
            <a:r>
              <a:rPr sz="1200" spc="-5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of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panel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which will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mark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4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team’s</a:t>
            </a:r>
            <a:r>
              <a:rPr sz="120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poster</a:t>
            </a:r>
            <a:endParaRPr sz="12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60"/>
              </a:spcBef>
            </a:pPr>
            <a:r>
              <a:rPr sz="1400" b="1" spc="-20" dirty="0">
                <a:latin typeface="Calibri"/>
                <a:cs typeface="Calibri"/>
              </a:rPr>
              <a:t>Project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client-</a:t>
            </a:r>
            <a:r>
              <a:rPr sz="1400" b="1" spc="-3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project</a:t>
            </a:r>
            <a:r>
              <a:rPr sz="1400" b="1" spc="-4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sponsor</a:t>
            </a:r>
            <a:endParaRPr sz="1400" dirty="0">
              <a:latin typeface="Calibri"/>
              <a:cs typeface="Calibri"/>
            </a:endParaRPr>
          </a:p>
          <a:p>
            <a:pPr marL="469900" marR="17145">
              <a:lnSpc>
                <a:spcPts val="1300"/>
              </a:lnSpc>
              <a:spcBef>
                <a:spcPts val="530"/>
              </a:spcBef>
            </a:pPr>
            <a:r>
              <a:rPr sz="1200" dirty="0">
                <a:latin typeface="Calibri"/>
                <a:cs typeface="Calibri"/>
              </a:rPr>
              <a:t>We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expect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team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will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work</a:t>
            </a:r>
            <a:r>
              <a:rPr sz="1200" spc="-1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closely</a:t>
            </a:r>
            <a:r>
              <a:rPr sz="1200" spc="-5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(regular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meetings)</a:t>
            </a:r>
            <a:r>
              <a:rPr sz="1200" spc="-4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with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client.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He/she</a:t>
            </a:r>
            <a:r>
              <a:rPr sz="1200" spc="-2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or</a:t>
            </a:r>
            <a:r>
              <a:rPr sz="1200" spc="-2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someone</a:t>
            </a:r>
            <a:r>
              <a:rPr sz="1200" spc="-1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from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60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organization</a:t>
            </a:r>
            <a:r>
              <a:rPr sz="1200" spc="-6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must validate</a:t>
            </a:r>
            <a:r>
              <a:rPr sz="1200" spc="-35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your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5" dirty="0">
                <a:latin typeface="Calibri"/>
                <a:cs typeface="Calibri"/>
              </a:rPr>
              <a:t> </a:t>
            </a:r>
            <a:r>
              <a:rPr sz="1200" spc="-20" dirty="0">
                <a:latin typeface="Calibri"/>
                <a:cs typeface="Calibri"/>
              </a:rPr>
              <a:t>deliverables </a:t>
            </a:r>
            <a:r>
              <a:rPr sz="1200" spc="-10" dirty="0">
                <a:latin typeface="Calibri"/>
                <a:cs typeface="Calibri"/>
              </a:rPr>
              <a:t>throughout</a:t>
            </a:r>
            <a:r>
              <a:rPr sz="1200" spc="-5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the</a:t>
            </a:r>
            <a:r>
              <a:rPr sz="1200" spc="-30" dirty="0">
                <a:latin typeface="Calibri"/>
                <a:cs typeface="Calibri"/>
              </a:rPr>
              <a:t> </a:t>
            </a:r>
            <a:r>
              <a:rPr sz="1200" dirty="0">
                <a:latin typeface="Calibri"/>
                <a:cs typeface="Calibri"/>
              </a:rPr>
              <a:t>project</a:t>
            </a:r>
            <a:r>
              <a:rPr sz="1200" spc="10" dirty="0">
                <a:latin typeface="Calibri"/>
                <a:cs typeface="Calibri"/>
              </a:rPr>
              <a:t> </a:t>
            </a:r>
            <a:r>
              <a:rPr sz="1200" spc="-10" dirty="0">
                <a:latin typeface="Calibri"/>
                <a:cs typeface="Calibri"/>
              </a:rPr>
              <a:t>timeline.</a:t>
            </a:r>
            <a:endParaRPr lang="en-NZ" sz="1200" spc="-10" dirty="0">
              <a:latin typeface="Calibri"/>
              <a:cs typeface="Calibri"/>
            </a:endParaRPr>
          </a:p>
          <a:p>
            <a:pPr marL="12700" marR="17145">
              <a:spcBef>
                <a:spcPts val="760"/>
              </a:spcBef>
            </a:pPr>
            <a:r>
              <a:rPr lang="en-NZ" sz="1400" b="1" spc="-20" dirty="0">
                <a:latin typeface="Calibri"/>
                <a:cs typeface="Calibri"/>
              </a:rPr>
              <a:t>            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1661" y="64769"/>
            <a:ext cx="618426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R</a:t>
            </a:r>
            <a:r>
              <a:rPr sz="2500" spc="-70" dirty="0"/>
              <a:t> </a:t>
            </a:r>
            <a:r>
              <a:rPr sz="2500" dirty="0"/>
              <a:t>&amp;</a:t>
            </a:r>
            <a:r>
              <a:rPr sz="2500" spc="-70" dirty="0"/>
              <a:t> </a:t>
            </a:r>
            <a:r>
              <a:rPr sz="2500" dirty="0"/>
              <a:t>D</a:t>
            </a:r>
            <a:r>
              <a:rPr sz="2500" spc="-75" dirty="0"/>
              <a:t> </a:t>
            </a:r>
            <a:r>
              <a:rPr sz="2500" dirty="0"/>
              <a:t>paper</a:t>
            </a:r>
            <a:r>
              <a:rPr sz="2500" spc="-80" dirty="0"/>
              <a:t> </a:t>
            </a:r>
            <a:r>
              <a:rPr sz="2500" spc="-10" dirty="0"/>
              <a:t>(project)-</a:t>
            </a:r>
            <a:r>
              <a:rPr sz="2500" spc="-85" dirty="0"/>
              <a:t> </a:t>
            </a:r>
            <a:r>
              <a:rPr sz="2500" dirty="0"/>
              <a:t>why</a:t>
            </a:r>
            <a:r>
              <a:rPr sz="2500" spc="-65" dirty="0"/>
              <a:t> </a:t>
            </a:r>
            <a:r>
              <a:rPr sz="2500" dirty="0"/>
              <a:t>it</a:t>
            </a:r>
            <a:r>
              <a:rPr sz="2500" spc="-80" dirty="0"/>
              <a:t> </a:t>
            </a:r>
            <a:r>
              <a:rPr sz="2500" dirty="0"/>
              <a:t>is</a:t>
            </a:r>
            <a:r>
              <a:rPr sz="2500" spc="-75" dirty="0"/>
              <a:t> </a:t>
            </a:r>
            <a:r>
              <a:rPr sz="2500" dirty="0"/>
              <a:t>a</a:t>
            </a:r>
            <a:r>
              <a:rPr sz="2500" spc="-75" dirty="0"/>
              <a:t> </a:t>
            </a:r>
            <a:r>
              <a:rPr sz="2500" dirty="0"/>
              <a:t>critical</a:t>
            </a:r>
            <a:r>
              <a:rPr sz="2500" spc="-60" dirty="0"/>
              <a:t> </a:t>
            </a:r>
            <a:r>
              <a:rPr sz="2500" spc="-10" dirty="0"/>
              <a:t>paper?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173886" y="389147"/>
            <a:ext cx="7411720" cy="5097036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65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A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core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paper-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requirement</a:t>
            </a:r>
            <a:r>
              <a:rPr sz="1800" b="1" u="none" spc="-8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for</a:t>
            </a:r>
            <a:r>
              <a:rPr sz="1800" u="none" spc="-3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the</a:t>
            </a:r>
            <a:r>
              <a:rPr sz="1800" u="none" spc="-3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BCIS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spc="-10" dirty="0">
                <a:latin typeface="Calibri"/>
                <a:cs typeface="Calibri"/>
              </a:rPr>
              <a:t>qualification.</a:t>
            </a:r>
            <a:r>
              <a:rPr sz="1800" u="none" spc="25" dirty="0">
                <a:latin typeface="Calibri"/>
                <a:cs typeface="Calibri"/>
              </a:rPr>
              <a:t> </a:t>
            </a:r>
            <a:endParaRPr lang="en-NZ" sz="1800" u="none" spc="25" dirty="0">
              <a:latin typeface="Calibri"/>
              <a:cs typeface="Calibri"/>
            </a:endParaRPr>
          </a:p>
          <a:p>
            <a:pPr marL="697865" lvl="1" indent="-228600">
              <a:spcBef>
                <a:spcPts val="65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This paper is about</a:t>
            </a:r>
            <a:r>
              <a:rPr lang="en-NZ" sz="14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applying knowledge and skills to solve a client’s problem</a:t>
            </a:r>
            <a:r>
              <a:rPr lang="en-NZ" sz="14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 their satisfaction.</a:t>
            </a:r>
          </a:p>
          <a:p>
            <a:pPr marL="240665" indent="-227965">
              <a:lnSpc>
                <a:spcPct val="100000"/>
              </a:lnSpc>
              <a:spcBef>
                <a:spcPts val="7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spc="-20" dirty="0">
                <a:latin typeface="Calibri"/>
                <a:cs typeface="Calibri"/>
              </a:rPr>
              <a:t>Provides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industry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experience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understanding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undertaking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</a:t>
            </a:r>
            <a:r>
              <a:rPr lang="en-NZ" sz="1800" spc="-10" dirty="0">
                <a:latin typeface="Calibri"/>
                <a:cs typeface="Calibri"/>
              </a:rPr>
              <a:t>s</a:t>
            </a:r>
            <a:endParaRPr sz="18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2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Ability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continuous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learning-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self-</a:t>
            </a:r>
            <a:r>
              <a:rPr sz="1400" spc="-10" dirty="0">
                <a:latin typeface="Calibri"/>
                <a:cs typeface="Calibri"/>
              </a:rPr>
              <a:t>learning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learning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fly</a:t>
            </a:r>
            <a:endParaRPr sz="14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New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learnings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skills-</a:t>
            </a:r>
            <a:endParaRPr sz="1400" dirty="0">
              <a:latin typeface="Calibri"/>
              <a:cs typeface="Calibri"/>
            </a:endParaRPr>
          </a:p>
          <a:p>
            <a:pPr marL="926465" marR="11430">
              <a:lnSpc>
                <a:spcPct val="90100"/>
              </a:lnSpc>
              <a:spcBef>
                <a:spcPts val="505"/>
              </a:spcBef>
            </a:pP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technical</a:t>
            </a:r>
            <a:r>
              <a:rPr sz="1400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skills,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frameworks,</a:t>
            </a:r>
            <a:r>
              <a:rPr sz="14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tools</a:t>
            </a:r>
            <a:r>
              <a:rPr sz="14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technology,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WBS,</a:t>
            </a:r>
            <a:r>
              <a:rPr sz="1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processes,</a:t>
            </a:r>
            <a:r>
              <a:rPr sz="14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practices,</a:t>
            </a:r>
            <a:r>
              <a:rPr sz="1400" u="none" spc="5" dirty="0"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1400" u="none" spc="-10" dirty="0"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management,</a:t>
            </a:r>
            <a:r>
              <a:rPr sz="1400" u="sng" spc="229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teamwork</a:t>
            </a:r>
            <a:r>
              <a:rPr sz="14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(task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sharing),</a:t>
            </a:r>
            <a:r>
              <a:rPr sz="14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communication</a:t>
            </a:r>
            <a:r>
              <a:rPr sz="14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4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interaction,</a:t>
            </a:r>
            <a:r>
              <a:rPr sz="14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negotiation</a:t>
            </a:r>
            <a:r>
              <a:rPr sz="1400" u="none" dirty="0">
                <a:latin typeface="Calibri"/>
                <a:cs typeface="Calibri"/>
              </a:rPr>
              <a:t> </a:t>
            </a:r>
            <a:r>
              <a:rPr sz="14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skills,</a:t>
            </a:r>
            <a:r>
              <a:rPr sz="1400" u="none" spc="-10" dirty="0">
                <a:latin typeface="Calibri"/>
                <a:cs typeface="Calibri"/>
              </a:rPr>
              <a:t> </a:t>
            </a:r>
            <a:r>
              <a:rPr sz="14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etc.</a:t>
            </a:r>
            <a:endParaRPr sz="14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400" spc="-10" dirty="0">
                <a:latin typeface="Calibri"/>
                <a:cs typeface="Calibri"/>
              </a:rPr>
              <a:t>Develop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emotional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maturity</a:t>
            </a:r>
            <a:r>
              <a:rPr sz="1400" spc="229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feel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confident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apply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jobs</a:t>
            </a:r>
            <a:endParaRPr sz="1400" dirty="0">
              <a:latin typeface="Calibri"/>
              <a:cs typeface="Calibri"/>
            </a:endParaRPr>
          </a:p>
          <a:p>
            <a:pPr marL="1155065" marR="5080" lvl="2" indent="-228600">
              <a:lnSpc>
                <a:spcPts val="1500"/>
              </a:lnSpc>
              <a:spcBef>
                <a:spcPts val="525"/>
              </a:spcBef>
              <a:buClr>
                <a:srgbClr val="F5821F"/>
              </a:buClr>
              <a:buFont typeface="Arial"/>
              <a:buChar char="•"/>
              <a:tabLst>
                <a:tab pos="1155065" algn="l"/>
              </a:tabLst>
            </a:pPr>
            <a:r>
              <a:rPr sz="1400" dirty="0">
                <a:latin typeface="Calibri"/>
                <a:cs typeface="Calibri"/>
              </a:rPr>
              <a:t>use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experience </a:t>
            </a:r>
            <a:r>
              <a:rPr sz="1400" dirty="0">
                <a:latin typeface="Calibri"/>
                <a:cs typeface="Calibri"/>
              </a:rPr>
              <a:t>(specific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examples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from</a:t>
            </a:r>
            <a:r>
              <a:rPr sz="1400" spc="-9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above)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answer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interview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questions </a:t>
            </a:r>
            <a:r>
              <a:rPr sz="1400" dirty="0">
                <a:latin typeface="Calibri"/>
                <a:cs typeface="Calibri"/>
              </a:rPr>
              <a:t>(have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reality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facts)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645"/>
              </a:spcBef>
            </a:pP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Note: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9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Requires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behavioural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change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Requires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100%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effort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two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semesters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Requires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consistent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effort,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average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12/15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hours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week</a:t>
            </a:r>
            <a:endParaRPr sz="20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3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Not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pushing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</a:t>
            </a:r>
            <a:r>
              <a:rPr sz="1600" spc="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last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minute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65300" y="275666"/>
            <a:ext cx="6205855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  <a:tabLst>
                <a:tab pos="3254375" algn="l"/>
              </a:tabLst>
            </a:pPr>
            <a:r>
              <a:rPr sz="2400" spc="-35" dirty="0"/>
              <a:t>Your</a:t>
            </a:r>
            <a:r>
              <a:rPr sz="2400" spc="-80" dirty="0"/>
              <a:t> </a:t>
            </a:r>
            <a:r>
              <a:rPr sz="2400" spc="-10" dirty="0"/>
              <a:t>project</a:t>
            </a:r>
            <a:r>
              <a:rPr sz="2400" spc="-90" dirty="0"/>
              <a:t> </a:t>
            </a:r>
            <a:r>
              <a:rPr sz="2400" spc="-10" dirty="0"/>
              <a:t>deliverable-</a:t>
            </a:r>
            <a:r>
              <a:rPr sz="2400" dirty="0"/>
              <a:t>	a</a:t>
            </a:r>
            <a:r>
              <a:rPr sz="2400" spc="-15" dirty="0"/>
              <a:t> </a:t>
            </a:r>
            <a:r>
              <a:rPr sz="2500" u="sng" dirty="0">
                <a:uFill>
                  <a:solidFill>
                    <a:srgbClr val="F06200"/>
                  </a:solidFill>
                </a:uFill>
              </a:rPr>
              <a:t>functional</a:t>
            </a:r>
            <a:r>
              <a:rPr sz="2500" u="sng" spc="-45" dirty="0">
                <a:uFill>
                  <a:solidFill>
                    <a:srgbClr val="F06200"/>
                  </a:solidFill>
                </a:uFill>
              </a:rPr>
              <a:t> </a:t>
            </a:r>
            <a:r>
              <a:rPr sz="2500" u="sng" spc="-10" dirty="0">
                <a:uFill>
                  <a:solidFill>
                    <a:srgbClr val="F06200"/>
                  </a:solidFill>
                </a:uFill>
              </a:rPr>
              <a:t>prototype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173886" y="789178"/>
            <a:ext cx="7586980" cy="4214495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12700" marR="469265">
              <a:lnSpc>
                <a:spcPts val="1900"/>
              </a:lnSpc>
              <a:spcBef>
                <a:spcPts val="380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delivering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production</a:t>
            </a:r>
            <a:r>
              <a:rPr sz="18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environment-</a:t>
            </a:r>
            <a:r>
              <a:rPr sz="18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it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is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just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prove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concept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that</a:t>
            </a:r>
            <a:r>
              <a:rPr sz="1800" b="1" u="none" spc="-20" dirty="0"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would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18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delivered</a:t>
            </a:r>
            <a:r>
              <a:rPr sz="18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8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client.</a:t>
            </a:r>
            <a:endParaRPr sz="1800">
              <a:latin typeface="Calibri"/>
              <a:cs typeface="Calibri"/>
            </a:endParaRPr>
          </a:p>
          <a:p>
            <a:pPr marL="240665" indent="-227965">
              <a:lnSpc>
                <a:spcPts val="1860"/>
              </a:lnSpc>
              <a:spcBef>
                <a:spcPts val="66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An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initial</a:t>
            </a:r>
            <a:r>
              <a:rPr sz="1600" spc="-114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release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artefacts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(a</a:t>
            </a:r>
            <a:r>
              <a:rPr sz="1600" b="1" spc="-5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functional</a:t>
            </a:r>
            <a:r>
              <a:rPr sz="1600" b="1" spc="-20" dirty="0">
                <a:latin typeface="Calibri"/>
                <a:cs typeface="Calibri"/>
              </a:rPr>
              <a:t> </a:t>
            </a:r>
            <a:r>
              <a:rPr sz="1600" b="1" dirty="0">
                <a:latin typeface="Calibri"/>
                <a:cs typeface="Calibri"/>
              </a:rPr>
              <a:t>prototype)</a:t>
            </a:r>
            <a:r>
              <a:rPr sz="1600" b="1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learned</a:t>
            </a:r>
            <a:endParaRPr sz="1600">
              <a:latin typeface="Calibri"/>
              <a:cs typeface="Calibri"/>
            </a:endParaRPr>
          </a:p>
          <a:p>
            <a:pPr marL="240665">
              <a:lnSpc>
                <a:spcPts val="1860"/>
              </a:lnSpc>
            </a:pPr>
            <a:r>
              <a:rPr sz="1600" dirty="0">
                <a:latin typeface="Calibri"/>
                <a:cs typeface="Calibri"/>
              </a:rPr>
              <a:t>from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implementation later</a:t>
            </a:r>
            <a:endParaRPr sz="1600">
              <a:latin typeface="Calibri"/>
              <a:cs typeface="Calibri"/>
            </a:endParaRPr>
          </a:p>
          <a:p>
            <a:pPr marL="240665" marR="17145" indent="-228600">
              <a:lnSpc>
                <a:spcPts val="1700"/>
              </a:lnSpc>
              <a:spcBef>
                <a:spcPts val="102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600" spc="-20" dirty="0">
                <a:latin typeface="Calibri"/>
                <a:cs typeface="Calibri"/>
              </a:rPr>
              <a:t>Your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producing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working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software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product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could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deployed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spc="-10" dirty="0">
                <a:latin typeface="Calibri"/>
                <a:cs typeface="Calibri"/>
              </a:rPr>
              <a:t>production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environment</a:t>
            </a:r>
            <a:endParaRPr sz="1600">
              <a:latin typeface="Calibri"/>
              <a:cs typeface="Calibri"/>
            </a:endParaRPr>
          </a:p>
          <a:p>
            <a:pPr marL="240665" marR="5080" indent="-228600">
              <a:lnSpc>
                <a:spcPct val="88500"/>
              </a:lnSpc>
              <a:spcBef>
                <a:spcPts val="98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prototype will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enable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client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test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artifacts,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identify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design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improvements,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identify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issues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fixed,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before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fully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implemented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production </a:t>
            </a:r>
            <a:r>
              <a:rPr sz="1600" spc="-20" dirty="0">
                <a:latin typeface="Calibri"/>
                <a:cs typeface="Calibri"/>
              </a:rPr>
              <a:t>environment</a:t>
            </a:r>
            <a:r>
              <a:rPr sz="1600" i="1" spc="-20" dirty="0">
                <a:latin typeface="Calibri"/>
                <a:cs typeface="Calibri"/>
              </a:rPr>
              <a:t>.</a:t>
            </a:r>
            <a:r>
              <a:rPr sz="1600" i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Hence,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client</a:t>
            </a:r>
            <a:r>
              <a:rPr sz="1600" i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600" i="1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</a:t>
            </a:r>
            <a:r>
              <a:rPr sz="16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full</a:t>
            </a:r>
            <a:r>
              <a:rPr sz="1600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implementation</a:t>
            </a:r>
            <a:r>
              <a:rPr sz="1600" i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600" i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their</a:t>
            </a:r>
            <a:r>
              <a:rPr sz="1600" i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production</a:t>
            </a:r>
            <a:r>
              <a:rPr sz="1600" i="1" u="sng" spc="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i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environment</a:t>
            </a:r>
            <a:r>
              <a:rPr sz="1600" i="1" u="none" spc="-10" dirty="0">
                <a:latin typeface="Calibri"/>
                <a:cs typeface="Calibri"/>
              </a:rPr>
              <a:t>.</a:t>
            </a:r>
            <a:endParaRPr sz="16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Font typeface="Arial"/>
              <a:buChar char="•"/>
              <a:tabLst>
                <a:tab pos="286385" algn="l"/>
              </a:tabLst>
            </a:pPr>
            <a:r>
              <a:rPr sz="1600" spc="-10" dirty="0">
                <a:latin typeface="Calibri"/>
                <a:cs typeface="Calibri"/>
              </a:rPr>
              <a:t>Expected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approach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to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deliver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functional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prototype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Use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short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cycle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approach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not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big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bang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approach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Active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involvement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client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real-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time</a:t>
            </a:r>
            <a:r>
              <a:rPr sz="1600" u="none" spc="-25" dirty="0">
                <a:latin typeface="Calibri"/>
                <a:cs typeface="Calibri"/>
              </a:rPr>
              <a:t> </a:t>
            </a:r>
            <a:r>
              <a:rPr sz="1600" u="none" spc="-20" dirty="0">
                <a:latin typeface="Calibri"/>
                <a:cs typeface="Calibri"/>
              </a:rPr>
              <a:t>information</a:t>
            </a:r>
            <a:r>
              <a:rPr sz="1600" u="none" spc="-4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and</a:t>
            </a:r>
            <a:r>
              <a:rPr sz="1600" u="none" spc="-65" dirty="0">
                <a:latin typeface="Calibri"/>
                <a:cs typeface="Calibri"/>
              </a:rPr>
              <a:t> </a:t>
            </a:r>
            <a:r>
              <a:rPr sz="1600" u="none" spc="-10" dirty="0">
                <a:latin typeface="Calibri"/>
                <a:cs typeface="Calibri"/>
              </a:rPr>
              <a:t>feedback</a:t>
            </a:r>
            <a:endParaRPr sz="1600">
              <a:latin typeface="Calibri"/>
              <a:cs typeface="Calibri"/>
            </a:endParaRPr>
          </a:p>
          <a:p>
            <a:pPr marL="697865" lvl="1" indent="-228600">
              <a:lnSpc>
                <a:spcPts val="1860"/>
              </a:lnSpc>
              <a:spcBef>
                <a:spcPts val="18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600" dirty="0">
                <a:latin typeface="Calibri"/>
                <a:cs typeface="Calibri"/>
              </a:rPr>
              <a:t>It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can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both,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low-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fidelity</a:t>
            </a:r>
            <a:r>
              <a:rPr sz="1600" u="none" spc="-4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(paper</a:t>
            </a:r>
            <a:r>
              <a:rPr sz="1600" u="none" spc="-35" dirty="0">
                <a:latin typeface="Calibri"/>
                <a:cs typeface="Calibri"/>
              </a:rPr>
              <a:t> </a:t>
            </a:r>
            <a:r>
              <a:rPr sz="1600" u="none" spc="-10" dirty="0">
                <a:latin typeface="Calibri"/>
                <a:cs typeface="Calibri"/>
              </a:rPr>
              <a:t>design/screen</a:t>
            </a:r>
            <a:r>
              <a:rPr sz="1600" u="none" spc="1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shots)</a:t>
            </a:r>
            <a:r>
              <a:rPr sz="1600" u="none" spc="-1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or</a:t>
            </a:r>
            <a:r>
              <a:rPr sz="1600" u="none" spc="-20" dirty="0"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high-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fidelity</a:t>
            </a:r>
            <a:r>
              <a:rPr sz="1600" u="none" spc="-85" dirty="0">
                <a:latin typeface="Calibri"/>
                <a:cs typeface="Calibri"/>
              </a:rPr>
              <a:t> </a:t>
            </a:r>
            <a:r>
              <a:rPr sz="1600" u="none" spc="-10" dirty="0">
                <a:latin typeface="Calibri"/>
                <a:cs typeface="Calibri"/>
              </a:rPr>
              <a:t>(working</a:t>
            </a:r>
            <a:endParaRPr sz="1600">
              <a:latin typeface="Calibri"/>
              <a:cs typeface="Calibri"/>
            </a:endParaRPr>
          </a:p>
          <a:p>
            <a:pPr marL="697865">
              <a:lnSpc>
                <a:spcPts val="1860"/>
              </a:lnSpc>
            </a:pPr>
            <a:r>
              <a:rPr sz="1600" spc="-10" dirty="0">
                <a:latin typeface="Calibri"/>
                <a:cs typeface="Calibri"/>
              </a:rPr>
              <a:t>software)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prototype</a:t>
            </a:r>
            <a:endParaRPr sz="1600">
              <a:latin typeface="Calibri"/>
              <a:cs typeface="Calibri"/>
            </a:endParaRPr>
          </a:p>
          <a:p>
            <a:pPr marL="12700">
              <a:lnSpc>
                <a:spcPct val="100000"/>
              </a:lnSpc>
              <a:spcBef>
                <a:spcPts val="780"/>
              </a:spcBef>
            </a:pPr>
            <a:r>
              <a:rPr sz="1800" dirty="0">
                <a:latin typeface="Calibri"/>
                <a:cs typeface="Calibri"/>
              </a:rPr>
              <a:t>Note: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team’s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responsibility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create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awareness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client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01981" rIns="0" bIns="0" rtlCol="0">
            <a:spAutoFit/>
          </a:bodyPr>
          <a:lstStyle/>
          <a:p>
            <a:pPr marL="81280">
              <a:lnSpc>
                <a:spcPct val="100000"/>
              </a:lnSpc>
              <a:spcBef>
                <a:spcPts val="100"/>
              </a:spcBef>
            </a:pPr>
            <a:r>
              <a:rPr sz="2400" spc="-20" dirty="0"/>
              <a:t>Canvas:</a:t>
            </a:r>
            <a:r>
              <a:rPr sz="2400" spc="-95" dirty="0"/>
              <a:t> </a:t>
            </a:r>
            <a:r>
              <a:rPr sz="2400" dirty="0"/>
              <a:t>Course</a:t>
            </a:r>
            <a:r>
              <a:rPr sz="2400" spc="-80" dirty="0"/>
              <a:t> </a:t>
            </a:r>
            <a:r>
              <a:rPr sz="2400" spc="-20" dirty="0"/>
              <a:t>materials</a:t>
            </a:r>
            <a:r>
              <a:rPr sz="2400" spc="-95" dirty="0"/>
              <a:t> </a:t>
            </a:r>
            <a:r>
              <a:rPr sz="2400" dirty="0"/>
              <a:t>and</a:t>
            </a:r>
            <a:r>
              <a:rPr sz="2400" spc="-90" dirty="0"/>
              <a:t> </a:t>
            </a:r>
            <a:r>
              <a:rPr sz="2400" spc="-10" dirty="0"/>
              <a:t>announcements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847088" y="1123188"/>
            <a:ext cx="1564005" cy="3111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0"/>
              </a:lnSpc>
            </a:pPr>
            <a:r>
              <a:rPr sz="2000" dirty="0">
                <a:latin typeface="Calibri"/>
                <a:cs typeface="Calibri"/>
              </a:rPr>
              <a:t>Part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2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058062" y="1084326"/>
            <a:ext cx="7277734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  <a:tab pos="2352040" algn="l"/>
              </a:tabLst>
            </a:pPr>
            <a:r>
              <a:rPr sz="2000" spc="-20" dirty="0">
                <a:latin typeface="Calibri"/>
                <a:cs typeface="Calibri"/>
              </a:rPr>
              <a:t>Both</a:t>
            </a:r>
            <a:r>
              <a:rPr sz="2000" dirty="0">
                <a:latin typeface="Calibri"/>
                <a:cs typeface="Calibri"/>
              </a:rPr>
              <a:t>	are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offered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through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single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instance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Canvas: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286636" y="1315464"/>
            <a:ext cx="5272405" cy="100012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45"/>
              </a:spcBef>
            </a:pPr>
            <a:r>
              <a:rPr sz="2000" dirty="0">
                <a:latin typeface="Calibri"/>
                <a:cs typeface="Calibri"/>
              </a:rPr>
              <a:t>COMP703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202</a:t>
            </a:r>
            <a:r>
              <a:rPr lang="en-NZ" sz="2000" dirty="0">
                <a:latin typeface="Calibri"/>
                <a:cs typeface="Calibri"/>
              </a:rPr>
              <a:t>5</a:t>
            </a:r>
            <a:r>
              <a:rPr sz="2000" dirty="0">
                <a:latin typeface="Calibri"/>
                <a:cs typeface="Calibri"/>
              </a:rPr>
              <a:t>_0</a:t>
            </a:r>
            <a:r>
              <a:rPr lang="en-NZ" sz="2000" dirty="0">
                <a:latin typeface="Calibri"/>
                <a:cs typeface="Calibri"/>
              </a:rPr>
              <a:t>2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 &amp;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Project-</a:t>
            </a:r>
            <a:endParaRPr sz="20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09"/>
              </a:spcBef>
              <a:buClr>
                <a:srgbClr val="F5821F"/>
              </a:buClr>
              <a:buFont typeface="Arial"/>
              <a:buChar char="•"/>
              <a:tabLst>
                <a:tab pos="469265" algn="l"/>
              </a:tabLst>
            </a:pPr>
            <a:r>
              <a:rPr sz="1800" dirty="0">
                <a:latin typeface="Calibri"/>
                <a:cs typeface="Calibri"/>
              </a:rPr>
              <a:t>BCIS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R&amp;D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–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COMP702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COMP703;</a:t>
            </a:r>
            <a:endParaRPr sz="1800" dirty="0">
              <a:latin typeface="Calibri"/>
              <a:cs typeface="Calibri"/>
            </a:endParaRPr>
          </a:p>
          <a:p>
            <a:pPr marL="469265" indent="-227965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469265" algn="l"/>
              </a:tabLst>
            </a:pPr>
            <a:r>
              <a:rPr sz="1800" spc="-10" dirty="0">
                <a:latin typeface="Calibri"/>
                <a:cs typeface="Calibri"/>
              </a:rPr>
              <a:t>Conjoint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Research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Project-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COMP708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COMP709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99972" y="2417064"/>
            <a:ext cx="730250" cy="3416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65"/>
              </a:lnSpc>
            </a:pPr>
            <a:r>
              <a:rPr sz="2200" dirty="0">
                <a:latin typeface="Calibri"/>
                <a:cs typeface="Calibri"/>
              </a:rPr>
              <a:t>Part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1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299972" y="2846832"/>
            <a:ext cx="730250" cy="34163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370"/>
              </a:lnSpc>
            </a:pPr>
            <a:r>
              <a:rPr sz="2200" dirty="0">
                <a:latin typeface="Calibri"/>
                <a:cs typeface="Calibri"/>
              </a:rPr>
              <a:t>Part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spc="-50" dirty="0">
                <a:latin typeface="Calibri"/>
                <a:cs typeface="Calibri"/>
              </a:rPr>
              <a:t>2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017014" y="2376297"/>
            <a:ext cx="27539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-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COMP702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&amp;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COMP708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017014" y="2800349"/>
            <a:ext cx="2753995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200" dirty="0">
                <a:latin typeface="Calibri"/>
                <a:cs typeface="Calibri"/>
              </a:rPr>
              <a:t>-</a:t>
            </a:r>
            <a:r>
              <a:rPr sz="2200" spc="-3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COMP703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&amp;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COMP709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58062" y="2294534"/>
            <a:ext cx="7640320" cy="2112645"/>
          </a:xfrm>
          <a:prstGeom prst="rect">
            <a:avLst/>
          </a:prstGeom>
        </p:spPr>
        <p:txBody>
          <a:bodyPr vert="horz" wrap="square" lIns="0" tIns="10287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810"/>
              </a:spcBef>
            </a:pPr>
            <a:r>
              <a:rPr sz="2200" spc="-50" dirty="0">
                <a:solidFill>
                  <a:srgbClr val="F5821F"/>
                </a:solidFill>
                <a:latin typeface="Arial"/>
                <a:cs typeface="Arial"/>
              </a:rPr>
              <a:t>•</a:t>
            </a:r>
            <a:endParaRPr sz="22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710"/>
              </a:spcBef>
            </a:pPr>
            <a:r>
              <a:rPr sz="2200" spc="-50" dirty="0">
                <a:solidFill>
                  <a:srgbClr val="F5821F"/>
                </a:solidFill>
                <a:latin typeface="Arial"/>
                <a:cs typeface="Arial"/>
              </a:rPr>
              <a:t>•</a:t>
            </a:r>
            <a:endParaRPr sz="2200" dirty="0">
              <a:latin typeface="Arial"/>
              <a:cs typeface="Arial"/>
            </a:endParaRPr>
          </a:p>
          <a:p>
            <a:pPr marL="299085" marR="1849755" indent="-287020">
              <a:lnSpc>
                <a:spcPts val="2210"/>
              </a:lnSpc>
              <a:spcBef>
                <a:spcPts val="455"/>
              </a:spcBef>
              <a:buClr>
                <a:srgbClr val="F5821F"/>
              </a:buClr>
              <a:buFont typeface="Arial"/>
              <a:buChar char="•"/>
              <a:tabLst>
                <a:tab pos="299085" algn="l"/>
              </a:tabLst>
            </a:pPr>
            <a:r>
              <a:rPr sz="2000" spc="-35" dirty="0">
                <a:latin typeface="Calibri"/>
                <a:cs typeface="Calibri"/>
              </a:rPr>
              <a:t>You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should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have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access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Canvas.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please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email </a:t>
            </a:r>
            <a:r>
              <a:rPr sz="20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2"/>
              </a:rPr>
              <a:t>cmsundergrad@aut.ac.nz</a:t>
            </a:r>
            <a:r>
              <a:rPr sz="2000" u="none" spc="-10" dirty="0">
                <a:latin typeface="Calibri"/>
                <a:cs typeface="Calibri"/>
              </a:rPr>
              <a:t>.</a:t>
            </a:r>
            <a:endParaRPr sz="2000" dirty="0">
              <a:latin typeface="Calibri"/>
              <a:cs typeface="Calibri"/>
            </a:endParaRPr>
          </a:p>
          <a:p>
            <a:pPr marL="299085" indent="-286385">
              <a:lnSpc>
                <a:spcPts val="2300"/>
              </a:lnSpc>
              <a:spcBef>
                <a:spcPts val="259"/>
              </a:spcBef>
              <a:buClr>
                <a:srgbClr val="F5821F"/>
              </a:buClr>
              <a:buFont typeface="Arial"/>
              <a:buChar char="•"/>
              <a:tabLst>
                <a:tab pos="299085" algn="l"/>
              </a:tabLst>
            </a:pPr>
            <a:r>
              <a:rPr sz="2000" dirty="0">
                <a:latin typeface="Calibri"/>
                <a:cs typeface="Calibri"/>
              </a:rPr>
              <a:t>It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responsibility</a:t>
            </a:r>
            <a:r>
              <a:rPr sz="2000" spc="-1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keep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date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ensure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what</a:t>
            </a:r>
            <a:endParaRPr sz="2000" dirty="0">
              <a:latin typeface="Calibri"/>
              <a:cs typeface="Calibri"/>
            </a:endParaRPr>
          </a:p>
          <a:p>
            <a:pPr marL="299085">
              <a:lnSpc>
                <a:spcPts val="2300"/>
              </a:lnSpc>
            </a:pPr>
            <a:r>
              <a:rPr sz="2000" dirty="0">
                <a:latin typeface="Calibri"/>
                <a:cs typeface="Calibri"/>
              </a:rPr>
              <a:t>is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required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succeed.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0053" y="-59943"/>
            <a:ext cx="730504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Starting</a:t>
            </a:r>
            <a:r>
              <a:rPr sz="2000" spc="-55" dirty="0"/>
              <a:t> </a:t>
            </a:r>
            <a:r>
              <a:rPr sz="2000" dirty="0"/>
              <a:t>point-</a:t>
            </a:r>
            <a:r>
              <a:rPr sz="2000" spc="-114" dirty="0"/>
              <a:t> </a:t>
            </a:r>
            <a:r>
              <a:rPr sz="2000" dirty="0"/>
              <a:t>having</a:t>
            </a:r>
            <a:r>
              <a:rPr sz="2000" spc="-45" dirty="0"/>
              <a:t> </a:t>
            </a:r>
            <a:r>
              <a:rPr sz="2000" dirty="0"/>
              <a:t>a</a:t>
            </a:r>
            <a:r>
              <a:rPr sz="2000" spc="-40" dirty="0"/>
              <a:t> </a:t>
            </a:r>
            <a:r>
              <a:rPr sz="2000" dirty="0"/>
              <a:t>vision</a:t>
            </a:r>
            <a:r>
              <a:rPr sz="2000" spc="-80" dirty="0"/>
              <a:t> </a:t>
            </a:r>
            <a:r>
              <a:rPr sz="2000" dirty="0"/>
              <a:t>for</a:t>
            </a:r>
            <a:r>
              <a:rPr sz="2000" spc="-55" dirty="0"/>
              <a:t> </a:t>
            </a:r>
            <a:r>
              <a:rPr sz="2000" dirty="0"/>
              <a:t>all</a:t>
            </a:r>
            <a:r>
              <a:rPr sz="2000" spc="-45" dirty="0"/>
              <a:t> </a:t>
            </a:r>
            <a:r>
              <a:rPr sz="2000" spc="-10" dirty="0"/>
              <a:t>assessments</a:t>
            </a:r>
            <a:r>
              <a:rPr sz="2000" spc="-85" dirty="0"/>
              <a:t> </a:t>
            </a:r>
            <a:r>
              <a:rPr sz="2000" dirty="0"/>
              <a:t>(AUT</a:t>
            </a:r>
            <a:r>
              <a:rPr sz="2000" spc="-50" dirty="0"/>
              <a:t> </a:t>
            </a:r>
            <a:r>
              <a:rPr sz="2000" spc="-10" dirty="0"/>
              <a:t>requirements)</a:t>
            </a:r>
            <a:endParaRPr sz="2000"/>
          </a:p>
        </p:txBody>
      </p:sp>
      <p:sp>
        <p:nvSpPr>
          <p:cNvPr id="3" name="object 3"/>
          <p:cNvSpPr/>
          <p:nvPr/>
        </p:nvSpPr>
        <p:spPr>
          <a:xfrm>
            <a:off x="4401311" y="5774435"/>
            <a:ext cx="1447800" cy="172085"/>
          </a:xfrm>
          <a:custGeom>
            <a:avLst/>
            <a:gdLst/>
            <a:ahLst/>
            <a:cxnLst/>
            <a:rect l="l" t="t" r="r" b="b"/>
            <a:pathLst>
              <a:path w="1447800" h="172085">
                <a:moveTo>
                  <a:pt x="1447800" y="0"/>
                </a:moveTo>
                <a:lnTo>
                  <a:pt x="0" y="0"/>
                </a:lnTo>
                <a:lnTo>
                  <a:pt x="0" y="171703"/>
                </a:lnTo>
                <a:lnTo>
                  <a:pt x="1447800" y="171703"/>
                </a:lnTo>
                <a:lnTo>
                  <a:pt x="1447800" y="0"/>
                </a:lnTo>
                <a:close/>
              </a:path>
            </a:pathLst>
          </a:custGeom>
          <a:solidFill>
            <a:srgbClr val="FFFF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/>
          <p:nvPr/>
        </p:nvSpPr>
        <p:spPr>
          <a:xfrm>
            <a:off x="992835" y="268985"/>
            <a:ext cx="433705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Two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semester,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30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BCIS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Course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311021" y="668702"/>
            <a:ext cx="88265" cy="529590"/>
          </a:xfrm>
          <a:prstGeom prst="rect">
            <a:avLst/>
          </a:prstGeom>
        </p:spPr>
        <p:txBody>
          <a:bodyPr vert="horz" wrap="square" lIns="0" tIns="514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405"/>
              </a:spcBef>
            </a:pPr>
            <a:r>
              <a:rPr sz="1400" spc="-50" dirty="0">
                <a:solidFill>
                  <a:srgbClr val="F5821F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300"/>
              </a:spcBef>
            </a:pPr>
            <a:r>
              <a:rPr sz="1400" spc="-50" dirty="0">
                <a:solidFill>
                  <a:srgbClr val="F5821F"/>
                </a:solidFill>
                <a:latin typeface="Arial"/>
                <a:cs typeface="Arial"/>
              </a:rPr>
              <a:t>•</a:t>
            </a:r>
            <a:endParaRPr sz="1400">
              <a:latin typeface="Arial"/>
              <a:cs typeface="Arial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552955" y="733044"/>
            <a:ext cx="1320165" cy="47434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15"/>
              </a:lnSpc>
            </a:pPr>
            <a:r>
              <a:rPr sz="1400" dirty="0">
                <a:latin typeface="Calibri"/>
                <a:cs typeface="Calibri"/>
              </a:rPr>
              <a:t>Part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1-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COMP702-</a:t>
            </a:r>
            <a:endParaRPr sz="1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335"/>
              </a:spcBef>
            </a:pPr>
            <a:r>
              <a:rPr sz="1400" dirty="0">
                <a:latin typeface="Calibri"/>
                <a:cs typeface="Calibri"/>
              </a:rPr>
              <a:t>Part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2-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COMP703-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2856229" y="642340"/>
            <a:ext cx="1938655" cy="53784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 marR="30480">
              <a:lnSpc>
                <a:spcPct val="120000"/>
              </a:lnSpc>
              <a:spcBef>
                <a:spcPts val="100"/>
              </a:spcBef>
            </a:pPr>
            <a:r>
              <a:rPr sz="1400" spc="-10" dirty="0">
                <a:latin typeface="Calibri"/>
                <a:cs typeface="Calibri"/>
              </a:rPr>
              <a:t>undertaken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350" baseline="21604" dirty="0">
                <a:latin typeface="Calibri"/>
                <a:cs typeface="Calibri"/>
              </a:rPr>
              <a:t>st</a:t>
            </a:r>
            <a:r>
              <a:rPr sz="1350" spc="82" baseline="21604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sem </a:t>
            </a:r>
            <a:r>
              <a:rPr sz="1400" spc="-10" dirty="0">
                <a:latin typeface="Calibri"/>
                <a:cs typeface="Calibri"/>
              </a:rPr>
              <a:t>undertaken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350" baseline="21604" dirty="0">
                <a:latin typeface="Calibri"/>
                <a:cs typeface="Calibri"/>
              </a:rPr>
              <a:t>nd</a:t>
            </a:r>
            <a:r>
              <a:rPr sz="1350" spc="67" baseline="21604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sem</a:t>
            </a:r>
            <a:endParaRPr sz="140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853846" y="1161415"/>
            <a:ext cx="7832954" cy="5242461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51460" marR="829310" indent="-228600">
              <a:lnSpc>
                <a:spcPts val="1689"/>
              </a:lnSpc>
              <a:spcBef>
                <a:spcPts val="340"/>
              </a:spcBef>
              <a:buClr>
                <a:srgbClr val="F5821F"/>
              </a:buClr>
              <a:buFont typeface="Arial"/>
              <a:buChar char="•"/>
              <a:tabLst>
                <a:tab pos="251460" algn="l"/>
              </a:tabLst>
            </a:pPr>
            <a:r>
              <a:rPr sz="1600" spc="-20" dirty="0">
                <a:latin typeface="Calibri"/>
                <a:cs typeface="Calibri"/>
              </a:rPr>
              <a:t>Assessments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over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two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semesters:</a:t>
            </a:r>
            <a:r>
              <a:rPr sz="1600" dirty="0">
                <a:latin typeface="Calibri"/>
                <a:cs typeface="Calibri"/>
              </a:rPr>
              <a:t> 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lang="en-NZ" sz="1600" spc="-30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R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lang="en-NZ" sz="1600" dirty="0">
                <a:latin typeface="Calibri"/>
                <a:cs typeface="Calibri"/>
              </a:rPr>
              <a:t>course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is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35" dirty="0">
                <a:latin typeface="Calibri"/>
                <a:cs typeface="Calibri"/>
              </a:rPr>
              <a:t>on </a:t>
            </a:r>
            <a:r>
              <a:rPr sz="1600" spc="-10" dirty="0">
                <a:latin typeface="Calibri"/>
                <a:cs typeface="Calibri"/>
              </a:rPr>
              <a:t>assessment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marks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achieved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COMP703</a:t>
            </a:r>
            <a:endParaRPr sz="1600" dirty="0">
              <a:latin typeface="Calibri"/>
              <a:cs typeface="Calibri"/>
            </a:endParaRPr>
          </a:p>
          <a:p>
            <a:pPr marL="251460" marR="75565" indent="-228600">
              <a:lnSpc>
                <a:spcPts val="170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51460" algn="l"/>
              </a:tabLst>
            </a:pPr>
            <a:r>
              <a:rPr sz="1600" dirty="0">
                <a:latin typeface="Calibri"/>
                <a:cs typeface="Calibri"/>
              </a:rPr>
              <a:t>This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sem,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grade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2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COMP702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STC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(pass)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Arion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but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updated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overall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semester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once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completed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COMP703.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Hence,</a:t>
            </a:r>
            <a:r>
              <a:rPr sz="16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COMP702</a:t>
            </a:r>
            <a:r>
              <a:rPr sz="16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6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COMP703</a:t>
            </a:r>
            <a:r>
              <a:rPr sz="16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6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have</a:t>
            </a:r>
            <a:r>
              <a:rPr sz="16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same</a:t>
            </a:r>
            <a:r>
              <a:rPr sz="16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grade</a:t>
            </a:r>
            <a:r>
              <a:rPr sz="1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6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Arion.</a:t>
            </a:r>
            <a:endParaRPr sz="1600" dirty="0">
              <a:latin typeface="Calibri"/>
              <a:cs typeface="Calibri"/>
            </a:endParaRPr>
          </a:p>
          <a:p>
            <a:pPr marL="252729">
              <a:lnSpc>
                <a:spcPct val="100000"/>
              </a:lnSpc>
              <a:spcBef>
                <a:spcPts val="785"/>
              </a:spcBef>
            </a:pPr>
            <a:r>
              <a:rPr sz="1600" dirty="0">
                <a:latin typeface="Calibri"/>
                <a:cs typeface="Calibri"/>
              </a:rPr>
              <a:t>COMP702,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lang="en-NZ" sz="1600" dirty="0">
                <a:latin typeface="Calibri"/>
                <a:cs typeface="Calibri"/>
              </a:rPr>
              <a:t>1</a:t>
            </a:r>
            <a:r>
              <a:rPr lang="en-NZ" sz="1600" baseline="30000" dirty="0">
                <a:latin typeface="Calibri"/>
                <a:cs typeface="Calibri"/>
              </a:rPr>
              <a:t>st</a:t>
            </a:r>
            <a:r>
              <a:rPr lang="en-NZ" sz="1600" dirty="0">
                <a:latin typeface="Calibri"/>
                <a:cs typeface="Calibri"/>
              </a:rPr>
              <a:t> </a:t>
            </a:r>
            <a:r>
              <a:rPr lang="en-NZ" sz="1600" dirty="0" err="1">
                <a:latin typeface="Calibri"/>
                <a:cs typeface="Calibri"/>
              </a:rPr>
              <a:t>sem</a:t>
            </a:r>
            <a:r>
              <a:rPr lang="en-NZ" sz="1600" dirty="0">
                <a:latin typeface="Calibri"/>
                <a:cs typeface="Calibri"/>
              </a:rPr>
              <a:t>-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(semester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lang="en-NZ" sz="1600" spc="-35" dirty="0">
                <a:latin typeface="Calibri"/>
                <a:cs typeface="Calibri"/>
              </a:rPr>
              <a:t>2</a:t>
            </a:r>
            <a:r>
              <a:rPr sz="1600" dirty="0">
                <a:latin typeface="Calibri"/>
                <a:cs typeface="Calibri"/>
              </a:rPr>
              <a:t>,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202</a:t>
            </a:r>
            <a:r>
              <a:rPr lang="en-NZ" sz="1600" spc="-10" dirty="0">
                <a:latin typeface="Calibri"/>
                <a:cs typeface="Calibri"/>
              </a:rPr>
              <a:t>5</a:t>
            </a:r>
            <a:r>
              <a:rPr sz="1600" spc="-10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 marL="822960" marR="168910" lvl="1" indent="-342900">
              <a:lnSpc>
                <a:spcPts val="1600"/>
              </a:lnSpc>
              <a:spcBef>
                <a:spcPts val="355"/>
              </a:spcBef>
              <a:buClr>
                <a:srgbClr val="F5821F"/>
              </a:buClr>
              <a:buAutoNum type="arabicPeriod"/>
              <a:tabLst>
                <a:tab pos="822960" algn="l"/>
              </a:tabLst>
            </a:pP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proposal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(10%)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-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presentation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lang="en-NZ" sz="1400" spc="-55" dirty="0">
                <a:latin typeface="Calibri"/>
                <a:cs typeface="Calibri"/>
              </a:rPr>
              <a:t>6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proposal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upload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Canvas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by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end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of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lang="en-NZ" sz="1400" spc="-45" dirty="0">
                <a:latin typeface="Calibri"/>
                <a:cs typeface="Calibri"/>
              </a:rPr>
              <a:t>5</a:t>
            </a:r>
            <a:endParaRPr sz="1400" dirty="0">
              <a:latin typeface="Calibri"/>
              <a:cs typeface="Calibri"/>
            </a:endParaRPr>
          </a:p>
          <a:p>
            <a:pPr marL="822960" lvl="1" indent="-342900">
              <a:lnSpc>
                <a:spcPts val="1590"/>
              </a:lnSpc>
              <a:spcBef>
                <a:spcPts val="280"/>
              </a:spcBef>
              <a:buClr>
                <a:srgbClr val="F5821F"/>
              </a:buClr>
              <a:buAutoNum type="arabicPeriod"/>
              <a:tabLst>
                <a:tab pos="822960" algn="l"/>
              </a:tabLst>
            </a:pPr>
            <a:r>
              <a:rPr sz="1400" spc="-20" dirty="0">
                <a:latin typeface="Calibri"/>
                <a:cs typeface="Calibri"/>
              </a:rPr>
              <a:t>Mid-</a:t>
            </a:r>
            <a:r>
              <a:rPr sz="1400" dirty="0">
                <a:latin typeface="Calibri"/>
                <a:cs typeface="Calibri"/>
              </a:rPr>
              <a:t>term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(10%)-</a:t>
            </a:r>
            <a:r>
              <a:rPr sz="1400" spc="204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show/tell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lang="en-NZ" sz="1400" spc="-50" dirty="0">
                <a:latin typeface="Calibri"/>
                <a:cs typeface="Calibri"/>
              </a:rPr>
              <a:t>the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portfolio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</a:t>
            </a:r>
            <a:r>
              <a:rPr lang="en-NZ" sz="1400" spc="-25" dirty="0">
                <a:latin typeface="Calibri"/>
                <a:cs typeface="Calibri"/>
              </a:rPr>
              <a:t>3 or week 14</a:t>
            </a:r>
            <a:r>
              <a:rPr lang="en-NZ" sz="1400" dirty="0">
                <a:latin typeface="Calibri"/>
                <a:cs typeface="Calibri"/>
              </a:rPr>
              <a:t>,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report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uploaded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Canvas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lang="en-NZ" sz="1400" dirty="0">
                <a:latin typeface="Calibri"/>
                <a:cs typeface="Calibri"/>
              </a:rPr>
              <a:t>to be uploaded on Canvas a day before the team presentation</a:t>
            </a:r>
            <a:r>
              <a:rPr sz="1400" spc="-25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 marL="231775">
              <a:lnSpc>
                <a:spcPct val="100000"/>
              </a:lnSpc>
              <a:spcBef>
                <a:spcPts val="894"/>
              </a:spcBef>
            </a:pPr>
            <a:r>
              <a:rPr sz="1600" dirty="0">
                <a:latin typeface="Calibri"/>
                <a:cs typeface="Calibri"/>
              </a:rPr>
              <a:t>COMP703,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lang="en-NZ" sz="1600" spc="-15" dirty="0">
                <a:latin typeface="Calibri"/>
                <a:cs typeface="Calibri"/>
              </a:rPr>
              <a:t>2</a:t>
            </a:r>
            <a:r>
              <a:rPr lang="en-NZ" sz="1600" spc="-15" baseline="30000" dirty="0">
                <a:latin typeface="Calibri"/>
                <a:cs typeface="Calibri"/>
              </a:rPr>
              <a:t>nd</a:t>
            </a:r>
            <a:r>
              <a:rPr lang="en-NZ" sz="1600" spc="-15" dirty="0">
                <a:latin typeface="Calibri"/>
                <a:cs typeface="Calibri"/>
              </a:rPr>
              <a:t> </a:t>
            </a:r>
            <a:r>
              <a:rPr lang="en-NZ" sz="1600" spc="-15" dirty="0" err="1">
                <a:latin typeface="Calibri"/>
                <a:cs typeface="Calibri"/>
              </a:rPr>
              <a:t>sem</a:t>
            </a:r>
            <a:r>
              <a:rPr sz="1600" dirty="0">
                <a:latin typeface="Calibri"/>
                <a:cs typeface="Calibri"/>
              </a:rPr>
              <a:t>-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lang="en-NZ" sz="1600" spc="-60" dirty="0">
                <a:latin typeface="Calibri"/>
                <a:cs typeface="Calibri"/>
              </a:rPr>
              <a:t>2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</a:t>
            </a:r>
            <a:r>
              <a:rPr lang="en-NZ" sz="1600" dirty="0">
                <a:latin typeface="Calibri"/>
                <a:cs typeface="Calibri"/>
              </a:rPr>
              <a:t>will </a:t>
            </a:r>
            <a:r>
              <a:rPr sz="1600" dirty="0">
                <a:latin typeface="Calibri"/>
                <a:cs typeface="Calibri"/>
              </a:rPr>
              <a:t>do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lang="en-NZ" sz="1600" spc="-50" dirty="0">
                <a:latin typeface="Calibri"/>
                <a:cs typeface="Calibri"/>
              </a:rPr>
              <a:t>P</a:t>
            </a:r>
            <a:r>
              <a:rPr sz="1600" dirty="0">
                <a:latin typeface="Calibri"/>
                <a:cs typeface="Calibri"/>
              </a:rPr>
              <a:t>art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lang="en-NZ" sz="1600" dirty="0">
                <a:latin typeface="Calibri"/>
                <a:cs typeface="Calibri"/>
              </a:rPr>
              <a:t>Sem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lang="en-NZ" sz="1600" spc="-30" dirty="0">
                <a:latin typeface="Calibri"/>
                <a:cs typeface="Calibri"/>
              </a:rPr>
              <a:t>1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202</a:t>
            </a:r>
            <a:r>
              <a:rPr lang="en-NZ" sz="1600" spc="-10" dirty="0">
                <a:latin typeface="Calibri"/>
                <a:cs typeface="Calibri"/>
              </a:rPr>
              <a:t>6</a:t>
            </a:r>
            <a:r>
              <a:rPr sz="1600" spc="-10" dirty="0">
                <a:latin typeface="Calibri"/>
                <a:cs typeface="Calibri"/>
              </a:rPr>
              <a:t>)</a:t>
            </a:r>
            <a:endParaRPr sz="1600" dirty="0">
              <a:latin typeface="Calibri"/>
              <a:cs typeface="Calibri"/>
            </a:endParaRPr>
          </a:p>
          <a:p>
            <a:pPr marL="853440" lvl="1" indent="-373380">
              <a:lnSpc>
                <a:spcPct val="100000"/>
              </a:lnSpc>
              <a:spcBef>
                <a:spcPts val="330"/>
              </a:spcBef>
              <a:buAutoNum type="arabicPeriod" startAt="3"/>
              <a:tabLst>
                <a:tab pos="853440" algn="l"/>
              </a:tabLst>
            </a:pPr>
            <a:r>
              <a:rPr sz="1400" spc="-10" dirty="0">
                <a:latin typeface="Calibri"/>
                <a:cs typeface="Calibri"/>
              </a:rPr>
              <a:t>Client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feedback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(5%)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12</a:t>
            </a:r>
            <a:r>
              <a:rPr lang="en-NZ" sz="1400" spc="-25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 marL="822960" lvl="1" indent="-342900">
              <a:lnSpc>
                <a:spcPct val="100000"/>
              </a:lnSpc>
              <a:spcBef>
                <a:spcPts val="315"/>
              </a:spcBef>
              <a:buClr>
                <a:srgbClr val="F5821F"/>
              </a:buClr>
              <a:buAutoNum type="arabicPeriod" startAt="3"/>
              <a:tabLst>
                <a:tab pos="822960" algn="l"/>
              </a:tabLst>
            </a:pPr>
            <a:r>
              <a:rPr sz="1400" spc="-10" dirty="0">
                <a:latin typeface="Calibri"/>
                <a:cs typeface="Calibri"/>
              </a:rPr>
              <a:t>Poster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presentation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(10%)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libri"/>
                <a:cs typeface="Calibri"/>
              </a:rPr>
              <a:t>week 14 (TBA)</a:t>
            </a:r>
            <a:endParaRPr sz="1400" dirty="0">
              <a:latin typeface="Calibri"/>
              <a:cs typeface="Calibri"/>
            </a:endParaRPr>
          </a:p>
          <a:p>
            <a:pPr marL="822960" lvl="1" indent="-342900">
              <a:lnSpc>
                <a:spcPct val="100000"/>
              </a:lnSpc>
              <a:spcBef>
                <a:spcPts val="320"/>
              </a:spcBef>
              <a:buClr>
                <a:srgbClr val="F5821F"/>
              </a:buClr>
              <a:buAutoNum type="arabicPeriod" startAt="3"/>
              <a:tabLst>
                <a:tab pos="822960" algn="l"/>
              </a:tabLst>
            </a:pPr>
            <a:r>
              <a:rPr sz="1400" spc="-10" dirty="0">
                <a:latin typeface="Calibri"/>
                <a:cs typeface="Calibri"/>
              </a:rPr>
              <a:t>Team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portfolio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(55%)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13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</a:t>
            </a:r>
            <a:r>
              <a:rPr lang="en-NZ" sz="1400" spc="-10" dirty="0">
                <a:latin typeface="Calibri"/>
                <a:cs typeface="Calibri"/>
              </a:rPr>
              <a:t>Tuesday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11.59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pm)</a:t>
            </a:r>
            <a:endParaRPr sz="1400" dirty="0">
              <a:latin typeface="Calibri"/>
              <a:cs typeface="Calibri"/>
            </a:endParaRPr>
          </a:p>
          <a:p>
            <a:pPr marL="822960" lvl="1" indent="-342900">
              <a:lnSpc>
                <a:spcPct val="100000"/>
              </a:lnSpc>
              <a:spcBef>
                <a:spcPts val="330"/>
              </a:spcBef>
              <a:buClr>
                <a:srgbClr val="F5821F"/>
              </a:buClr>
              <a:buAutoNum type="arabicPeriod" startAt="3"/>
              <a:tabLst>
                <a:tab pos="822960" algn="l"/>
              </a:tabLst>
            </a:pPr>
            <a:r>
              <a:rPr sz="1400" spc="-10" dirty="0">
                <a:latin typeface="Calibri"/>
                <a:cs typeface="Calibri"/>
              </a:rPr>
              <a:t>Individual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reflective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(10%)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13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</a:t>
            </a:r>
            <a:r>
              <a:rPr lang="en-NZ" sz="1400" spc="-10" dirty="0">
                <a:latin typeface="Calibri"/>
                <a:cs typeface="Calibri"/>
              </a:rPr>
              <a:t>Tuesday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11.59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pm)</a:t>
            </a:r>
            <a:endParaRPr sz="1400" dirty="0">
              <a:latin typeface="Calibri"/>
              <a:cs typeface="Calibri"/>
            </a:endParaRPr>
          </a:p>
          <a:p>
            <a:pPr marL="822960" lvl="1" indent="-342900">
              <a:lnSpc>
                <a:spcPct val="100000"/>
              </a:lnSpc>
              <a:spcBef>
                <a:spcPts val="310"/>
              </a:spcBef>
              <a:buClr>
                <a:srgbClr val="F5821F"/>
              </a:buClr>
              <a:buAutoNum type="arabicPeriod" startAt="3"/>
              <a:tabLst>
                <a:tab pos="822960" algn="l"/>
              </a:tabLst>
            </a:pPr>
            <a:r>
              <a:rPr sz="1400" spc="-10" dirty="0">
                <a:latin typeface="Calibri"/>
                <a:cs typeface="Calibri"/>
              </a:rPr>
              <a:t>Worklog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book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13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</a:t>
            </a:r>
            <a:r>
              <a:rPr lang="en-NZ" sz="1400" spc="-10" dirty="0">
                <a:latin typeface="Calibri"/>
                <a:cs typeface="Calibri"/>
              </a:rPr>
              <a:t>Tuesday</a:t>
            </a:r>
            <a:r>
              <a:rPr sz="1400" spc="-10" dirty="0">
                <a:latin typeface="Calibri"/>
                <a:cs typeface="Calibri"/>
              </a:rPr>
              <a:t>11.59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pm)</a:t>
            </a:r>
            <a:endParaRPr sz="1400" dirty="0">
              <a:latin typeface="Calibri"/>
              <a:cs typeface="Calibri"/>
            </a:endParaRPr>
          </a:p>
          <a:p>
            <a:pPr marL="12700">
              <a:lnSpc>
                <a:spcPts val="1875"/>
              </a:lnSpc>
            </a:pPr>
            <a:r>
              <a:rPr sz="16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Note:</a:t>
            </a:r>
            <a:endParaRPr sz="1600" dirty="0">
              <a:latin typeface="Calibri"/>
              <a:cs typeface="Calibri"/>
            </a:endParaRPr>
          </a:p>
          <a:p>
            <a:pPr marL="240665" indent="-227965">
              <a:lnSpc>
                <a:spcPts val="1265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100" dirty="0">
                <a:latin typeface="Calibri"/>
                <a:cs typeface="Calibri"/>
              </a:rPr>
              <a:t>Items</a:t>
            </a:r>
            <a:r>
              <a:rPr sz="1100" spc="-8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1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5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are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team-</a:t>
            </a:r>
            <a:r>
              <a:rPr sz="1100" spc="-10" dirty="0">
                <a:latin typeface="Calibri"/>
                <a:cs typeface="Calibri"/>
              </a:rPr>
              <a:t>based</a:t>
            </a:r>
            <a:r>
              <a:rPr sz="1100" spc="-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(90%),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lang="en-NZ" sz="1100" dirty="0">
                <a:latin typeface="Calibri"/>
                <a:cs typeface="Calibri"/>
              </a:rPr>
              <a:t>but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lang="en-NZ" sz="1100" dirty="0">
                <a:latin typeface="Calibri"/>
                <a:cs typeface="Calibri"/>
              </a:rPr>
              <a:t>items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6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(10%)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7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(see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last</a:t>
            </a:r>
            <a:r>
              <a:rPr sz="1100" spc="-6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bullet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point)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lang="en-NZ" sz="1100" dirty="0">
                <a:latin typeface="Calibri"/>
                <a:cs typeface="Calibri"/>
              </a:rPr>
              <a:t>are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individual</a:t>
            </a:r>
            <a:r>
              <a:rPr lang="en-NZ" sz="1100" spc="-10" dirty="0">
                <a:latin typeface="Calibri"/>
                <a:cs typeface="Calibri"/>
              </a:rPr>
              <a:t>-</a:t>
            </a:r>
            <a:r>
              <a:rPr sz="1100" spc="-10" dirty="0">
                <a:latin typeface="Calibri"/>
                <a:cs typeface="Calibri"/>
              </a:rPr>
              <a:t>based</a:t>
            </a:r>
            <a:endParaRPr sz="1100" dirty="0">
              <a:latin typeface="Calibri"/>
              <a:cs typeface="Calibri"/>
            </a:endParaRPr>
          </a:p>
          <a:p>
            <a:pPr marL="241300" marR="8255" indent="-228600">
              <a:lnSpc>
                <a:spcPts val="1200"/>
              </a:lnSpc>
              <a:spcBef>
                <a:spcPts val="13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100" dirty="0">
                <a:latin typeface="Calibri"/>
                <a:cs typeface="Calibri"/>
              </a:rPr>
              <a:t>Team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Portfolio-</a:t>
            </a:r>
            <a:r>
              <a:rPr sz="1100" spc="-6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keep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evidence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plans, </a:t>
            </a:r>
            <a:r>
              <a:rPr sz="1100" spc="-10" dirty="0">
                <a:latin typeface="Calibri"/>
                <a:cs typeface="Calibri"/>
              </a:rPr>
              <a:t>documents,</a:t>
            </a:r>
            <a:r>
              <a:rPr sz="1100" spc="-7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work</a:t>
            </a:r>
            <a:r>
              <a:rPr sz="1100" spc="-20" dirty="0">
                <a:latin typeface="Calibri"/>
                <a:cs typeface="Calibri"/>
              </a:rPr>
              <a:t> accomplished</a:t>
            </a:r>
            <a:r>
              <a:rPr sz="1100" spc="-8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(research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&amp;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technical</a:t>
            </a:r>
            <a:r>
              <a:rPr lang="en-NZ" sz="1100" dirty="0">
                <a:latin typeface="Calibri"/>
                <a:cs typeface="Calibri"/>
              </a:rPr>
              <a:t> implementation</a:t>
            </a:r>
            <a:r>
              <a:rPr sz="1100" dirty="0">
                <a:latin typeface="Calibri"/>
                <a:cs typeface="Calibri"/>
              </a:rPr>
              <a:t>),</a:t>
            </a:r>
            <a:r>
              <a:rPr sz="1100" spc="2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including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all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artefacts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produced </a:t>
            </a:r>
            <a:r>
              <a:rPr lang="en-NZ" sz="1100" spc="-10" dirty="0">
                <a:latin typeface="Calibri"/>
                <a:cs typeface="Calibri"/>
              </a:rPr>
              <a:t>when </a:t>
            </a:r>
            <a:r>
              <a:rPr sz="1100" spc="-10" dirty="0">
                <a:latin typeface="Calibri"/>
                <a:cs typeface="Calibri"/>
              </a:rPr>
              <a:t>undertaking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project.</a:t>
            </a:r>
            <a:endParaRPr sz="1100" dirty="0">
              <a:latin typeface="Calibri"/>
              <a:cs typeface="Calibri"/>
            </a:endParaRPr>
          </a:p>
          <a:p>
            <a:pPr marL="240665" indent="-227965">
              <a:lnSpc>
                <a:spcPts val="118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100" spc="-10" dirty="0">
                <a:latin typeface="Calibri"/>
                <a:cs typeface="Calibri"/>
              </a:rPr>
              <a:t>Worklog</a:t>
            </a:r>
            <a:r>
              <a:rPr sz="1100" spc="-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book-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captures</a:t>
            </a:r>
            <a:r>
              <a:rPr sz="1100" spc="-4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evidence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of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your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specific</a:t>
            </a:r>
            <a:r>
              <a:rPr sz="1100" spc="-20" dirty="0">
                <a:latin typeface="Calibri"/>
                <a:cs typeface="Calibri"/>
              </a:rPr>
              <a:t> contribution</a:t>
            </a:r>
            <a:r>
              <a:rPr sz="1100" spc="-9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project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 </a:t>
            </a:r>
            <a:r>
              <a:rPr sz="1100" spc="-10" dirty="0">
                <a:latin typeface="Calibri"/>
                <a:cs typeface="Calibri"/>
              </a:rPr>
              <a:t>learnings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acquired</a:t>
            </a:r>
            <a:r>
              <a:rPr sz="1100" spc="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on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daily</a:t>
            </a:r>
            <a:r>
              <a:rPr sz="1100" spc="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basis.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must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make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7275296" y="6364439"/>
            <a:ext cx="582295" cy="1727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235"/>
              </a:lnSpc>
            </a:pPr>
            <a:r>
              <a:rPr sz="1100" dirty="0">
                <a:latin typeface="Calibri"/>
                <a:cs typeface="Calibri"/>
              </a:rPr>
              <a:t>300</a:t>
            </a:r>
            <a:r>
              <a:rPr sz="1100" spc="-5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hours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7874229" y="6373680"/>
            <a:ext cx="415925" cy="1936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spc="-20" dirty="0">
                <a:latin typeface="Calibri"/>
                <a:cs typeface="Calibri"/>
              </a:rPr>
              <a:t>pass</a:t>
            </a:r>
            <a:endParaRPr sz="1100" dirty="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22934" y="6353962"/>
            <a:ext cx="6219190" cy="346075"/>
          </a:xfrm>
          <a:prstGeom prst="rect">
            <a:avLst/>
          </a:prstGeom>
        </p:spPr>
        <p:txBody>
          <a:bodyPr vert="horz" wrap="square" lIns="0" tIns="30480" rIns="0" bIns="0" rtlCol="0">
            <a:spAutoFit/>
          </a:bodyPr>
          <a:lstStyle/>
          <a:p>
            <a:pPr marL="12700" marR="5080">
              <a:lnSpc>
                <a:spcPts val="1200"/>
              </a:lnSpc>
              <a:spcBef>
                <a:spcPts val="240"/>
              </a:spcBef>
            </a:pPr>
            <a:r>
              <a:rPr sz="1100" spc="-25" dirty="0">
                <a:latin typeface="Calibri"/>
                <a:cs typeface="Calibri"/>
              </a:rPr>
              <a:t>real-</a:t>
            </a:r>
            <a:r>
              <a:rPr sz="1100" dirty="0">
                <a:latin typeface="Calibri"/>
                <a:cs typeface="Calibri"/>
              </a:rPr>
              <a:t>time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entries.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Will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help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decide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whether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you</a:t>
            </a:r>
            <a:r>
              <a:rPr sz="1100" spc="-3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pass,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fail</a:t>
            </a:r>
            <a:r>
              <a:rPr sz="1100" spc="-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or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need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2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do</a:t>
            </a:r>
            <a:r>
              <a:rPr sz="1100" spc="-1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more</a:t>
            </a:r>
            <a:r>
              <a:rPr sz="1100" spc="-4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hours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to</a:t>
            </a:r>
            <a:r>
              <a:rPr sz="1100" spc="-30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get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the</a:t>
            </a:r>
            <a:r>
              <a:rPr sz="1100" spc="-20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required COMP702</a:t>
            </a:r>
            <a:r>
              <a:rPr sz="1100" spc="-55" dirty="0">
                <a:latin typeface="Calibri"/>
                <a:cs typeface="Calibri"/>
              </a:rPr>
              <a:t> </a:t>
            </a:r>
            <a:r>
              <a:rPr sz="1100" dirty="0">
                <a:latin typeface="Calibri"/>
                <a:cs typeface="Calibri"/>
              </a:rPr>
              <a:t>and</a:t>
            </a:r>
            <a:r>
              <a:rPr sz="1100" spc="-15" dirty="0">
                <a:latin typeface="Calibri"/>
                <a:cs typeface="Calibri"/>
              </a:rPr>
              <a:t> </a:t>
            </a:r>
            <a:r>
              <a:rPr sz="1100" spc="-10" dirty="0">
                <a:latin typeface="Calibri"/>
                <a:cs typeface="Calibri"/>
              </a:rPr>
              <a:t>COMP703.</a:t>
            </a:r>
            <a:endParaRPr sz="11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67182"/>
            <a:ext cx="7513955" cy="665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12700" marR="5080">
              <a:lnSpc>
                <a:spcPts val="2400"/>
              </a:lnSpc>
              <a:spcBef>
                <a:spcPts val="375"/>
              </a:spcBef>
            </a:pPr>
            <a:r>
              <a:rPr sz="2200" spc="-10" dirty="0"/>
              <a:t>Breakdown</a:t>
            </a:r>
            <a:r>
              <a:rPr sz="2200" spc="-25" dirty="0"/>
              <a:t> </a:t>
            </a:r>
            <a:r>
              <a:rPr sz="2200" dirty="0"/>
              <a:t>of</a:t>
            </a:r>
            <a:r>
              <a:rPr sz="2200" spc="-40" dirty="0"/>
              <a:t> </a:t>
            </a:r>
            <a:r>
              <a:rPr sz="2200" spc="-10" dirty="0"/>
              <a:t>assessments</a:t>
            </a:r>
            <a:r>
              <a:rPr sz="2200" spc="-25" dirty="0"/>
              <a:t> </a:t>
            </a:r>
            <a:r>
              <a:rPr sz="2200" dirty="0"/>
              <a:t>S1</a:t>
            </a:r>
            <a:r>
              <a:rPr sz="2200" spc="-75" dirty="0"/>
              <a:t> </a:t>
            </a:r>
            <a:r>
              <a:rPr sz="2200" dirty="0"/>
              <a:t>&amp;</a:t>
            </a:r>
            <a:r>
              <a:rPr sz="2200" spc="-65" dirty="0"/>
              <a:t> </a:t>
            </a:r>
            <a:r>
              <a:rPr sz="2200" dirty="0"/>
              <a:t>S2-</a:t>
            </a:r>
            <a:r>
              <a:rPr sz="2200" spc="-80" dirty="0"/>
              <a:t> </a:t>
            </a:r>
            <a:r>
              <a:rPr sz="2200" dirty="0"/>
              <a:t>all</a:t>
            </a:r>
            <a:r>
              <a:rPr sz="2200" spc="-85" dirty="0"/>
              <a:t> </a:t>
            </a:r>
            <a:r>
              <a:rPr sz="2200" dirty="0"/>
              <a:t>BCIS</a:t>
            </a:r>
            <a:r>
              <a:rPr sz="2200" spc="-80" dirty="0"/>
              <a:t> </a:t>
            </a:r>
            <a:r>
              <a:rPr sz="2200" dirty="0"/>
              <a:t>majors</a:t>
            </a:r>
            <a:r>
              <a:rPr sz="2200" spc="-35" dirty="0"/>
              <a:t> </a:t>
            </a:r>
            <a:r>
              <a:rPr sz="2200" dirty="0"/>
              <a:t>for</a:t>
            </a:r>
            <a:r>
              <a:rPr sz="2200" spc="-25" dirty="0"/>
              <a:t> </a:t>
            </a:r>
            <a:r>
              <a:rPr sz="2200" spc="-10" dirty="0"/>
              <a:t>COMP702 </a:t>
            </a:r>
            <a:r>
              <a:rPr sz="2200" dirty="0"/>
              <a:t>&amp;</a:t>
            </a:r>
            <a:r>
              <a:rPr sz="2200" spc="-80" dirty="0"/>
              <a:t> </a:t>
            </a:r>
            <a:r>
              <a:rPr sz="2200" dirty="0"/>
              <a:t>COM703</a:t>
            </a:r>
            <a:r>
              <a:rPr sz="2200" spc="-80" dirty="0"/>
              <a:t> </a:t>
            </a:r>
            <a:r>
              <a:rPr sz="2200" spc="-10" dirty="0"/>
              <a:t>students</a:t>
            </a:r>
            <a:endParaRPr sz="2200"/>
          </a:p>
        </p:txBody>
      </p:sp>
      <p:sp>
        <p:nvSpPr>
          <p:cNvPr id="3" name="object 3"/>
          <p:cNvSpPr txBox="1"/>
          <p:nvPr/>
        </p:nvSpPr>
        <p:spPr>
          <a:xfrm>
            <a:off x="8663305" y="1528317"/>
            <a:ext cx="71120" cy="1403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050"/>
              </a:lnSpc>
            </a:pPr>
            <a:r>
              <a:rPr sz="1100" b="1" spc="-50" dirty="0">
                <a:latin typeface="Calibri"/>
                <a:cs typeface="Calibri"/>
              </a:rPr>
              <a:t>e</a:t>
            </a:r>
            <a:endParaRPr sz="110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18791726"/>
              </p:ext>
            </p:extLst>
          </p:nvPr>
        </p:nvGraphicFramePr>
        <p:xfrm>
          <a:off x="1182573" y="1128712"/>
          <a:ext cx="7767955" cy="2910836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0541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4137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8798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302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492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5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538605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6416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BCIS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Assessments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4604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905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Semeste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81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35" dirty="0">
                          <a:latin typeface="Calibri"/>
                          <a:cs typeface="Calibri"/>
                        </a:rPr>
                        <a:t>rWeek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du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635">
                        <a:lnSpc>
                          <a:spcPct val="100000"/>
                        </a:lnSpc>
                        <a:spcBef>
                          <a:spcPts val="40"/>
                        </a:spcBef>
                        <a:tabLst>
                          <a:tab pos="491490" algn="l"/>
                        </a:tabLst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e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	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Maker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5397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Finalized</a:t>
                      </a:r>
                      <a:r>
                        <a:rPr sz="110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marks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b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grad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4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Project</a:t>
                      </a:r>
                      <a:r>
                        <a:rPr sz="11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proposal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08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5715" algn="ctr">
                        <a:lnSpc>
                          <a:spcPct val="100000"/>
                        </a:lnSpc>
                        <a:spcBef>
                          <a:spcPts val="5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6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NZ" sz="1000" spc="-25" dirty="0">
                          <a:latin typeface="Calibri"/>
                          <a:cs typeface="Calibri"/>
                        </a:rPr>
                        <a:t>3/14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940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dirty="0">
                          <a:latin typeface="Calibri"/>
                          <a:cs typeface="Calibri"/>
                        </a:rPr>
                        <a:t>&amp;</a:t>
                      </a:r>
                      <a:r>
                        <a:rPr sz="100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193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rowSpan="11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875">
                        <a:lnSpc>
                          <a:spcPct val="100000"/>
                        </a:lnSpc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Moderated</a:t>
                      </a:r>
                      <a:r>
                        <a:rPr sz="1000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by</a:t>
                      </a:r>
                      <a:r>
                        <a:rPr sz="100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Teaching</a:t>
                      </a:r>
                      <a:r>
                        <a:rPr sz="1000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20" dirty="0">
                          <a:latin typeface="Calibri"/>
                          <a:cs typeface="Calibri"/>
                        </a:rPr>
                        <a:t>team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25425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45"/>
                        </a:spcBef>
                      </a:pPr>
                      <a:r>
                        <a:rPr sz="1100" b="1" spc="-25" dirty="0">
                          <a:latin typeface="Calibri"/>
                          <a:cs typeface="Calibri"/>
                        </a:rPr>
                        <a:t>Mid-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term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review-</a:t>
                      </a:r>
                      <a:r>
                        <a:rPr sz="1100" b="1" spc="2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status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report</a:t>
                      </a:r>
                      <a:r>
                        <a:rPr sz="110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presentation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4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1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778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63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938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 marL="8890" algn="ctr">
                        <a:lnSpc>
                          <a:spcPts val="1285"/>
                        </a:lnSpc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285"/>
                        </a:lnSpc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Client</a:t>
                      </a:r>
                      <a:r>
                        <a:rPr sz="110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feedback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333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1170"/>
                        </a:lnSpc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8890" algn="ctr">
                        <a:lnSpc>
                          <a:spcPts val="1280"/>
                        </a:lnSpc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4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ts val="1280"/>
                        </a:lnSpc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Poster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presentation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0955" algn="ctr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NZ" sz="1000" spc="-25" dirty="0">
                          <a:latin typeface="Calibri"/>
                          <a:cs typeface="Calibri"/>
                        </a:rPr>
                        <a:t>14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ts val="1170"/>
                        </a:lnSpc>
                      </a:pPr>
                      <a:r>
                        <a:rPr sz="1000" spc="-10" dirty="0">
                          <a:latin typeface="Calibri"/>
                          <a:cs typeface="Calibri"/>
                        </a:rPr>
                        <a:t>Marking</a:t>
                      </a:r>
                      <a:r>
                        <a:rPr sz="1000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Panel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08279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5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55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Portfolio-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698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50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90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28575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rowSpan="5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>
                        <a:lnSpc>
                          <a:spcPct val="100000"/>
                        </a:lnSpc>
                        <a:spcBef>
                          <a:spcPts val="345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2860" algn="ctr">
                        <a:lnSpc>
                          <a:spcPct val="100000"/>
                        </a:lnSpc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60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762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9497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i="1" dirty="0">
                          <a:latin typeface="Calibri"/>
                          <a:cs typeface="Calibri"/>
                        </a:rPr>
                        <a:t>a.</a:t>
                      </a:r>
                      <a:r>
                        <a:rPr sz="10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Research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20" dirty="0">
                          <a:latin typeface="Calibri"/>
                          <a:cs typeface="Calibri"/>
                        </a:rPr>
                        <a:t>development</a:t>
                      </a:r>
                      <a:r>
                        <a:rPr sz="1000" i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activities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i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outputs;</a:t>
                      </a:r>
                      <a:endParaRPr sz="1000">
                        <a:latin typeface="Calibri"/>
                        <a:cs typeface="Calibri"/>
                      </a:endParaRPr>
                    </a:p>
                    <a:p>
                      <a:pPr marL="27305">
                        <a:lnSpc>
                          <a:spcPct val="100000"/>
                        </a:lnSpc>
                        <a:spcBef>
                          <a:spcPts val="300"/>
                        </a:spcBef>
                      </a:pPr>
                      <a:r>
                        <a:rPr sz="1000" i="1" spc="-20" dirty="0">
                          <a:latin typeface="Calibri"/>
                          <a:cs typeface="Calibri"/>
                        </a:rPr>
                        <a:t>Quality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assurance</a:t>
                      </a:r>
                      <a:r>
                        <a:rPr sz="10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activities</a:t>
                      </a:r>
                      <a:r>
                        <a:rPr sz="10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outcomes;</a:t>
                      </a:r>
                      <a:r>
                        <a:rPr sz="1000" i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1000" i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product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</a:pPr>
                      <a:r>
                        <a:rPr sz="1000" i="1" spc="-25" dirty="0">
                          <a:latin typeface="Calibri"/>
                          <a:cs typeface="Calibri"/>
                        </a:rPr>
                        <a:t>25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3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09" algn="ctr">
                        <a:lnSpc>
                          <a:spcPct val="10000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461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0320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i="1" dirty="0">
                          <a:latin typeface="Calibri"/>
                          <a:cs typeface="Calibri"/>
                        </a:rPr>
                        <a:t>b.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 Project</a:t>
                      </a:r>
                      <a:r>
                        <a:rPr sz="10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planning</a:t>
                      </a:r>
                      <a:r>
                        <a:rPr sz="1000" i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 control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9560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 marR="29146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i="1" dirty="0">
                          <a:latin typeface="Calibri"/>
                          <a:cs typeface="Calibri"/>
                        </a:rPr>
                        <a:t>c.</a:t>
                      </a:r>
                      <a:r>
                        <a:rPr sz="10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Teamwork</a:t>
                      </a:r>
                      <a:r>
                        <a:rPr sz="1000" i="1" spc="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i="1" spc="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20" dirty="0">
                          <a:latin typeface="Calibri"/>
                          <a:cs typeface="Calibri"/>
                        </a:rPr>
                        <a:t>communication,</a:t>
                      </a:r>
                      <a:r>
                        <a:rPr sz="1000" i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20" dirty="0">
                          <a:latin typeface="Calibri"/>
                          <a:cs typeface="Calibri"/>
                        </a:rPr>
                        <a:t>relationship</a:t>
                      </a:r>
                      <a:r>
                        <a:rPr sz="1000" i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dirty="0">
                          <a:latin typeface="Calibri"/>
                          <a:cs typeface="Calibri"/>
                        </a:rPr>
                        <a:t>with</a:t>
                      </a:r>
                      <a:r>
                        <a:rPr sz="1000" i="1" spc="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sponsor </a:t>
                      </a:r>
                      <a:r>
                        <a:rPr sz="1000" i="1" spc="-30" dirty="0">
                          <a:latin typeface="Calibri"/>
                          <a:cs typeface="Calibri"/>
                        </a:rPr>
                        <a:t>client</a:t>
                      </a:r>
                      <a:r>
                        <a:rPr sz="10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30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00" i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other stakeholders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459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15875" algn="ctr">
                        <a:lnSpc>
                          <a:spcPct val="100000"/>
                        </a:lnSpc>
                      </a:pPr>
                      <a:r>
                        <a:rPr sz="10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58419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520"/>
                        </a:spcBef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  <a:p>
                      <a:pPr marL="29209" algn="ctr">
                        <a:lnSpc>
                          <a:spcPct val="100000"/>
                        </a:lnSpc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6604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21399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sz="1000" i="1" dirty="0">
                          <a:latin typeface="Calibri"/>
                          <a:cs typeface="Calibri"/>
                        </a:rPr>
                        <a:t>d.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Mentor</a:t>
                      </a:r>
                      <a:r>
                        <a:rPr sz="1000" i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00" i="1" spc="-10" dirty="0">
                          <a:latin typeface="Calibri"/>
                          <a:cs typeface="Calibri"/>
                        </a:rPr>
                        <a:t>feedback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i="1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2857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15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190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214629">
                <a:tc>
                  <a:txBody>
                    <a:bodyPr/>
                    <a:lstStyle/>
                    <a:p>
                      <a:pPr marL="8890" algn="ctr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6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7305">
                        <a:lnSpc>
                          <a:spcPct val="100000"/>
                        </a:lnSpc>
                        <a:spcBef>
                          <a:spcPts val="1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Reflective report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27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429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3048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spc="-50" dirty="0">
                          <a:latin typeface="Calibri"/>
                          <a:cs typeface="Calibri"/>
                        </a:rPr>
                        <a:t>2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24130" algn="ctr">
                        <a:lnSpc>
                          <a:spcPct val="100000"/>
                        </a:lnSpc>
                        <a:spcBef>
                          <a:spcPts val="105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13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13335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15875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lang="en-NZ" sz="10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0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000" dirty="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97485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2857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225" algn="ctr">
                        <a:lnSpc>
                          <a:spcPct val="100000"/>
                        </a:lnSpc>
                        <a:spcBef>
                          <a:spcPts val="20"/>
                        </a:spcBef>
                      </a:pPr>
                      <a:r>
                        <a:rPr sz="1000" spc="-25" dirty="0">
                          <a:latin typeface="Calibri"/>
                          <a:cs typeface="Calibri"/>
                        </a:rPr>
                        <a:t>100</a:t>
                      </a:r>
                      <a:endParaRPr sz="1000">
                        <a:latin typeface="Calibri"/>
                        <a:cs typeface="Calibri"/>
                      </a:endParaRPr>
                    </a:p>
                  </a:txBody>
                  <a:tcPr marL="0" marR="0" marT="254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28575">
                      <a:solidFill>
                        <a:srgbClr val="000000"/>
                      </a:solidFill>
                      <a:prstDash val="solid"/>
                    </a:lnB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38100">
                      <a:solidFill>
                        <a:srgbClr val="000000"/>
                      </a:solidFill>
                      <a:prstDash val="solid"/>
                    </a:lnR>
                    <a:lnB w="28575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39139" y="71120"/>
            <a:ext cx="528129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Conjoint</a:t>
            </a:r>
            <a:r>
              <a:rPr sz="2000" spc="-100" dirty="0"/>
              <a:t> </a:t>
            </a:r>
            <a:r>
              <a:rPr sz="2000" dirty="0"/>
              <a:t>Students</a:t>
            </a:r>
            <a:r>
              <a:rPr sz="2000" spc="-95" dirty="0"/>
              <a:t> </a:t>
            </a:r>
            <a:r>
              <a:rPr sz="2000" dirty="0"/>
              <a:t>Only-</a:t>
            </a:r>
            <a:r>
              <a:rPr sz="2000" spc="-90" dirty="0"/>
              <a:t> </a:t>
            </a:r>
            <a:r>
              <a:rPr sz="2000" dirty="0"/>
              <a:t>Project</a:t>
            </a:r>
            <a:r>
              <a:rPr sz="2000" spc="-55" dirty="0"/>
              <a:t> </a:t>
            </a:r>
            <a:r>
              <a:rPr sz="2000" dirty="0"/>
              <a:t>Course</a:t>
            </a:r>
            <a:r>
              <a:rPr sz="2000" spc="-50" dirty="0"/>
              <a:t> </a:t>
            </a:r>
            <a:r>
              <a:rPr sz="2000" dirty="0"/>
              <a:t>(60</a:t>
            </a:r>
            <a:r>
              <a:rPr sz="2000" spc="-85" dirty="0"/>
              <a:t> </a:t>
            </a:r>
            <a:r>
              <a:rPr sz="2000" spc="-10" dirty="0"/>
              <a:t>points)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858011" y="481583"/>
            <a:ext cx="759079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70"/>
              </a:lnSpc>
            </a:pPr>
            <a:r>
              <a:rPr sz="1800" dirty="0">
                <a:latin typeface="Calibri"/>
                <a:cs typeface="Calibri"/>
              </a:rPr>
              <a:t>Arion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enrolled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COMP708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COMP709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COMP702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58011" y="762000"/>
            <a:ext cx="1152525" cy="247015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714"/>
              </a:lnSpc>
            </a:pP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COMP703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983994" y="691388"/>
            <a:ext cx="4599940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latin typeface="Calibri"/>
                <a:cs typeface="Calibri"/>
              </a:rPr>
              <a:t>.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Regardless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undertaking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two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projects-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001011" y="1476755"/>
            <a:ext cx="2437130" cy="28067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980"/>
              </a:lnSpc>
            </a:pPr>
            <a:r>
              <a:rPr sz="1800" spc="-10" dirty="0">
                <a:latin typeface="Calibri"/>
                <a:cs typeface="Calibri"/>
              </a:rPr>
              <a:t>Conjoint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Research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</a:t>
            </a:r>
            <a:endParaRPr sz="1800">
              <a:latin typeface="Calibri"/>
              <a:cs typeface="Calibri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45616" y="964183"/>
            <a:ext cx="7191375" cy="778510"/>
          </a:xfrm>
          <a:prstGeom prst="rect">
            <a:avLst/>
          </a:prstGeom>
        </p:spPr>
        <p:txBody>
          <a:bodyPr vert="horz" wrap="square" lIns="0" tIns="11493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30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points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BCIS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(worth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50%)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(refer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previous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slides)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  <a:tab pos="3592829" algn="l"/>
              </a:tabLst>
            </a:pPr>
            <a:r>
              <a:rPr sz="1800" dirty="0">
                <a:latin typeface="Calibri"/>
                <a:cs typeface="Calibri"/>
              </a:rPr>
              <a:t>30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points</a:t>
            </a:r>
            <a:r>
              <a:rPr sz="1800" dirty="0">
                <a:latin typeface="Calibri"/>
                <a:cs typeface="Calibri"/>
              </a:rPr>
              <a:t>	(worth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50%)-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other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study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062431" y="1616475"/>
            <a:ext cx="3737610" cy="1142365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5400">
              <a:lnSpc>
                <a:spcPct val="100000"/>
              </a:lnSpc>
              <a:spcBef>
                <a:spcPts val="650"/>
              </a:spcBef>
            </a:pPr>
            <a:r>
              <a:rPr sz="1800" spc="-40" dirty="0">
                <a:latin typeface="Calibri"/>
                <a:cs typeface="Calibri"/>
              </a:rPr>
              <a:t>(non-</a:t>
            </a:r>
            <a:r>
              <a:rPr sz="1800" dirty="0">
                <a:latin typeface="Calibri"/>
                <a:cs typeface="Calibri"/>
              </a:rPr>
              <a:t>BCIS)</a:t>
            </a:r>
            <a:r>
              <a:rPr sz="1800" spc="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major.</a:t>
            </a:r>
            <a:endParaRPr sz="1800" dirty="0">
              <a:latin typeface="Calibri"/>
              <a:cs typeface="Calibri"/>
            </a:endParaRPr>
          </a:p>
          <a:p>
            <a:pPr marL="480695" indent="-226695">
              <a:lnSpc>
                <a:spcPct val="100000"/>
              </a:lnSpc>
              <a:spcBef>
                <a:spcPts val="439"/>
              </a:spcBef>
              <a:buClr>
                <a:srgbClr val="F5821F"/>
              </a:buClr>
              <a:buFont typeface="Arial"/>
              <a:buChar char="•"/>
              <a:tabLst>
                <a:tab pos="480695" algn="l"/>
              </a:tabLst>
            </a:pPr>
            <a:r>
              <a:rPr sz="1400" dirty="0">
                <a:latin typeface="Calibri"/>
                <a:cs typeface="Calibri"/>
              </a:rPr>
              <a:t>Part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1-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COMP708-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undertaken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1</a:t>
            </a:r>
            <a:r>
              <a:rPr sz="1350" baseline="21604" dirty="0">
                <a:latin typeface="Calibri"/>
                <a:cs typeface="Calibri"/>
              </a:rPr>
              <a:t>st</a:t>
            </a:r>
            <a:r>
              <a:rPr sz="1350" spc="60" baseline="21604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sem</a:t>
            </a:r>
            <a:endParaRPr sz="1400" dirty="0">
              <a:latin typeface="Calibri"/>
              <a:cs typeface="Calibri"/>
            </a:endParaRPr>
          </a:p>
          <a:p>
            <a:pPr marL="480695" indent="-226695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480695" algn="l"/>
              </a:tabLst>
            </a:pPr>
            <a:r>
              <a:rPr sz="1400" dirty="0">
                <a:latin typeface="Calibri"/>
                <a:cs typeface="Calibri"/>
              </a:rPr>
              <a:t>Part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2-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COMP709-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undertaken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2</a:t>
            </a:r>
            <a:r>
              <a:rPr sz="1350" baseline="21604" dirty="0">
                <a:latin typeface="Calibri"/>
                <a:cs typeface="Calibri"/>
              </a:rPr>
              <a:t>nd</a:t>
            </a:r>
            <a:r>
              <a:rPr sz="1350" spc="67" baseline="21604" dirty="0">
                <a:latin typeface="Calibri"/>
                <a:cs typeface="Calibri"/>
              </a:rPr>
              <a:t> </a:t>
            </a:r>
            <a:r>
              <a:rPr sz="1400" spc="-25" dirty="0">
                <a:latin typeface="Calibri"/>
                <a:cs typeface="Calibri"/>
              </a:rPr>
              <a:t>sem</a:t>
            </a:r>
            <a:endParaRPr sz="1400" dirty="0">
              <a:latin typeface="Calibri"/>
              <a:cs typeface="Calibri"/>
            </a:endParaRPr>
          </a:p>
          <a:p>
            <a:pPr marL="480695" indent="-226695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480695" algn="l"/>
              </a:tabLst>
            </a:pPr>
            <a:r>
              <a:rPr sz="1400" spc="-20" dirty="0">
                <a:latin typeface="Calibri"/>
                <a:cs typeface="Calibri"/>
              </a:rPr>
              <a:t>Assessments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are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over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two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semesters:</a:t>
            </a:r>
            <a:endParaRPr sz="1400" dirty="0">
              <a:latin typeface="Calibri"/>
              <a:cs typeface="Calibri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638044" y="2868167"/>
            <a:ext cx="2929255" cy="248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795"/>
              </a:lnSpc>
            </a:pPr>
            <a:r>
              <a:rPr sz="1600" spc="-10" dirty="0">
                <a:latin typeface="Calibri"/>
                <a:cs typeface="Calibri"/>
              </a:rPr>
              <a:t>Conjoint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Project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Course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(60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points)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845616" y="2835910"/>
            <a:ext cx="7178675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  <a:tab pos="4721860" algn="l"/>
              </a:tabLst>
            </a:pPr>
            <a:r>
              <a:rPr sz="1600" dirty="0">
                <a:latin typeface="Calibri"/>
                <a:cs typeface="Calibri"/>
              </a:rPr>
              <a:t>The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final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</a:t>
            </a:r>
            <a:r>
              <a:rPr sz="1600" dirty="0">
                <a:latin typeface="Calibri"/>
                <a:cs typeface="Calibri"/>
              </a:rPr>
              <a:t>	is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assessment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marks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1074216" y="3055061"/>
            <a:ext cx="1035050" cy="2692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1600" spc="-10" dirty="0">
                <a:latin typeface="Calibri"/>
                <a:cs typeface="Calibri"/>
              </a:rPr>
              <a:t>achieved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for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2148839" y="3116579"/>
            <a:ext cx="4925695" cy="21971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 marL="635">
              <a:lnSpc>
                <a:spcPts val="1520"/>
              </a:lnSpc>
            </a:pPr>
            <a:r>
              <a:rPr sz="1600" dirty="0">
                <a:latin typeface="Calibri"/>
                <a:cs typeface="Calibri"/>
              </a:rPr>
              <a:t>COMP702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COMP703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[50%]+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COMP708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+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COMP709[50%]</a:t>
            </a:r>
            <a:endParaRPr sz="1600">
              <a:latin typeface="Calibri"/>
              <a:cs typeface="Calibri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845616" y="3274822"/>
            <a:ext cx="7672705" cy="2401570"/>
          </a:xfrm>
          <a:prstGeom prst="rect">
            <a:avLst/>
          </a:prstGeom>
        </p:spPr>
        <p:txBody>
          <a:bodyPr vert="horz" wrap="square" lIns="0" tIns="40005" rIns="0" bIns="0" rtlCol="0">
            <a:spAutoFit/>
          </a:bodyPr>
          <a:lstStyle/>
          <a:p>
            <a:pPr marL="241300" marR="5080" indent="-228600" algn="just">
              <a:lnSpc>
                <a:spcPct val="88400"/>
              </a:lnSpc>
              <a:spcBef>
                <a:spcPts val="315"/>
              </a:spcBef>
              <a:buFont typeface="Arial"/>
              <a:buChar char="•"/>
              <a:tabLst>
                <a:tab pos="241300" algn="l"/>
                <a:tab pos="243840" algn="l"/>
              </a:tabLst>
            </a:pPr>
            <a:r>
              <a:rPr sz="1600" dirty="0">
                <a:solidFill>
                  <a:srgbClr val="F5821F"/>
                </a:solidFill>
                <a:latin typeface="Calibri"/>
                <a:cs typeface="Calibri"/>
              </a:rPr>
              <a:t>	</a:t>
            </a:r>
            <a:r>
              <a:rPr sz="1600" dirty="0">
                <a:latin typeface="Calibri"/>
                <a:cs typeface="Calibri"/>
              </a:rPr>
              <a:t>This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sem,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2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grade for</a:t>
            </a:r>
            <a:r>
              <a:rPr sz="1600" spc="2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COMP708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STC</a:t>
            </a:r>
            <a:r>
              <a:rPr sz="1600" spc="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(pass)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Arion but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be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updated</a:t>
            </a:r>
            <a:r>
              <a:rPr sz="1600" spc="-1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with</a:t>
            </a:r>
            <a:r>
              <a:rPr sz="1600" spc="-15" dirty="0">
                <a:latin typeface="Calibri"/>
                <a:cs typeface="Calibri"/>
              </a:rPr>
              <a:t> </a:t>
            </a:r>
            <a:r>
              <a:rPr sz="1600" spc="-25" dirty="0">
                <a:latin typeface="Calibri"/>
                <a:cs typeface="Calibri"/>
              </a:rPr>
              <a:t>the </a:t>
            </a:r>
            <a:r>
              <a:rPr sz="1600" dirty="0">
                <a:latin typeface="Calibri"/>
                <a:cs typeface="Calibri"/>
              </a:rPr>
              <a:t>overall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grade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that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get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at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end</a:t>
            </a:r>
            <a:r>
              <a:rPr sz="1600" spc="-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of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semester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2,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once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you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have</a:t>
            </a:r>
            <a:r>
              <a:rPr sz="1600" spc="-3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completed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COMP703</a:t>
            </a:r>
            <a:r>
              <a:rPr sz="1600" spc="-20" dirty="0">
                <a:latin typeface="Calibri"/>
                <a:cs typeface="Calibri"/>
              </a:rPr>
              <a:t> </a:t>
            </a:r>
            <a:r>
              <a:rPr sz="1600" spc="-50" dirty="0">
                <a:latin typeface="Calibri"/>
                <a:cs typeface="Calibri"/>
              </a:rPr>
              <a:t>+ </a:t>
            </a:r>
            <a:r>
              <a:rPr sz="1600" dirty="0">
                <a:latin typeface="Calibri"/>
                <a:cs typeface="Calibri"/>
              </a:rPr>
              <a:t>COMP709</a:t>
            </a:r>
            <a:r>
              <a:rPr sz="1600" spc="22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will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include</a:t>
            </a:r>
            <a:r>
              <a:rPr sz="1600" spc="-9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marks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achieved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COMP702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and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COMP708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assessments.</a:t>
            </a:r>
            <a:endParaRPr sz="1600" dirty="0">
              <a:latin typeface="Calibri"/>
              <a:cs typeface="Calibri"/>
            </a:endParaRPr>
          </a:p>
          <a:p>
            <a:pPr marL="243840" indent="-231140" algn="just">
              <a:lnSpc>
                <a:spcPts val="1705"/>
              </a:lnSpc>
              <a:buClr>
                <a:srgbClr val="F5821F"/>
              </a:buClr>
              <a:buFont typeface="Arial"/>
              <a:buChar char="•"/>
              <a:tabLst>
                <a:tab pos="243840" algn="l"/>
              </a:tabLst>
            </a:pP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Hence,</a:t>
            </a:r>
            <a:r>
              <a:rPr sz="1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COMP708</a:t>
            </a:r>
            <a:r>
              <a:rPr sz="1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6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COMP709</a:t>
            </a:r>
            <a:r>
              <a:rPr sz="16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6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have</a:t>
            </a:r>
            <a:r>
              <a:rPr sz="16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same</a:t>
            </a:r>
            <a:r>
              <a:rPr sz="16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grade</a:t>
            </a:r>
            <a:r>
              <a:rPr sz="16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6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Arion.</a:t>
            </a:r>
            <a:endParaRPr sz="1600" dirty="0">
              <a:latin typeface="Calibri"/>
              <a:cs typeface="Calibri"/>
            </a:endParaRPr>
          </a:p>
          <a:p>
            <a:pPr marL="242570" algn="just">
              <a:lnSpc>
                <a:spcPct val="100000"/>
              </a:lnSpc>
              <a:spcBef>
                <a:spcPts val="795"/>
              </a:spcBef>
            </a:pPr>
            <a:r>
              <a:rPr sz="1600" dirty="0">
                <a:latin typeface="Calibri"/>
                <a:cs typeface="Calibri"/>
              </a:rPr>
              <a:t>COMP708,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1</a:t>
            </a:r>
            <a:r>
              <a:rPr lang="en-NZ" sz="1600" dirty="0">
                <a:latin typeface="Calibri"/>
                <a:cs typeface="Calibri"/>
              </a:rPr>
              <a:t>, Part 1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lang="en-NZ" sz="1600" dirty="0">
                <a:latin typeface="Calibri"/>
                <a:cs typeface="Calibri"/>
              </a:rPr>
              <a:t>degree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805180" lvl="1" indent="-335915" algn="just">
              <a:lnSpc>
                <a:spcPct val="100000"/>
              </a:lnSpc>
              <a:spcBef>
                <a:spcPts val="320"/>
              </a:spcBef>
              <a:buClr>
                <a:srgbClr val="F5821F"/>
              </a:buClr>
              <a:buAutoNum type="arabicPeriod"/>
              <a:tabLst>
                <a:tab pos="805180" algn="l"/>
              </a:tabLst>
            </a:pPr>
            <a:r>
              <a:rPr sz="1400" spc="-20" dirty="0">
                <a:latin typeface="Calibri"/>
                <a:cs typeface="Calibri"/>
              </a:rPr>
              <a:t>Research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proposal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(5%)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–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due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lang="en-NZ" sz="1400" spc="-105" dirty="0">
                <a:latin typeface="Calibri"/>
                <a:cs typeface="Calibri"/>
              </a:rPr>
              <a:t>7 on </a:t>
            </a:r>
            <a:r>
              <a:rPr sz="1400" spc="-10" dirty="0">
                <a:latin typeface="Calibri"/>
                <a:cs typeface="Calibri"/>
              </a:rPr>
              <a:t>Monday</a:t>
            </a:r>
            <a:r>
              <a:rPr lang="en-NZ" sz="1400" spc="-10" dirty="0">
                <a:latin typeface="Calibri"/>
                <a:cs typeface="Calibri"/>
              </a:rPr>
              <a:t> 11.59</a:t>
            </a:r>
            <a:endParaRPr sz="1400" dirty="0">
              <a:latin typeface="Calibri"/>
              <a:cs typeface="Calibri"/>
            </a:endParaRPr>
          </a:p>
          <a:p>
            <a:pPr marL="805180" lvl="1" indent="-335915" algn="just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AutoNum type="arabicPeriod"/>
              <a:tabLst>
                <a:tab pos="805180" algn="l"/>
              </a:tabLst>
            </a:pPr>
            <a:r>
              <a:rPr sz="1400" spc="-20" dirty="0">
                <a:latin typeface="Calibri"/>
                <a:cs typeface="Calibri"/>
              </a:rPr>
              <a:t>Mid-</a:t>
            </a:r>
            <a:r>
              <a:rPr sz="1400" dirty="0">
                <a:latin typeface="Calibri"/>
                <a:cs typeface="Calibri"/>
              </a:rPr>
              <a:t>term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research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review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(5%)-</a:t>
            </a:r>
            <a:r>
              <a:rPr sz="1400" spc="20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produce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status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report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week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lang="en-NZ" sz="1400" spc="-25" dirty="0">
                <a:latin typeface="Calibri"/>
                <a:cs typeface="Calibri"/>
              </a:rPr>
              <a:t>15, Monday 11.59</a:t>
            </a:r>
            <a:endParaRPr sz="1400" dirty="0">
              <a:latin typeface="Calibri"/>
              <a:cs typeface="Calibri"/>
            </a:endParaRPr>
          </a:p>
          <a:p>
            <a:pPr marL="220979" algn="just">
              <a:lnSpc>
                <a:spcPct val="100000"/>
              </a:lnSpc>
              <a:spcBef>
                <a:spcPts val="990"/>
              </a:spcBef>
            </a:pPr>
            <a:r>
              <a:rPr sz="1600" dirty="0">
                <a:latin typeface="Calibri"/>
                <a:cs typeface="Calibri"/>
              </a:rPr>
              <a:t>COMP709,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Sem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2-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Part</a:t>
            </a:r>
            <a:r>
              <a:rPr sz="1600" spc="-6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2: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based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on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the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other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lang="en-NZ" sz="1600" dirty="0">
                <a:latin typeface="Calibri"/>
                <a:cs typeface="Calibri"/>
              </a:rPr>
              <a:t>degree</a:t>
            </a:r>
            <a:r>
              <a:rPr sz="1600" spc="-10" dirty="0">
                <a:latin typeface="Calibri"/>
                <a:cs typeface="Calibri"/>
              </a:rPr>
              <a:t>.</a:t>
            </a:r>
            <a:endParaRPr sz="1600" dirty="0">
              <a:latin typeface="Calibri"/>
              <a:cs typeface="Calibri"/>
            </a:endParaRPr>
          </a:p>
          <a:p>
            <a:pPr marL="805180" lvl="1" indent="-335915" algn="just">
              <a:lnSpc>
                <a:spcPct val="100000"/>
              </a:lnSpc>
              <a:spcBef>
                <a:spcPts val="405"/>
              </a:spcBef>
              <a:buClr>
                <a:srgbClr val="F5821F"/>
              </a:buClr>
              <a:buAutoNum type="arabicPeriod" startAt="3"/>
              <a:tabLst>
                <a:tab pos="805180" algn="l"/>
              </a:tabLst>
            </a:pPr>
            <a:r>
              <a:rPr sz="1400" spc="-20" dirty="0">
                <a:latin typeface="Calibri"/>
                <a:cs typeface="Calibri"/>
              </a:rPr>
              <a:t>Research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(40%)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due week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1</a:t>
            </a:r>
            <a:r>
              <a:rPr lang="en-NZ" sz="1400" spc="-20" dirty="0">
                <a:latin typeface="Calibri"/>
                <a:cs typeface="Calibri"/>
              </a:rPr>
              <a:t>5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Monday</a:t>
            </a:r>
            <a:r>
              <a:rPr lang="en-NZ" sz="1400" spc="-10" dirty="0">
                <a:latin typeface="Calibri"/>
                <a:cs typeface="Calibri"/>
              </a:rPr>
              <a:t> 11.59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3886" y="675487"/>
            <a:ext cx="6104890" cy="915669"/>
          </a:xfrm>
          <a:prstGeom prst="rect">
            <a:avLst/>
          </a:prstGeom>
        </p:spPr>
        <p:txBody>
          <a:bodyPr vert="horz" wrap="square" lIns="0" tIns="1524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00"/>
              </a:spcBef>
            </a:pPr>
            <a:r>
              <a:rPr sz="2000" b="1" spc="-10" dirty="0">
                <a:solidFill>
                  <a:srgbClr val="F06200"/>
                </a:solidFill>
                <a:latin typeface="Calibri"/>
                <a:cs typeface="Calibri"/>
              </a:rPr>
              <a:t>Breakdown</a:t>
            </a:r>
            <a:r>
              <a:rPr sz="2000" b="1" spc="-1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06200"/>
                </a:solidFill>
                <a:latin typeface="Calibri"/>
                <a:cs typeface="Calibri"/>
              </a:rPr>
              <a:t>of</a:t>
            </a:r>
            <a:r>
              <a:rPr sz="2000" b="1" spc="-2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000" b="1" dirty="0">
                <a:solidFill>
                  <a:srgbClr val="F06200"/>
                </a:solidFill>
                <a:latin typeface="Calibri"/>
                <a:cs typeface="Calibri"/>
              </a:rPr>
              <a:t>Conjoint</a:t>
            </a:r>
            <a:r>
              <a:rPr sz="2000" b="1" spc="-5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000" b="1" spc="-20" dirty="0">
                <a:solidFill>
                  <a:srgbClr val="F06200"/>
                </a:solidFill>
                <a:latin typeface="Calibri"/>
                <a:cs typeface="Calibri"/>
              </a:rPr>
              <a:t>(COMP708/COMP709)</a:t>
            </a:r>
            <a:r>
              <a:rPr sz="2000" b="1" spc="-9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000" b="1" spc="-10" dirty="0">
                <a:solidFill>
                  <a:srgbClr val="F06200"/>
                </a:solidFill>
                <a:latin typeface="Calibri"/>
                <a:cs typeface="Calibri"/>
              </a:rPr>
              <a:t>assessment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11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Conjoint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research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(50%)</a:t>
            </a:r>
            <a:endParaRPr sz="2000">
              <a:latin typeface="Calibri"/>
              <a:cs typeface="Calibri"/>
            </a:endParaRPr>
          </a:p>
        </p:txBody>
      </p:sp>
      <p:graphicFrame>
        <p:nvGraphicFramePr>
          <p:cNvPr id="3" name="object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02785483"/>
              </p:ext>
            </p:extLst>
          </p:nvPr>
        </p:nvGraphicFramePr>
        <p:xfrm>
          <a:off x="1262125" y="1851151"/>
          <a:ext cx="7124063" cy="1454785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650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48209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71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65023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40714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31127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74879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24447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Conjoint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Assessments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b="1" spc="-50" dirty="0">
                          <a:latin typeface="Calibri"/>
                          <a:cs typeface="Calibri"/>
                        </a:rPr>
                        <a:t>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 marR="317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Semester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Week</a:t>
                      </a:r>
                      <a:r>
                        <a:rPr sz="1100" b="1" spc="-25" dirty="0">
                          <a:latin typeface="Calibri"/>
                          <a:cs typeface="Calibri"/>
                        </a:rPr>
                        <a:t> due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079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Marker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11430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b="1" spc="-10" dirty="0">
                          <a:latin typeface="Calibri"/>
                          <a:cs typeface="Calibri"/>
                        </a:rPr>
                        <a:t>Finialized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marks</a:t>
                      </a:r>
                      <a:r>
                        <a:rPr sz="1100" b="1" spc="-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1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20" dirty="0">
                          <a:latin typeface="Calibri"/>
                          <a:cs typeface="Calibri"/>
                        </a:rPr>
                        <a:t>grade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410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proposal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360"/>
                        </a:spcBef>
                      </a:pPr>
                      <a:r>
                        <a:rPr lang="en-NZ" sz="1100" spc="-50" dirty="0">
                          <a:latin typeface="Calibri"/>
                          <a:cs typeface="Calibri"/>
                        </a:rPr>
                        <a:t>7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635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1100" dirty="0">
                        <a:latin typeface="Times New Roman"/>
                        <a:cs typeface="Times New Roman"/>
                      </a:endParaRPr>
                    </a:p>
                    <a:p>
                      <a:pPr marL="10795">
                        <a:lnSpc>
                          <a:spcPct val="100000"/>
                        </a:lnSpc>
                      </a:pPr>
                      <a:r>
                        <a:rPr lang="en-NZ" sz="1100" spc="-10" dirty="0">
                          <a:latin typeface="Calibri"/>
                          <a:cs typeface="Calibri"/>
                        </a:rPr>
                        <a:t>Supervisor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/Moderator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rowSpan="3"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  <a:spcBef>
                          <a:spcPts val="880"/>
                        </a:spcBef>
                      </a:pPr>
                      <a:endParaRPr sz="1100">
                        <a:latin typeface="Times New Roman"/>
                        <a:cs typeface="Times New Roman"/>
                      </a:endParaRPr>
                    </a:p>
                    <a:p>
                      <a:pPr marL="11430">
                        <a:lnSpc>
                          <a:spcPct val="100000"/>
                        </a:lnSpc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Teaching</a:t>
                      </a:r>
                      <a:r>
                        <a:rPr sz="1100" spc="-20" dirty="0">
                          <a:latin typeface="Calibri"/>
                          <a:cs typeface="Calibri"/>
                        </a:rPr>
                        <a:t> Team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20" dirty="0">
                          <a:latin typeface="Calibri"/>
                          <a:cs typeface="Calibri"/>
                        </a:rPr>
                        <a:t>Mid-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term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Review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1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lang="en-NZ" sz="1100" spc="-25" dirty="0">
                          <a:latin typeface="Calibri"/>
                          <a:cs typeface="Calibri"/>
                        </a:rPr>
                        <a:t>15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635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FFF0CC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3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Research</a:t>
                      </a:r>
                      <a:r>
                        <a:rPr sz="110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spc="-10" dirty="0">
                          <a:latin typeface="Calibri"/>
                          <a:cs typeface="Calibri"/>
                        </a:rPr>
                        <a:t>Report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40%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50" dirty="0">
                          <a:latin typeface="Calibri"/>
                          <a:cs typeface="Calibri"/>
                        </a:rPr>
                        <a:t>2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1</a:t>
                      </a:r>
                      <a:r>
                        <a:rPr lang="en-NZ" sz="1100" spc="-25" dirty="0">
                          <a:latin typeface="Calibri"/>
                          <a:cs typeface="Calibri"/>
                        </a:rPr>
                        <a:t>5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tc vMerge="1">
                  <a:txBody>
                    <a:bodyPr/>
                    <a:lstStyle/>
                    <a:p>
                      <a:endParaRPr/>
                    </a:p>
                  </a:txBody>
                  <a:tcPr marL="0" marR="0" marT="11176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  <a:solidFill>
                      <a:srgbClr val="C5DF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10" dirty="0">
                          <a:latin typeface="Calibri"/>
                          <a:cs typeface="Calibri"/>
                        </a:rPr>
                        <a:t>Total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algn="r">
                        <a:lnSpc>
                          <a:spcPct val="100000"/>
                        </a:lnSpc>
                        <a:spcBef>
                          <a:spcPts val="450"/>
                        </a:spcBef>
                      </a:pPr>
                      <a:r>
                        <a:rPr sz="1100" spc="-25" dirty="0">
                          <a:latin typeface="Calibri"/>
                          <a:cs typeface="Calibri"/>
                        </a:rPr>
                        <a:t>50%</a:t>
                      </a:r>
                      <a:endParaRPr sz="1100">
                        <a:latin typeface="Calibri"/>
                        <a:cs typeface="Calibri"/>
                      </a:endParaRPr>
                    </a:p>
                  </a:txBody>
                  <a:tcPr marL="0" marR="0" marT="5715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44475">
                <a:tc>
                  <a:txBody>
                    <a:bodyPr/>
                    <a:lstStyle/>
                    <a:p>
                      <a:pPr marR="3175">
                        <a:lnSpc>
                          <a:spcPct val="100000"/>
                        </a:lnSpc>
                      </a:pPr>
                      <a:endParaRPr sz="13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12700">
                      <a:solidFill>
                        <a:srgbClr val="000000"/>
                      </a:solidFill>
                      <a:prstDash val="solid"/>
                    </a:lnL>
                    <a:lnR w="635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gridSpan="6">
                  <a:txBody>
                    <a:bodyPr/>
                    <a:lstStyle/>
                    <a:p>
                      <a:pPr marL="9525">
                        <a:lnSpc>
                          <a:spcPct val="100000"/>
                        </a:lnSpc>
                        <a:spcBef>
                          <a:spcPts val="455"/>
                        </a:spcBef>
                      </a:pPr>
                      <a:r>
                        <a:rPr sz="1100" b="1" dirty="0">
                          <a:latin typeface="Calibri"/>
                          <a:cs typeface="Calibri"/>
                        </a:rPr>
                        <a:t>Final</a:t>
                      </a:r>
                      <a:r>
                        <a:rPr sz="110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Grade</a:t>
                      </a:r>
                      <a:r>
                        <a:rPr sz="110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(100%)</a:t>
                      </a:r>
                      <a:r>
                        <a:rPr sz="11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100" b="1" spc="2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BCIS</a:t>
                      </a:r>
                      <a:r>
                        <a:rPr sz="1100" b="1" spc="-3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Assessments</a:t>
                      </a:r>
                      <a:r>
                        <a:rPr sz="1100" b="1" spc="-5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(50%)</a:t>
                      </a:r>
                      <a:r>
                        <a:rPr sz="110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+</a:t>
                      </a:r>
                      <a:r>
                        <a:rPr sz="1100" b="1" spc="1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dirty="0">
                          <a:latin typeface="Calibri"/>
                          <a:cs typeface="Calibri"/>
                        </a:rPr>
                        <a:t>Conjoint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 Assessments</a:t>
                      </a:r>
                      <a:r>
                        <a:rPr sz="1100" b="1" spc="-6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100" b="1" spc="-10" dirty="0">
                          <a:latin typeface="Calibri"/>
                          <a:cs typeface="Calibri"/>
                        </a:rPr>
                        <a:t>(50%)</a:t>
                      </a:r>
                      <a:endParaRPr sz="1100" dirty="0">
                        <a:latin typeface="Calibri"/>
                        <a:cs typeface="Calibri"/>
                      </a:endParaRPr>
                    </a:p>
                  </a:txBody>
                  <a:tcPr marL="0" marR="0" marT="57785" marB="0">
                    <a:lnL w="6350">
                      <a:solidFill>
                        <a:srgbClr val="000000"/>
                      </a:solidFill>
                      <a:prstDash val="solid"/>
                    </a:lnL>
                    <a:lnR w="12700">
                      <a:solidFill>
                        <a:srgbClr val="000000"/>
                      </a:solidFill>
                      <a:prstDash val="solid"/>
                    </a:lnR>
                    <a:lnT w="12700">
                      <a:solidFill>
                        <a:srgbClr val="000000"/>
                      </a:solidFill>
                      <a:prstDash val="solid"/>
                    </a:lnT>
                    <a:lnB w="1270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510666"/>
            <a:ext cx="5832475" cy="7569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BCIS</a:t>
            </a:r>
            <a:r>
              <a:rPr sz="2400" spc="-40" dirty="0"/>
              <a:t> </a:t>
            </a:r>
            <a:r>
              <a:rPr sz="2400" dirty="0"/>
              <a:t>R&amp;D</a:t>
            </a:r>
            <a:r>
              <a:rPr sz="2400" spc="-75" dirty="0"/>
              <a:t> </a:t>
            </a:r>
            <a:r>
              <a:rPr sz="2400" dirty="0"/>
              <a:t>&amp;</a:t>
            </a:r>
            <a:r>
              <a:rPr sz="2400" spc="-75" dirty="0"/>
              <a:t> </a:t>
            </a:r>
            <a:r>
              <a:rPr sz="2400" dirty="0"/>
              <a:t>Conjoint</a:t>
            </a:r>
            <a:r>
              <a:rPr sz="2400" spc="-65" dirty="0"/>
              <a:t> </a:t>
            </a:r>
            <a:r>
              <a:rPr sz="2400" spc="-10" dirty="0"/>
              <a:t>Projects</a:t>
            </a:r>
            <a:r>
              <a:rPr sz="2400" spc="-40" dirty="0"/>
              <a:t> </a:t>
            </a:r>
            <a:r>
              <a:rPr sz="2400" dirty="0"/>
              <a:t>and</a:t>
            </a:r>
            <a:r>
              <a:rPr sz="2400" spc="-35" dirty="0"/>
              <a:t> </a:t>
            </a:r>
            <a:r>
              <a:rPr sz="2400" spc="-10" dirty="0"/>
              <a:t>Assessment Guides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248867" y="1468348"/>
            <a:ext cx="7465695" cy="1068070"/>
          </a:xfrm>
          <a:prstGeom prst="rect">
            <a:avLst/>
          </a:prstGeom>
        </p:spPr>
        <p:txBody>
          <a:bodyPr vert="horz" wrap="square" lIns="0" tIns="76200" rIns="0" bIns="0" rtlCol="0">
            <a:spAutoFit/>
          </a:bodyPr>
          <a:lstStyle/>
          <a:p>
            <a:pPr marL="469265" indent="-456565">
              <a:lnSpc>
                <a:spcPct val="100000"/>
              </a:lnSpc>
              <a:spcBef>
                <a:spcPts val="600"/>
              </a:spcBef>
              <a:buFont typeface="Arial"/>
              <a:buChar char="•"/>
              <a:tabLst>
                <a:tab pos="469265" algn="l"/>
              </a:tabLst>
            </a:pP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Student</a:t>
            </a:r>
            <a:r>
              <a:rPr sz="2000" spc="-7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Guides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8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both</a:t>
            </a:r>
            <a:r>
              <a:rPr sz="2000" spc="-7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45" dirty="0">
                <a:solidFill>
                  <a:srgbClr val="525252"/>
                </a:solidFill>
                <a:latin typeface="Calibri"/>
                <a:cs typeface="Calibri"/>
              </a:rPr>
              <a:t>are</a:t>
            </a:r>
            <a:r>
              <a:rPr sz="2000" spc="-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2000" spc="-8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Canvas</a:t>
            </a:r>
            <a:endParaRPr sz="2000">
              <a:latin typeface="Calibri"/>
              <a:cs typeface="Calibri"/>
            </a:endParaRPr>
          </a:p>
          <a:p>
            <a:pPr marL="469265" indent="-456565">
              <a:lnSpc>
                <a:spcPct val="100000"/>
              </a:lnSpc>
              <a:spcBef>
                <a:spcPts val="505"/>
              </a:spcBef>
              <a:buFont typeface="Arial"/>
              <a:buChar char="•"/>
              <a:tabLst>
                <a:tab pos="469265" algn="l"/>
              </a:tabLst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Individual</a:t>
            </a:r>
            <a:r>
              <a:rPr sz="2000" spc="-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Assessment</a:t>
            </a:r>
            <a:r>
              <a:rPr sz="2000" spc="-3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Guides</a:t>
            </a:r>
            <a:r>
              <a:rPr sz="2000" spc="-10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(a</a:t>
            </a:r>
            <a:r>
              <a:rPr sz="2000" spc="-9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guide</a:t>
            </a:r>
            <a:r>
              <a:rPr sz="2000" spc="-11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for</a:t>
            </a:r>
            <a:r>
              <a:rPr sz="2000" spc="-114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each</a:t>
            </a:r>
            <a:r>
              <a:rPr sz="2000" spc="-9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assessment)</a:t>
            </a:r>
            <a:r>
              <a:rPr sz="2000" spc="-5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are</a:t>
            </a:r>
            <a:r>
              <a:rPr sz="2000" spc="-6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20" dirty="0">
                <a:solidFill>
                  <a:srgbClr val="525252"/>
                </a:solidFill>
                <a:latin typeface="Calibri"/>
                <a:cs typeface="Calibri"/>
              </a:rPr>
              <a:t>also</a:t>
            </a:r>
            <a:endParaRPr sz="2000">
              <a:latin typeface="Calibri"/>
              <a:cs typeface="Calibri"/>
            </a:endParaRPr>
          </a:p>
          <a:p>
            <a:pPr marL="469900">
              <a:lnSpc>
                <a:spcPct val="100000"/>
              </a:lnSpc>
            </a:pPr>
            <a:r>
              <a:rPr sz="2000" dirty="0">
                <a:solidFill>
                  <a:srgbClr val="525252"/>
                </a:solidFill>
                <a:latin typeface="Calibri"/>
                <a:cs typeface="Calibri"/>
              </a:rPr>
              <a:t>on</a:t>
            </a:r>
            <a:r>
              <a:rPr sz="2000" spc="-50" dirty="0">
                <a:solidFill>
                  <a:srgbClr val="525252"/>
                </a:solidFill>
                <a:latin typeface="Calibri"/>
                <a:cs typeface="Calibri"/>
              </a:rPr>
              <a:t> </a:t>
            </a:r>
            <a:r>
              <a:rPr sz="2000" spc="-10" dirty="0">
                <a:solidFill>
                  <a:srgbClr val="525252"/>
                </a:solidFill>
                <a:latin typeface="Calibri"/>
                <a:cs typeface="Calibri"/>
              </a:rPr>
              <a:t>canvas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409194"/>
            <a:ext cx="712597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10" dirty="0"/>
              <a:t>Schedule</a:t>
            </a:r>
            <a:r>
              <a:rPr spc="-110" dirty="0"/>
              <a:t> </a:t>
            </a:r>
            <a:r>
              <a:rPr dirty="0"/>
              <a:t>and</a:t>
            </a:r>
            <a:r>
              <a:rPr spc="-160" dirty="0"/>
              <a:t> </a:t>
            </a:r>
            <a:r>
              <a:rPr dirty="0"/>
              <a:t>topics</a:t>
            </a:r>
            <a:r>
              <a:rPr spc="-125" dirty="0"/>
              <a:t> </a:t>
            </a:r>
            <a:r>
              <a:rPr dirty="0"/>
              <a:t>for</a:t>
            </a:r>
            <a:r>
              <a:rPr spc="-165" dirty="0"/>
              <a:t> </a:t>
            </a:r>
            <a:r>
              <a:rPr dirty="0"/>
              <a:t>the</a:t>
            </a:r>
            <a:r>
              <a:rPr spc="-150" dirty="0"/>
              <a:t> </a:t>
            </a:r>
            <a:r>
              <a:rPr spc="-10" dirty="0"/>
              <a:t>workshop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3886" y="1262634"/>
            <a:ext cx="584327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alibri"/>
                <a:cs typeface="Calibri"/>
              </a:rPr>
              <a:t>Workshops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this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semester-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lang="en-NZ" sz="2400" spc="-35" dirty="0">
                <a:latin typeface="Calibri"/>
                <a:cs typeface="Calibri"/>
              </a:rPr>
              <a:t>Thursday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2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to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4</a:t>
            </a:r>
            <a:r>
              <a:rPr sz="2400" spc="-65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pm</a:t>
            </a:r>
            <a:endParaRPr sz="24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31442" y="1678051"/>
            <a:ext cx="11493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spc="-50" dirty="0">
                <a:solidFill>
                  <a:srgbClr val="F5821F"/>
                </a:solidFill>
                <a:latin typeface="Arial"/>
                <a:cs typeface="Arial"/>
              </a:rPr>
              <a:t>•</a:t>
            </a:r>
            <a:endParaRPr sz="200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872995" y="1706879"/>
            <a:ext cx="6273165" cy="282129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2185"/>
              </a:lnSpc>
            </a:pPr>
            <a:r>
              <a:rPr sz="2000" spc="-10" dirty="0">
                <a:latin typeface="Calibri"/>
                <a:cs typeface="Calibri"/>
              </a:rPr>
              <a:t>Weeks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1-</a:t>
            </a:r>
            <a:r>
              <a:rPr sz="2000" dirty="0">
                <a:latin typeface="Calibri"/>
                <a:cs typeface="Calibri"/>
              </a:rPr>
              <a:t>5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lang="en-NZ" sz="2000" spc="-45" dirty="0">
                <a:latin typeface="Calibri"/>
                <a:cs typeface="Calibri"/>
              </a:rPr>
              <a:t>W</a:t>
            </a:r>
            <a:r>
              <a:rPr sz="2000" dirty="0">
                <a:latin typeface="Calibri"/>
                <a:cs typeface="Calibri"/>
              </a:rPr>
              <a:t>eek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10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COMP702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endParaRPr sz="2000" dirty="0">
              <a:latin typeface="Calibri"/>
              <a:cs typeface="Calibri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186078" y="2364994"/>
            <a:ext cx="5977255" cy="1757532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697865" marR="5080" indent="-228600">
              <a:lnSpc>
                <a:spcPct val="100000"/>
              </a:lnSpc>
              <a:spcBef>
                <a:spcPts val="10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teaching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weeks,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workshops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50" dirty="0">
                <a:latin typeface="Calibri"/>
                <a:cs typeface="Calibri"/>
              </a:rPr>
              <a:t>2 </a:t>
            </a:r>
            <a:r>
              <a:rPr sz="2000" spc="-10" dirty="0">
                <a:latin typeface="Calibri"/>
                <a:cs typeface="Calibri"/>
              </a:rPr>
              <a:t>(COMP703)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students</a:t>
            </a:r>
            <a:endParaRPr sz="2000" dirty="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1175"/>
              </a:spcBef>
            </a:pPr>
            <a:endParaRPr sz="2000" dirty="0">
              <a:latin typeface="Calibri"/>
              <a:cs typeface="Calibri"/>
            </a:endParaRPr>
          </a:p>
          <a:p>
            <a:pPr marL="238125" marR="450850" indent="-226060">
              <a:lnSpc>
                <a:spcPts val="260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400" spc="-45" dirty="0">
                <a:latin typeface="Calibri"/>
                <a:cs typeface="Calibri"/>
              </a:rPr>
              <a:t>You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will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be</a:t>
            </a:r>
            <a:r>
              <a:rPr sz="2400" spc="-6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informed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of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your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workshops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5" dirty="0">
                <a:latin typeface="Calibri"/>
                <a:cs typeface="Calibri"/>
              </a:rPr>
              <a:t>via 	</a:t>
            </a:r>
            <a:r>
              <a:rPr sz="2400" spc="-10" dirty="0">
                <a:latin typeface="Calibri"/>
                <a:cs typeface="Calibri"/>
              </a:rPr>
              <a:t>announcements/email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3200" spc="-20" dirty="0"/>
              <a:t>Workshops</a:t>
            </a:r>
            <a:r>
              <a:rPr sz="3200" spc="-75" dirty="0"/>
              <a:t> </a:t>
            </a:r>
            <a:r>
              <a:rPr sz="3200" spc="-35" dirty="0"/>
              <a:t>(Tuesday</a:t>
            </a:r>
            <a:r>
              <a:rPr sz="3200" spc="-130" dirty="0"/>
              <a:t> </a:t>
            </a:r>
            <a:r>
              <a:rPr sz="3200" spc="-30" dirty="0"/>
              <a:t>2-</a:t>
            </a:r>
            <a:r>
              <a:rPr sz="3200" spc="-20" dirty="0"/>
              <a:t>4pm)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73886" y="964793"/>
            <a:ext cx="7252334" cy="15119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Refer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Canvas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schedules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workshop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topics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ts val="2350"/>
              </a:lnSpc>
              <a:spcBef>
                <a:spcPts val="6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20" dirty="0">
                <a:latin typeface="Calibri"/>
                <a:cs typeface="Calibri"/>
              </a:rPr>
              <a:t>Attending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workshop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creates</a:t>
            </a:r>
            <a:r>
              <a:rPr sz="2000" spc="-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solid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culture.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45" dirty="0">
                <a:latin typeface="Calibri"/>
                <a:cs typeface="Calibri"/>
              </a:rPr>
              <a:t>Teams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do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well</a:t>
            </a:r>
            <a:endParaRPr sz="2000">
              <a:latin typeface="Calibri"/>
              <a:cs typeface="Calibri"/>
            </a:endParaRPr>
          </a:p>
          <a:p>
            <a:pPr marL="240665">
              <a:lnSpc>
                <a:spcPts val="2350"/>
              </a:lnSpc>
            </a:pPr>
            <a:r>
              <a:rPr sz="2000" dirty="0">
                <a:latin typeface="Calibri"/>
                <a:cs typeface="Calibri"/>
              </a:rPr>
              <a:t>usually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attend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workshops.</a:t>
            </a:r>
            <a:endParaRPr sz="20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i="1" dirty="0">
                <a:latin typeface="Calibri"/>
                <a:cs typeface="Calibri"/>
              </a:rPr>
              <a:t>Note</a:t>
            </a:r>
            <a:r>
              <a:rPr sz="2000" dirty="0">
                <a:latin typeface="Calibri"/>
                <a:cs typeface="Calibri"/>
              </a:rPr>
              <a:t>: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Workshops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part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continuous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learning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242466" y="382904"/>
            <a:ext cx="242887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R</a:t>
            </a:r>
            <a:r>
              <a:rPr sz="2400" spc="-85" dirty="0"/>
              <a:t> </a:t>
            </a:r>
            <a:r>
              <a:rPr sz="2400" dirty="0"/>
              <a:t>&amp;</a:t>
            </a:r>
            <a:r>
              <a:rPr sz="2400" spc="-75" dirty="0"/>
              <a:t> </a:t>
            </a:r>
            <a:r>
              <a:rPr sz="2400" dirty="0"/>
              <a:t>D</a:t>
            </a:r>
            <a:r>
              <a:rPr sz="2400" spc="-80" dirty="0"/>
              <a:t> </a:t>
            </a:r>
            <a:r>
              <a:rPr sz="2400" dirty="0"/>
              <a:t>Offsite</a:t>
            </a:r>
            <a:r>
              <a:rPr sz="2400" spc="-15" dirty="0"/>
              <a:t> </a:t>
            </a:r>
            <a:r>
              <a:rPr sz="2400" spc="-20" dirty="0"/>
              <a:t>hours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15085" y="831896"/>
            <a:ext cx="7535545" cy="3662413"/>
          </a:xfrm>
          <a:prstGeom prst="rect">
            <a:avLst/>
          </a:prstGeom>
        </p:spPr>
        <p:txBody>
          <a:bodyPr vert="horz" wrap="square" lIns="0" tIns="5715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45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Offsite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hours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(this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is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not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workshop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hours)</a:t>
            </a:r>
            <a:endParaRPr sz="20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1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Offsite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hours-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Your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b="1" spc="-20" dirty="0">
                <a:latin typeface="Calibri"/>
                <a:cs typeface="Calibri"/>
              </a:rPr>
              <a:t>co-</a:t>
            </a:r>
            <a:r>
              <a:rPr sz="1800" b="1" spc="-10" dirty="0">
                <a:latin typeface="Calibri"/>
                <a:cs typeface="Calibri"/>
              </a:rPr>
              <a:t>located</a:t>
            </a:r>
            <a:r>
              <a:rPr sz="1800" b="1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teamwork</a:t>
            </a:r>
            <a:endParaRPr sz="1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Allocated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improve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team’s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management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coordination</a:t>
            </a:r>
            <a:endParaRPr sz="1800" dirty="0">
              <a:latin typeface="Calibri"/>
              <a:cs typeface="Calibri"/>
            </a:endParaRPr>
          </a:p>
          <a:p>
            <a:pPr marL="697865" lvl="1" indent="-227965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Offsite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hours-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8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pm</a:t>
            </a:r>
            <a:r>
              <a:rPr sz="1800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00" u="sng" spc="3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workshops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2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00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4</a:t>
            </a:r>
            <a:r>
              <a:rPr sz="1800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pm,</a:t>
            </a:r>
            <a:r>
              <a:rPr sz="1800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every</a:t>
            </a:r>
            <a:r>
              <a:rPr sz="18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Thursday</a:t>
            </a:r>
            <a:endParaRPr sz="1800" dirty="0">
              <a:latin typeface="Calibri"/>
              <a:cs typeface="Calibri"/>
            </a:endParaRPr>
          </a:p>
          <a:p>
            <a:pPr marL="698500" marR="5715" lvl="1" indent="-228600" algn="just">
              <a:lnSpc>
                <a:spcPct val="88100"/>
              </a:lnSpc>
              <a:spcBef>
                <a:spcPts val="50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For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Offsite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either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site, </a:t>
            </a:r>
            <a:r>
              <a:rPr sz="1800" dirty="0">
                <a:latin typeface="Calibri"/>
                <a:cs typeface="Calibri"/>
              </a:rPr>
              <a:t>working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project.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also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lang="en-NZ" sz="1800" dirty="0">
                <a:latin typeface="Calibri"/>
                <a:cs typeface="Calibri"/>
              </a:rPr>
              <a:t>supervisor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meetings </a:t>
            </a:r>
            <a:r>
              <a:rPr sz="1800" spc="-10" dirty="0">
                <a:latin typeface="Calibri"/>
                <a:cs typeface="Calibri"/>
              </a:rPr>
              <a:t>during offsite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hours.</a:t>
            </a:r>
            <a:endParaRPr sz="1800" dirty="0">
              <a:latin typeface="Calibri"/>
              <a:cs typeface="Calibri"/>
            </a:endParaRPr>
          </a:p>
          <a:p>
            <a:pPr marL="698500" marR="5080" lvl="1" indent="-228600" algn="just">
              <a:lnSpc>
                <a:spcPts val="1900"/>
              </a:lnSpc>
              <a:spcBef>
                <a:spcPts val="520"/>
              </a:spcBef>
              <a:buClr>
                <a:srgbClr val="F5821F"/>
              </a:buClr>
              <a:buFont typeface="Arial"/>
              <a:buChar char="•"/>
              <a:tabLst>
                <a:tab pos="698500" algn="l"/>
              </a:tabLst>
            </a:pPr>
            <a:r>
              <a:rPr sz="1800" dirty="0">
                <a:latin typeface="Calibri"/>
                <a:cs typeface="Calibri"/>
              </a:rPr>
              <a:t>Make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able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meet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during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offsite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hours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without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clashes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in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timetable.</a:t>
            </a:r>
            <a:endParaRPr sz="1800" dirty="0">
              <a:latin typeface="Calibri"/>
              <a:cs typeface="Calibri"/>
            </a:endParaRPr>
          </a:p>
          <a:p>
            <a:pPr marL="237490" marR="49530" indent="-225425" algn="just">
              <a:lnSpc>
                <a:spcPct val="103000"/>
              </a:lnSpc>
              <a:spcBef>
                <a:spcPts val="484"/>
              </a:spcBef>
              <a:buClr>
                <a:srgbClr val="F5821F"/>
              </a:buClr>
              <a:buFont typeface="Arial"/>
              <a:buChar char="•"/>
              <a:tabLst>
                <a:tab pos="239395" algn="l"/>
              </a:tabLst>
            </a:pPr>
            <a:r>
              <a:rPr sz="2000" dirty="0">
                <a:latin typeface="Calibri"/>
                <a:cs typeface="Calibri"/>
              </a:rPr>
              <a:t>If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enrolled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other</a:t>
            </a:r>
            <a:r>
              <a:rPr sz="2000" spc="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papers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during</a:t>
            </a:r>
            <a:r>
              <a:rPr sz="2000" spc="2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time</a:t>
            </a:r>
            <a:r>
              <a:rPr lang="en-NZ" sz="2000" spc="15" dirty="0">
                <a:latin typeface="Calibri"/>
                <a:cs typeface="Calibri"/>
              </a:rPr>
              <a:t>, and if possible, you should shift streams or swap them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they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won’t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clash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1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Offsite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time.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6540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Offsite</a:t>
            </a:r>
            <a:r>
              <a:rPr sz="2400" spc="-45" dirty="0"/>
              <a:t> </a:t>
            </a:r>
            <a:r>
              <a:rPr sz="2400" dirty="0"/>
              <a:t>hours-</a:t>
            </a:r>
            <a:r>
              <a:rPr sz="2400" spc="-95" dirty="0"/>
              <a:t> </a:t>
            </a:r>
            <a:r>
              <a:rPr sz="2400" spc="-10" dirty="0"/>
              <a:t>team</a:t>
            </a:r>
            <a:r>
              <a:rPr sz="2400" spc="-90" dirty="0"/>
              <a:t> </a:t>
            </a:r>
            <a:r>
              <a:rPr sz="2400" spc="-10" dirty="0"/>
              <a:t>workspace</a:t>
            </a:r>
            <a:r>
              <a:rPr sz="2400" spc="-95" dirty="0"/>
              <a:t> </a:t>
            </a:r>
            <a:r>
              <a:rPr sz="2400" dirty="0"/>
              <a:t>&amp;</a:t>
            </a:r>
            <a:r>
              <a:rPr sz="2400" spc="-95" dirty="0"/>
              <a:t> </a:t>
            </a:r>
            <a:r>
              <a:rPr sz="2400" spc="-10" dirty="0"/>
              <a:t>access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73886" y="1174191"/>
            <a:ext cx="7667625" cy="256890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03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Labs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Level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7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WZ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Building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WZ</a:t>
            </a:r>
            <a:r>
              <a:rPr sz="1800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701)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is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your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spc="-20" dirty="0">
                <a:latin typeface="Calibri"/>
                <a:cs typeface="Calibri"/>
              </a:rPr>
              <a:t>team’s</a:t>
            </a:r>
            <a:r>
              <a:rPr sz="1800" u="none" spc="-6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workspace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spc="-25" dirty="0">
                <a:latin typeface="Calibri"/>
                <a:cs typeface="Calibri"/>
              </a:rPr>
              <a:t>for</a:t>
            </a:r>
            <a:endParaRPr sz="1800" dirty="0">
              <a:latin typeface="Calibri"/>
              <a:cs typeface="Calibri"/>
            </a:endParaRPr>
          </a:p>
          <a:p>
            <a:pPr marL="240665">
              <a:lnSpc>
                <a:spcPts val="2030"/>
              </a:lnSpc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year.</a:t>
            </a:r>
            <a:endParaRPr sz="1800" dirty="0">
              <a:latin typeface="Calibri"/>
              <a:cs typeface="Calibri"/>
            </a:endParaRPr>
          </a:p>
          <a:p>
            <a:pPr marL="697865" marR="792480" lvl="1" indent="-228600">
              <a:lnSpc>
                <a:spcPts val="1900"/>
              </a:lnSpc>
              <a:spcBef>
                <a:spcPts val="52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spaces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shared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computers,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workspaces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laptops,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and </a:t>
            </a:r>
            <a:r>
              <a:rPr sz="1800" dirty="0">
                <a:latin typeface="Calibri"/>
                <a:cs typeface="Calibri"/>
              </a:rPr>
              <a:t>meeting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spaces</a:t>
            </a:r>
            <a:r>
              <a:rPr sz="1400" spc="-10" dirty="0">
                <a:latin typeface="Calibri"/>
                <a:cs typeface="Calibri"/>
              </a:rPr>
              <a:t>.</a:t>
            </a:r>
            <a:endParaRPr sz="1400" dirty="0">
              <a:latin typeface="Calibri"/>
              <a:cs typeface="Calibri"/>
            </a:endParaRPr>
          </a:p>
          <a:p>
            <a:pPr marL="756285" indent="-342900">
              <a:lnSpc>
                <a:spcPts val="1800"/>
              </a:lnSpc>
              <a:buClr>
                <a:srgbClr val="F5821F"/>
              </a:buClr>
              <a:buFont typeface="Arial"/>
              <a:buChar char="•"/>
              <a:tabLst>
                <a:tab pos="756285" algn="l"/>
              </a:tabLst>
            </a:pP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All</a:t>
            </a:r>
            <a:r>
              <a:rPr sz="1800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Desks</a:t>
            </a:r>
            <a:r>
              <a:rPr sz="1800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are</a:t>
            </a:r>
            <a:r>
              <a:rPr sz="1800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20" dirty="0">
                <a:solidFill>
                  <a:srgbClr val="FF0000"/>
                </a:solidFill>
                <a:latin typeface="Calibri"/>
                <a:cs typeface="Calibri"/>
              </a:rPr>
              <a:t>HOTDESK</a:t>
            </a:r>
            <a:r>
              <a:rPr sz="1800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Unless</a:t>
            </a:r>
            <a:r>
              <a:rPr sz="1800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solidFill>
                  <a:srgbClr val="FF0000"/>
                </a:solidFill>
                <a:latin typeface="Calibri"/>
                <a:cs typeface="Calibri"/>
              </a:rPr>
              <a:t>Otherwise</a:t>
            </a:r>
            <a:r>
              <a:rPr sz="1800" spc="-4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spc="-10" dirty="0">
                <a:solidFill>
                  <a:srgbClr val="FF0000"/>
                </a:solidFill>
                <a:latin typeface="Calibri"/>
                <a:cs typeface="Calibri"/>
              </a:rPr>
              <a:t>Marked</a:t>
            </a:r>
            <a:endParaRPr sz="1800" dirty="0">
              <a:latin typeface="Calibri"/>
              <a:cs typeface="Calibri"/>
            </a:endParaRPr>
          </a:p>
          <a:p>
            <a:pPr marL="756285" indent="-342900">
              <a:lnSpc>
                <a:spcPts val="1950"/>
              </a:lnSpc>
              <a:buClr>
                <a:srgbClr val="F5821F"/>
              </a:buClr>
              <a:buFont typeface="Arial"/>
              <a:buChar char="•"/>
              <a:tabLst>
                <a:tab pos="756285" algn="l"/>
              </a:tabLst>
            </a:pPr>
            <a:r>
              <a:rPr sz="1800" dirty="0">
                <a:latin typeface="Calibri"/>
                <a:cs typeface="Calibri"/>
              </a:rPr>
              <a:t>If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dedicated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PC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apply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specifying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your</a:t>
            </a:r>
            <a:endParaRPr sz="1800" dirty="0">
              <a:latin typeface="Calibri"/>
              <a:cs typeface="Calibri"/>
            </a:endParaRPr>
          </a:p>
          <a:p>
            <a:pPr marL="756285">
              <a:lnSpc>
                <a:spcPts val="1864"/>
              </a:lnSpc>
            </a:pPr>
            <a:r>
              <a:rPr sz="1800" dirty="0">
                <a:latin typeface="Calibri"/>
                <a:cs typeface="Calibri"/>
              </a:rPr>
              <a:t>needs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reasoning.</a:t>
            </a:r>
            <a:endParaRPr sz="1800" dirty="0">
              <a:latin typeface="Calibri"/>
              <a:cs typeface="Calibri"/>
            </a:endParaRPr>
          </a:p>
          <a:p>
            <a:pPr marL="469265" marR="31115" indent="-457200">
              <a:lnSpc>
                <a:spcPct val="89700"/>
              </a:lnSpc>
              <a:spcBef>
                <a:spcPts val="55"/>
              </a:spcBef>
              <a:buClr>
                <a:srgbClr val="F5821F"/>
              </a:buClr>
              <a:buFont typeface="Arial"/>
              <a:buChar char="•"/>
              <a:tabLst>
                <a:tab pos="469265" algn="l"/>
              </a:tabLst>
            </a:pPr>
            <a:r>
              <a:rPr sz="1800" dirty="0">
                <a:latin typeface="Calibri"/>
                <a:cs typeface="Calibri"/>
              </a:rPr>
              <a:t>Swipe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cards-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list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students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been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provided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AUT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Security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pick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access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card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from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them.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issues,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email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2"/>
              </a:rPr>
              <a:t>cmsundergrad@aut.ac.nz</a:t>
            </a:r>
            <a:r>
              <a:rPr sz="1800" u="none" spc="-10" dirty="0">
                <a:solidFill>
                  <a:srgbClr val="0000FF"/>
                </a:solidFill>
                <a:latin typeface="Calibri"/>
                <a:cs typeface="Calibri"/>
              </a:rPr>
              <a:t> </a:t>
            </a:r>
            <a:r>
              <a:rPr sz="1800" u="none" spc="-10" dirty="0">
                <a:solidFill>
                  <a:srgbClr val="F06200"/>
                </a:solidFill>
                <a:latin typeface="Calibri"/>
                <a:cs typeface="Calibri"/>
              </a:rPr>
              <a:t>(</a:t>
            </a:r>
            <a:r>
              <a:rPr lang="en-NZ" sz="1800" u="none" spc="-10" dirty="0">
                <a:solidFill>
                  <a:srgbClr val="F06200"/>
                </a:solidFill>
                <a:latin typeface="Calibri"/>
                <a:cs typeface="Calibri"/>
              </a:rPr>
              <a:t>Chris</a:t>
            </a:r>
            <a:r>
              <a:rPr sz="1800" u="none" spc="-10" dirty="0">
                <a:solidFill>
                  <a:srgbClr val="F06200"/>
                </a:solidFill>
                <a:latin typeface="Calibri"/>
                <a:cs typeface="Calibri"/>
              </a:rPr>
              <a:t>)</a:t>
            </a:r>
            <a:r>
              <a:rPr sz="1800" u="none" spc="-10" dirty="0">
                <a:latin typeface="Calibri"/>
                <a:cs typeface="Calibri"/>
              </a:rPr>
              <a:t>.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Worklog</a:t>
            </a:r>
            <a:r>
              <a:rPr sz="2400" spc="-110" dirty="0"/>
              <a:t> </a:t>
            </a:r>
            <a:r>
              <a:rPr sz="2400" spc="-20" dirty="0"/>
              <a:t>book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050137" y="1081278"/>
            <a:ext cx="7618730" cy="333681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worklog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book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(must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time)</a:t>
            </a:r>
            <a:endParaRPr sz="1800" dirty="0">
              <a:latin typeface="Calibri"/>
              <a:cs typeface="Calibri"/>
            </a:endParaRPr>
          </a:p>
          <a:p>
            <a:pPr marL="241300" marR="67945" indent="-229235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800" dirty="0">
                <a:latin typeface="Calibri"/>
                <a:cs typeface="Calibri"/>
              </a:rPr>
              <a:t>Maintaining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individual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worklog,</a:t>
            </a:r>
            <a:r>
              <a:rPr sz="1800" b="1" spc="-6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compulsory</a:t>
            </a:r>
            <a:r>
              <a:rPr sz="1800" b="1" spc="-10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BCIS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project.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 </a:t>
            </a:r>
            <a:r>
              <a:rPr sz="1800" dirty="0">
                <a:latin typeface="Calibri"/>
                <a:cs typeface="Calibri"/>
              </a:rPr>
              <a:t>should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provide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evidence</a:t>
            </a:r>
            <a:r>
              <a:rPr sz="1800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your</a:t>
            </a:r>
            <a:r>
              <a:rPr sz="1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contribution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to</a:t>
            </a:r>
            <a:r>
              <a:rPr sz="1800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and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must</a:t>
            </a:r>
            <a:r>
              <a:rPr sz="1800" u="none" spc="-75" dirty="0">
                <a:latin typeface="Calibri"/>
                <a:cs typeface="Calibri"/>
              </a:rPr>
              <a:t> </a:t>
            </a:r>
            <a:r>
              <a:rPr sz="1800" u="none" spc="-25" dirty="0">
                <a:latin typeface="Calibri"/>
                <a:cs typeface="Calibri"/>
              </a:rPr>
              <a:t>be </a:t>
            </a:r>
            <a:r>
              <a:rPr sz="1800" u="none" dirty="0">
                <a:latin typeface="Calibri"/>
                <a:cs typeface="Calibri"/>
              </a:rPr>
              <a:t>available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at</a:t>
            </a:r>
            <a:r>
              <a:rPr sz="1800" u="none" spc="-5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all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times</a:t>
            </a:r>
            <a:r>
              <a:rPr sz="1800" u="none" spc="-3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for</a:t>
            </a:r>
            <a:r>
              <a:rPr sz="1800" u="none" spc="-5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your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lang="en-NZ" sz="1800" u="none" dirty="0">
                <a:latin typeface="Calibri"/>
                <a:cs typeface="Calibri"/>
              </a:rPr>
              <a:t>supervisor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to</a:t>
            </a:r>
            <a:r>
              <a:rPr sz="1800" u="none" spc="-5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see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and</a:t>
            </a:r>
            <a:r>
              <a:rPr sz="1800" u="none" spc="-3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for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all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project</a:t>
            </a:r>
            <a:r>
              <a:rPr sz="1800" u="none" spc="-65" dirty="0">
                <a:latin typeface="Calibri"/>
                <a:cs typeface="Calibri"/>
              </a:rPr>
              <a:t> </a:t>
            </a:r>
            <a:r>
              <a:rPr sz="1800" u="none" spc="-10" dirty="0">
                <a:latin typeface="Calibri"/>
                <a:cs typeface="Calibri"/>
              </a:rPr>
              <a:t>assessment items.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Bring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class,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mentor</a:t>
            </a:r>
            <a:r>
              <a:rPr lang="en-NZ" sz="1800" dirty="0">
                <a:latin typeface="Calibri"/>
                <a:cs typeface="Calibri"/>
              </a:rPr>
              <a:t>,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including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meetings.</a:t>
            </a:r>
            <a:endParaRPr sz="1800" dirty="0">
              <a:latin typeface="Calibri"/>
              <a:cs typeface="Calibri"/>
            </a:endParaRPr>
          </a:p>
          <a:p>
            <a:pPr marL="241300" marR="5080" indent="-229235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worklog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book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physical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book</a:t>
            </a:r>
            <a:r>
              <a:rPr sz="1800" b="1" spc="-8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20" dirty="0">
                <a:solidFill>
                  <a:srgbClr val="FF0000"/>
                </a:solidFill>
                <a:latin typeface="Calibri"/>
                <a:cs typeface="Calibri"/>
              </a:rPr>
              <a:t>(exercise</a:t>
            </a:r>
            <a:r>
              <a:rPr sz="1800" b="1" spc="-10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book)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lang="en-NZ" sz="1800" b="1" dirty="0">
                <a:solidFill>
                  <a:srgbClr val="FF0000"/>
                </a:solidFill>
                <a:latin typeface="Calibri"/>
                <a:cs typeface="Calibri"/>
              </a:rPr>
              <a:t>date-stamped digital blog captured in a Word</a:t>
            </a:r>
            <a:r>
              <a:rPr sz="1800" b="1" spc="-5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spc="-10" dirty="0">
                <a:solidFill>
                  <a:srgbClr val="FF0000"/>
                </a:solidFill>
                <a:latin typeface="Calibri"/>
                <a:cs typeface="Calibri"/>
              </a:rPr>
              <a:t>document</a:t>
            </a:r>
            <a:r>
              <a:rPr sz="1800" b="1" spc="-8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or</a:t>
            </a:r>
            <a:r>
              <a:rPr sz="1800" b="1" spc="-3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using</a:t>
            </a:r>
            <a:r>
              <a:rPr sz="1800" b="1" spc="-70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any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other</a:t>
            </a:r>
            <a:r>
              <a:rPr sz="1800" b="1" spc="-7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b="1" dirty="0">
                <a:solidFill>
                  <a:srgbClr val="FF0000"/>
                </a:solidFill>
                <a:latin typeface="Calibri"/>
                <a:cs typeface="Calibri"/>
              </a:rPr>
              <a:t>tool.</a:t>
            </a:r>
            <a:r>
              <a:rPr sz="1800" b="1" spc="-45" dirty="0">
                <a:solidFill>
                  <a:srgbClr val="FF0000"/>
                </a:solidFill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Please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discuss </a:t>
            </a:r>
            <a:r>
              <a:rPr sz="1800" dirty="0">
                <a:latin typeface="Calibri"/>
                <a:cs typeface="Calibri"/>
              </a:rPr>
              <a:t>this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choice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mentor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using.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They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marking</a:t>
            </a:r>
            <a:r>
              <a:rPr sz="1800" spc="-2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it!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Must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show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lang="en-NZ" sz="1800" spc="-60" dirty="0">
                <a:latin typeface="Calibri"/>
                <a:cs typeface="Calibri"/>
              </a:rPr>
              <a:t>a </a:t>
            </a:r>
            <a:r>
              <a:rPr sz="1800" dirty="0">
                <a:latin typeface="Calibri"/>
                <a:cs typeface="Calibri"/>
              </a:rPr>
              <a:t>minimum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300</a:t>
            </a:r>
            <a:r>
              <a:rPr sz="18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hours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of</a:t>
            </a:r>
            <a:r>
              <a:rPr sz="1800" u="none" spc="-6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work</a:t>
            </a:r>
            <a:r>
              <a:rPr sz="1800" u="none" spc="-7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at</a:t>
            </a:r>
            <a:r>
              <a:rPr sz="1800" u="none" spc="-7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the</a:t>
            </a:r>
            <a:r>
              <a:rPr sz="1800" u="none" spc="-6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end</a:t>
            </a:r>
            <a:r>
              <a:rPr sz="1800" u="none" spc="-6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of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the</a:t>
            </a:r>
            <a:r>
              <a:rPr sz="1800" u="none" spc="-5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second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spc="-10" dirty="0">
                <a:latin typeface="Calibri"/>
                <a:cs typeface="Calibri"/>
              </a:rPr>
              <a:t>semester.</a:t>
            </a:r>
            <a:endParaRPr sz="1800" dirty="0">
              <a:latin typeface="Calibri"/>
              <a:cs typeface="Calibri"/>
            </a:endParaRPr>
          </a:p>
          <a:p>
            <a:pPr marL="241300">
              <a:lnSpc>
                <a:spcPct val="100000"/>
              </a:lnSpc>
            </a:pPr>
            <a:r>
              <a:rPr sz="1800" dirty="0">
                <a:latin typeface="Calibri"/>
                <a:cs typeface="Calibri"/>
              </a:rPr>
              <a:t>(each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semester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150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hours)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pc="-30" dirty="0"/>
              <a:t>Worklog</a:t>
            </a:r>
            <a:r>
              <a:rPr spc="-135" dirty="0"/>
              <a:t> </a:t>
            </a:r>
            <a:r>
              <a:rPr spc="-20" dirty="0"/>
              <a:t>book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173886" y="1010433"/>
            <a:ext cx="7661275" cy="2956560"/>
          </a:xfrm>
          <a:prstGeom prst="rect">
            <a:avLst/>
          </a:prstGeom>
        </p:spPr>
        <p:txBody>
          <a:bodyPr vert="horz" wrap="square" lIns="0" tIns="82550" rIns="0" bIns="0" rtlCol="0">
            <a:spAutoFit/>
          </a:bodyPr>
          <a:lstStyle/>
          <a:p>
            <a:pPr marL="240665" indent="-227965" algn="just">
              <a:lnSpc>
                <a:spcPct val="100000"/>
              </a:lnSpc>
              <a:spcBef>
                <a:spcPts val="65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Update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real-</a:t>
            </a:r>
            <a:r>
              <a:rPr sz="1800" dirty="0">
                <a:latin typeface="Calibri"/>
                <a:cs typeface="Calibri"/>
              </a:rPr>
              <a:t>time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basis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based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tasks</a:t>
            </a:r>
            <a:r>
              <a:rPr sz="1800" u="sng" spc="30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you</a:t>
            </a:r>
            <a:r>
              <a:rPr sz="1800" u="none" spc="-2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do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as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part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of</a:t>
            </a:r>
            <a:r>
              <a:rPr sz="1800" u="none" spc="-3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your</a:t>
            </a:r>
            <a:r>
              <a:rPr sz="1800" u="none" spc="-3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R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&amp;</a:t>
            </a:r>
            <a:r>
              <a:rPr sz="1800" u="none" spc="-3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D</a:t>
            </a:r>
            <a:r>
              <a:rPr sz="1800" u="none" spc="-35" dirty="0">
                <a:latin typeface="Calibri"/>
                <a:cs typeface="Calibri"/>
              </a:rPr>
              <a:t> </a:t>
            </a:r>
            <a:r>
              <a:rPr sz="1800" u="none" spc="-10" dirty="0">
                <a:latin typeface="Calibri"/>
                <a:cs typeface="Calibri"/>
              </a:rPr>
              <a:t>project.</a:t>
            </a:r>
            <a:endParaRPr sz="18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434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400" spc="-20" dirty="0">
                <a:latin typeface="Calibri"/>
                <a:cs typeface="Calibri"/>
              </a:rPr>
              <a:t>Workshops,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client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meetings,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research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work,</a:t>
            </a:r>
            <a:r>
              <a:rPr sz="1400" spc="-9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work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carried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out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for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day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etc.</a:t>
            </a:r>
            <a:endParaRPr sz="14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400" dirty="0">
                <a:latin typeface="Calibri"/>
                <a:cs typeface="Calibri"/>
              </a:rPr>
              <a:t>Time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spent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going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over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project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list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identify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five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projects</a:t>
            </a:r>
            <a:endParaRPr sz="1400" dirty="0">
              <a:latin typeface="Calibri"/>
              <a:cs typeface="Calibri"/>
            </a:endParaRPr>
          </a:p>
          <a:p>
            <a:pPr marL="240665" marR="600710" indent="-228600">
              <a:lnSpc>
                <a:spcPts val="1910"/>
              </a:lnSpc>
              <a:spcBef>
                <a:spcPts val="98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This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workshop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(including</a:t>
            </a:r>
            <a:r>
              <a:rPr sz="1800" spc="-1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workshops)</a:t>
            </a:r>
            <a:r>
              <a:rPr sz="1800" spc="2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(2-</a:t>
            </a:r>
            <a:r>
              <a:rPr sz="1800" dirty="0">
                <a:latin typeface="Calibri"/>
                <a:cs typeface="Calibri"/>
              </a:rPr>
              <a:t>hour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session)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recorded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worklog.</a:t>
            </a:r>
            <a:endParaRPr sz="1800" dirty="0">
              <a:latin typeface="Calibri"/>
              <a:cs typeface="Calibri"/>
            </a:endParaRPr>
          </a:p>
          <a:p>
            <a:pPr marL="240665" marR="116205" indent="-228600" algn="just">
              <a:lnSpc>
                <a:spcPct val="88100"/>
              </a:lnSpc>
              <a:spcBef>
                <a:spcPts val="96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Use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capture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experience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plans</a:t>
            </a:r>
            <a:r>
              <a:rPr lang="en-NZ" sz="1800" spc="-55" dirty="0">
                <a:latin typeface="Calibri"/>
                <a:cs typeface="Calibri"/>
              </a:rPr>
              <a:t>, tasks/and </a:t>
            </a:r>
            <a:r>
              <a:rPr sz="1800" spc="-20" dirty="0">
                <a:latin typeface="Calibri"/>
                <a:cs typeface="Calibri"/>
              </a:rPr>
              <a:t>practices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and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reflect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upon </a:t>
            </a:r>
            <a:r>
              <a:rPr sz="1800" dirty="0">
                <a:latin typeface="Calibri"/>
                <a:cs typeface="Calibri"/>
              </a:rPr>
              <a:t>them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happen.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These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come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handy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reflective </a:t>
            </a:r>
            <a:r>
              <a:rPr sz="1800" dirty="0">
                <a:latin typeface="Calibri"/>
                <a:cs typeface="Calibri"/>
              </a:rPr>
              <a:t>report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(worth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10%)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at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part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50" dirty="0">
                <a:latin typeface="Calibri"/>
                <a:cs typeface="Calibri"/>
              </a:rPr>
              <a:t>2</a:t>
            </a:r>
            <a:endParaRPr sz="1800" dirty="0">
              <a:latin typeface="Calibri"/>
              <a:cs typeface="Calibri"/>
            </a:endParaRPr>
          </a:p>
          <a:p>
            <a:pPr marL="240665" indent="-227965" algn="just">
              <a:lnSpc>
                <a:spcPts val="2030"/>
              </a:lnSpc>
              <a:spcBef>
                <a:spcPts val="74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Document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actual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evidence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10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can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mine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writing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lang="en-NZ" sz="1800" spc="-55" dirty="0">
                <a:latin typeface="Calibri"/>
                <a:cs typeface="Calibri"/>
              </a:rPr>
              <a:t>a </a:t>
            </a:r>
            <a:r>
              <a:rPr sz="1800" spc="-10" dirty="0">
                <a:latin typeface="Calibri"/>
                <a:cs typeface="Calibri"/>
              </a:rPr>
              <a:t>reflective</a:t>
            </a:r>
            <a:endParaRPr sz="1800" dirty="0">
              <a:latin typeface="Calibri"/>
              <a:cs typeface="Calibri"/>
            </a:endParaRPr>
          </a:p>
          <a:p>
            <a:pPr marL="240665" algn="just">
              <a:lnSpc>
                <a:spcPts val="2030"/>
              </a:lnSpc>
            </a:pPr>
            <a:r>
              <a:rPr sz="1800" spc="-10" dirty="0">
                <a:latin typeface="Calibri"/>
                <a:cs typeface="Calibri"/>
              </a:rPr>
              <a:t>report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prepare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job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interviews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87196" y="4108703"/>
            <a:ext cx="7325995" cy="31115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75"/>
              </a:lnSpc>
            </a:pPr>
            <a:r>
              <a:rPr sz="2000" i="1" spc="-20" dirty="0">
                <a:latin typeface="Calibri"/>
                <a:cs typeface="Calibri"/>
              </a:rPr>
              <a:t>Real-</a:t>
            </a:r>
            <a:r>
              <a:rPr sz="2000" i="1" dirty="0">
                <a:latin typeface="Calibri"/>
                <a:cs typeface="Calibri"/>
              </a:rPr>
              <a:t>time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spc="-20" dirty="0">
                <a:latin typeface="Calibri"/>
                <a:cs typeface="Calibri"/>
              </a:rPr>
              <a:t>documentation-</a:t>
            </a:r>
            <a:r>
              <a:rPr sz="2000" i="1" spc="-9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this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skill</a:t>
            </a:r>
            <a:r>
              <a:rPr sz="2000" i="1" spc="-1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you</a:t>
            </a:r>
            <a:r>
              <a:rPr sz="2000" i="1" spc="-6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want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to</a:t>
            </a:r>
            <a:r>
              <a:rPr sz="2000" i="1" spc="-3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achieve</a:t>
            </a:r>
            <a:r>
              <a:rPr sz="2000" i="1" spc="-65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from</a:t>
            </a:r>
            <a:r>
              <a:rPr sz="2000" i="1" spc="-4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the</a:t>
            </a:r>
            <a:r>
              <a:rPr sz="2000" i="1" spc="-5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R</a:t>
            </a:r>
            <a:r>
              <a:rPr sz="2000" i="1" spc="-30" dirty="0">
                <a:latin typeface="Calibri"/>
                <a:cs typeface="Calibri"/>
              </a:rPr>
              <a:t> </a:t>
            </a:r>
            <a:r>
              <a:rPr sz="2000" i="1" dirty="0">
                <a:latin typeface="Calibri"/>
                <a:cs typeface="Calibri"/>
              </a:rPr>
              <a:t>&amp;</a:t>
            </a:r>
            <a:r>
              <a:rPr sz="2000" i="1" spc="-25" dirty="0">
                <a:latin typeface="Calibri"/>
                <a:cs typeface="Calibri"/>
              </a:rPr>
              <a:t> </a:t>
            </a:r>
            <a:r>
              <a:rPr sz="2000" i="1" spc="-50" dirty="0">
                <a:latin typeface="Calibri"/>
                <a:cs typeface="Calibri"/>
              </a:rPr>
              <a:t>D</a:t>
            </a:r>
            <a:endParaRPr sz="200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87196" y="4419600"/>
            <a:ext cx="734695" cy="2743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910"/>
              </a:lnSpc>
            </a:pPr>
            <a:r>
              <a:rPr sz="2000" i="1" spc="-10" dirty="0">
                <a:latin typeface="Calibri"/>
                <a:cs typeface="Calibri"/>
              </a:rPr>
              <a:t>project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336039" y="987125"/>
            <a:ext cx="3854450" cy="11531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695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3200" dirty="0">
                <a:latin typeface="Calibri"/>
                <a:cs typeface="Calibri"/>
              </a:rPr>
              <a:t>Success</a:t>
            </a:r>
            <a:r>
              <a:rPr sz="3200" spc="-13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starts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spc="-20" dirty="0">
                <a:latin typeface="Calibri"/>
                <a:cs typeface="Calibri"/>
              </a:rPr>
              <a:t>here</a:t>
            </a:r>
            <a:endParaRPr sz="320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6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3200" spc="-20" dirty="0">
                <a:latin typeface="Calibri"/>
                <a:cs typeface="Calibri"/>
              </a:rPr>
              <a:t>Failure</a:t>
            </a:r>
            <a:r>
              <a:rPr sz="3200" spc="-114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starts</a:t>
            </a:r>
            <a:r>
              <a:rPr sz="3200" spc="-10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here</a:t>
            </a:r>
            <a:r>
              <a:rPr sz="3200" spc="-150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too</a:t>
            </a:r>
            <a:endParaRPr sz="3200">
              <a:latin typeface="Calibri"/>
              <a:cs typeface="Calibri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1336039" y="5035422"/>
            <a:ext cx="7278370" cy="9588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240029" marR="5080" indent="-227329">
              <a:lnSpc>
                <a:spcPts val="3500"/>
              </a:lnSpc>
              <a:spcBef>
                <a:spcPts val="500"/>
              </a:spcBef>
              <a:buClr>
                <a:srgbClr val="F5821F"/>
              </a:buClr>
              <a:buFont typeface="Arial"/>
              <a:buChar char="•"/>
              <a:tabLst>
                <a:tab pos="241300" algn="l"/>
              </a:tabLst>
            </a:pPr>
            <a:r>
              <a:rPr sz="3200" dirty="0">
                <a:latin typeface="Calibri"/>
                <a:cs typeface="Calibri"/>
              </a:rPr>
              <a:t>What</a:t>
            </a:r>
            <a:r>
              <a:rPr sz="3200" spc="-8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you</a:t>
            </a:r>
            <a:r>
              <a:rPr sz="3200" spc="-6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choose</a:t>
            </a:r>
            <a:r>
              <a:rPr sz="3200" spc="-12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to</a:t>
            </a:r>
            <a:r>
              <a:rPr sz="3200" spc="-6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do</a:t>
            </a:r>
            <a:r>
              <a:rPr sz="3200" spc="-8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now</a:t>
            </a:r>
            <a:r>
              <a:rPr sz="3200" spc="-75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will</a:t>
            </a:r>
            <a:r>
              <a:rPr sz="3200" spc="-70" dirty="0">
                <a:latin typeface="Calibri"/>
                <a:cs typeface="Calibri"/>
              </a:rPr>
              <a:t> </a:t>
            </a:r>
            <a:r>
              <a:rPr sz="3200" dirty="0">
                <a:latin typeface="Calibri"/>
                <a:cs typeface="Calibri"/>
              </a:rPr>
              <a:t>impact</a:t>
            </a:r>
            <a:r>
              <a:rPr sz="3200" spc="-55" dirty="0">
                <a:latin typeface="Calibri"/>
                <a:cs typeface="Calibri"/>
              </a:rPr>
              <a:t> </a:t>
            </a:r>
            <a:r>
              <a:rPr sz="3200" spc="-25" dirty="0">
                <a:latin typeface="Calibri"/>
                <a:cs typeface="Calibri"/>
              </a:rPr>
              <a:t>on 	</a:t>
            </a:r>
            <a:r>
              <a:rPr sz="3200" dirty="0">
                <a:latin typeface="Calibri"/>
                <a:cs typeface="Calibri"/>
              </a:rPr>
              <a:t>your</a:t>
            </a:r>
            <a:r>
              <a:rPr sz="3200" spc="-45" dirty="0">
                <a:latin typeface="Calibri"/>
                <a:cs typeface="Calibri"/>
              </a:rPr>
              <a:t> </a:t>
            </a:r>
            <a:r>
              <a:rPr sz="3200" spc="-10" dirty="0">
                <a:latin typeface="Calibri"/>
                <a:cs typeface="Calibri"/>
              </a:rPr>
              <a:t>destiny</a:t>
            </a:r>
            <a:endParaRPr sz="3200">
              <a:latin typeface="Calibri"/>
              <a:cs typeface="Calibri"/>
            </a:endParaRPr>
          </a:p>
        </p:txBody>
      </p:sp>
      <p:pic>
        <p:nvPicPr>
          <p:cNvPr id="4" name="object 4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1972055" y="2476500"/>
            <a:ext cx="5539740" cy="2596896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object 2"/>
          <p:cNvGrpSpPr/>
          <p:nvPr/>
        </p:nvGrpSpPr>
        <p:grpSpPr>
          <a:xfrm>
            <a:off x="0" y="0"/>
            <a:ext cx="9144000" cy="6858000"/>
            <a:chOff x="0" y="0"/>
            <a:chExt cx="9144000" cy="6858000"/>
          </a:xfrm>
        </p:grpSpPr>
        <p:pic>
          <p:nvPicPr>
            <p:cNvPr id="3" name="object 3"/>
            <p:cNvPicPr/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0" y="0"/>
              <a:ext cx="9144000" cy="6857998"/>
            </a:xfrm>
            <a:prstGeom prst="rect">
              <a:avLst/>
            </a:prstGeom>
          </p:spPr>
        </p:pic>
        <p:pic>
          <p:nvPicPr>
            <p:cNvPr id="4" name="object 4"/>
            <p:cNvPicPr/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0" y="2542030"/>
              <a:ext cx="6932675" cy="4315967"/>
            </a:xfrm>
            <a:prstGeom prst="rect">
              <a:avLst/>
            </a:prstGeom>
          </p:spPr>
        </p:pic>
      </p:grpSp>
      <p:sp>
        <p:nvSpPr>
          <p:cNvPr id="5" name="object 5"/>
          <p:cNvSpPr txBox="1"/>
          <p:nvPr/>
        </p:nvSpPr>
        <p:spPr>
          <a:xfrm>
            <a:off x="0" y="5914644"/>
            <a:ext cx="3090545" cy="486409"/>
          </a:xfrm>
          <a:prstGeom prst="rect">
            <a:avLst/>
          </a:prstGeom>
          <a:solidFill>
            <a:srgbClr val="000000"/>
          </a:solidFill>
        </p:spPr>
        <p:txBody>
          <a:bodyPr vert="horz" wrap="square" lIns="0" tIns="130810" rIns="0" bIns="0" rtlCol="0">
            <a:spAutoFit/>
          </a:bodyPr>
          <a:lstStyle/>
          <a:p>
            <a:pPr marL="1348105">
              <a:lnSpc>
                <a:spcPct val="100000"/>
              </a:lnSpc>
              <a:spcBef>
                <a:spcPts val="1030"/>
              </a:spcBef>
            </a:pP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Organizing</a:t>
            </a:r>
            <a:r>
              <a:rPr sz="1350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25" dirty="0">
                <a:solidFill>
                  <a:srgbClr val="FFFFFF"/>
                </a:solidFill>
                <a:latin typeface="Calibri"/>
                <a:cs typeface="Calibri"/>
              </a:rPr>
              <a:t>Your</a:t>
            </a:r>
            <a:r>
              <a:rPr sz="1350" spc="-45" dirty="0">
                <a:solidFill>
                  <a:srgbClr val="FFFFFF"/>
                </a:solidFill>
                <a:latin typeface="Calibri"/>
                <a:cs typeface="Calibri"/>
              </a:rPr>
              <a:t> </a:t>
            </a:r>
            <a:r>
              <a:rPr sz="1350" spc="-20" dirty="0">
                <a:solidFill>
                  <a:srgbClr val="FFFFFF"/>
                </a:solidFill>
                <a:latin typeface="Calibri"/>
                <a:cs typeface="Calibri"/>
              </a:rPr>
              <a:t>Team</a:t>
            </a:r>
            <a:endParaRPr sz="135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774953"/>
            <a:ext cx="416941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0" dirty="0"/>
              <a:t>How’s</a:t>
            </a:r>
            <a:r>
              <a:rPr sz="2400" spc="-125" dirty="0"/>
              <a:t> </a:t>
            </a:r>
            <a:r>
              <a:rPr sz="2400" dirty="0"/>
              <a:t>the</a:t>
            </a:r>
            <a:r>
              <a:rPr sz="2400" spc="-70" dirty="0"/>
              <a:t> </a:t>
            </a:r>
            <a:r>
              <a:rPr sz="2400" dirty="0"/>
              <a:t>BCIS</a:t>
            </a:r>
            <a:r>
              <a:rPr sz="2400" spc="-110" dirty="0"/>
              <a:t> </a:t>
            </a:r>
            <a:r>
              <a:rPr sz="2400" dirty="0"/>
              <a:t>Project</a:t>
            </a:r>
            <a:r>
              <a:rPr sz="2400" spc="-120" dirty="0"/>
              <a:t> </a:t>
            </a:r>
            <a:r>
              <a:rPr sz="2400" spc="-10" dirty="0"/>
              <a:t>different?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73886" y="1234566"/>
            <a:ext cx="7574915" cy="19261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665" indent="-227965">
              <a:lnSpc>
                <a:spcPts val="213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spc="-45" dirty="0">
                <a:latin typeface="Calibri"/>
                <a:cs typeface="Calibri"/>
              </a:rPr>
              <a:t>You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won’t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given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answers,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lang="en-NZ" sz="1800" spc="-70" dirty="0">
                <a:latin typeface="Calibri"/>
                <a:cs typeface="Calibri"/>
              </a:rPr>
              <a:t>but </a:t>
            </a:r>
            <a:r>
              <a:rPr sz="1800" dirty="0">
                <a:latin typeface="Calibri"/>
                <a:cs typeface="Calibri"/>
              </a:rPr>
              <a:t>maybe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you’ll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get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help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some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</a:t>
            </a:r>
            <a:endParaRPr sz="1800" dirty="0">
              <a:latin typeface="Calibri"/>
              <a:cs typeface="Calibri"/>
            </a:endParaRPr>
          </a:p>
          <a:p>
            <a:pPr marL="240665">
              <a:lnSpc>
                <a:spcPts val="2130"/>
              </a:lnSpc>
            </a:pPr>
            <a:r>
              <a:rPr sz="1800" spc="-10" dirty="0">
                <a:latin typeface="Calibri"/>
                <a:cs typeface="Calibri"/>
              </a:rPr>
              <a:t>questions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ask.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transition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unknown.</a:t>
            </a:r>
            <a:endParaRPr sz="1800" dirty="0">
              <a:latin typeface="Calibri"/>
              <a:cs typeface="Calibri"/>
            </a:endParaRPr>
          </a:p>
          <a:p>
            <a:pPr marL="240665" marR="5080" indent="-228600">
              <a:lnSpc>
                <a:spcPts val="1900"/>
              </a:lnSpc>
              <a:spcBef>
                <a:spcPts val="102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Need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become</a:t>
            </a:r>
            <a:r>
              <a:rPr sz="1800" spc="3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lang="en-NZ"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self-organising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&amp;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self-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managing</a:t>
            </a:r>
            <a:r>
              <a:rPr sz="18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team.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lang="en-NZ"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 s</a:t>
            </a:r>
            <a:r>
              <a:rPr lang="en-NZ"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upervisor</a:t>
            </a:r>
            <a:r>
              <a:rPr sz="18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</a:t>
            </a:r>
            <a:r>
              <a:rPr sz="18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micro-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manage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your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8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lang="en-NZ" sz="1800" spc="-35" dirty="0">
                <a:latin typeface="Calibri"/>
                <a:cs typeface="Calibri"/>
              </a:rPr>
              <a:t> The team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learn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new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things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needed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8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There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be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gaps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fill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lang="en-NZ" sz="1800" spc="-60" dirty="0">
                <a:latin typeface="Calibri"/>
                <a:cs typeface="Calibri"/>
              </a:rPr>
              <a:t>that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aren’t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even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aware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yet!</a:t>
            </a:r>
            <a:endParaRPr sz="18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945286" y="917575"/>
            <a:ext cx="37338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Required</a:t>
            </a:r>
            <a:r>
              <a:rPr sz="2400" spc="-55" dirty="0"/>
              <a:t> </a:t>
            </a:r>
            <a:r>
              <a:rPr sz="2400" dirty="0"/>
              <a:t>for</a:t>
            </a:r>
            <a:r>
              <a:rPr sz="2400" spc="-70" dirty="0"/>
              <a:t> </a:t>
            </a:r>
            <a:r>
              <a:rPr sz="2400" dirty="0"/>
              <a:t>R</a:t>
            </a:r>
            <a:r>
              <a:rPr sz="2400" spc="-45" dirty="0"/>
              <a:t> </a:t>
            </a:r>
            <a:r>
              <a:rPr sz="2400" dirty="0"/>
              <a:t>&amp;</a:t>
            </a:r>
            <a:r>
              <a:rPr sz="2400" spc="-75" dirty="0"/>
              <a:t> </a:t>
            </a:r>
            <a:r>
              <a:rPr sz="2400" dirty="0"/>
              <a:t>D</a:t>
            </a:r>
            <a:r>
              <a:rPr sz="2400" spc="-50" dirty="0"/>
              <a:t> </a:t>
            </a:r>
            <a:r>
              <a:rPr sz="2400" spc="-10" dirty="0"/>
              <a:t>teamwork</a:t>
            </a:r>
            <a:endParaRPr sz="2400"/>
          </a:p>
        </p:txBody>
      </p:sp>
      <p:sp>
        <p:nvSpPr>
          <p:cNvPr id="3" name="object 3"/>
          <p:cNvSpPr txBox="1"/>
          <p:nvPr/>
        </p:nvSpPr>
        <p:spPr>
          <a:xfrm>
            <a:off x="1173886" y="1740535"/>
            <a:ext cx="2603500" cy="665480"/>
          </a:xfrm>
          <a:prstGeom prst="rect">
            <a:avLst/>
          </a:prstGeom>
        </p:spPr>
        <p:txBody>
          <a:bodyPr vert="horz" wrap="square" lIns="0" tIns="47625" rIns="0" bIns="0" rtlCol="0">
            <a:spAutoFit/>
          </a:bodyPr>
          <a:lstStyle/>
          <a:p>
            <a:pPr marL="240665" marR="5080" indent="-228600">
              <a:lnSpc>
                <a:spcPts val="2400"/>
              </a:lnSpc>
              <a:spcBef>
                <a:spcPts val="37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Works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well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team </a:t>
            </a:r>
            <a:r>
              <a:rPr sz="2200" spc="-10" dirty="0">
                <a:latin typeface="Calibri"/>
                <a:cs typeface="Calibri"/>
              </a:rPr>
              <a:t>environment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5242305" y="1932813"/>
            <a:ext cx="290258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“</a:t>
            </a:r>
            <a:r>
              <a:rPr sz="2200" dirty="0">
                <a:latin typeface="Calibri"/>
                <a:cs typeface="Calibri"/>
              </a:rPr>
              <a:t>plays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nicely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with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others”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4442205" y="1910842"/>
            <a:ext cx="727710" cy="547370"/>
            <a:chOff x="4442205" y="1910842"/>
            <a:chExt cx="727710" cy="547370"/>
          </a:xfrm>
        </p:grpSpPr>
        <p:sp>
          <p:nvSpPr>
            <p:cNvPr id="6" name="object 6"/>
            <p:cNvSpPr/>
            <p:nvPr/>
          </p:nvSpPr>
          <p:spPr>
            <a:xfrm>
              <a:off x="4448555" y="1917192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69">
                  <a:moveTo>
                    <a:pt x="447167" y="0"/>
                  </a:moveTo>
                  <a:lnTo>
                    <a:pt x="447167" y="133604"/>
                  </a:lnTo>
                  <a:lnTo>
                    <a:pt x="0" y="133604"/>
                  </a:lnTo>
                  <a:lnTo>
                    <a:pt x="0" y="400938"/>
                  </a:lnTo>
                  <a:lnTo>
                    <a:pt x="447167" y="400938"/>
                  </a:lnTo>
                  <a:lnTo>
                    <a:pt x="447167" y="534543"/>
                  </a:lnTo>
                  <a:lnTo>
                    <a:pt x="714502" y="267208"/>
                  </a:lnTo>
                  <a:lnTo>
                    <a:pt x="447167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4448555" y="1917192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69">
                  <a:moveTo>
                    <a:pt x="0" y="133604"/>
                  </a:moveTo>
                  <a:lnTo>
                    <a:pt x="447167" y="133604"/>
                  </a:lnTo>
                  <a:lnTo>
                    <a:pt x="447167" y="0"/>
                  </a:lnTo>
                  <a:lnTo>
                    <a:pt x="714502" y="267208"/>
                  </a:lnTo>
                  <a:lnTo>
                    <a:pt x="447167" y="534543"/>
                  </a:lnTo>
                  <a:lnTo>
                    <a:pt x="447167" y="400938"/>
                  </a:lnTo>
                  <a:lnTo>
                    <a:pt x="0" y="400938"/>
                  </a:lnTo>
                  <a:lnTo>
                    <a:pt x="0" y="133604"/>
                  </a:lnTo>
                  <a:close/>
                </a:path>
              </a:pathLst>
            </a:custGeom>
            <a:ln w="12700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8" name="object 8"/>
          <p:cNvGrpSpPr/>
          <p:nvPr/>
        </p:nvGrpSpPr>
        <p:grpSpPr>
          <a:xfrm>
            <a:off x="4084065" y="2610357"/>
            <a:ext cx="727710" cy="547370"/>
            <a:chOff x="4084065" y="2610357"/>
            <a:chExt cx="727710" cy="547370"/>
          </a:xfrm>
        </p:grpSpPr>
        <p:sp>
          <p:nvSpPr>
            <p:cNvPr id="9" name="object 9"/>
            <p:cNvSpPr/>
            <p:nvPr/>
          </p:nvSpPr>
          <p:spPr>
            <a:xfrm>
              <a:off x="4090415" y="2616707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69">
                  <a:moveTo>
                    <a:pt x="447167" y="0"/>
                  </a:moveTo>
                  <a:lnTo>
                    <a:pt x="447167" y="133603"/>
                  </a:lnTo>
                  <a:lnTo>
                    <a:pt x="0" y="133603"/>
                  </a:lnTo>
                  <a:lnTo>
                    <a:pt x="0" y="400938"/>
                  </a:lnTo>
                  <a:lnTo>
                    <a:pt x="447167" y="400938"/>
                  </a:lnTo>
                  <a:lnTo>
                    <a:pt x="447167" y="534542"/>
                  </a:lnTo>
                  <a:lnTo>
                    <a:pt x="714501" y="267334"/>
                  </a:lnTo>
                  <a:lnTo>
                    <a:pt x="447167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090415" y="2616707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69">
                  <a:moveTo>
                    <a:pt x="0" y="133603"/>
                  </a:moveTo>
                  <a:lnTo>
                    <a:pt x="447167" y="133603"/>
                  </a:lnTo>
                  <a:lnTo>
                    <a:pt x="447167" y="0"/>
                  </a:lnTo>
                  <a:lnTo>
                    <a:pt x="714501" y="267334"/>
                  </a:lnTo>
                  <a:lnTo>
                    <a:pt x="447167" y="534542"/>
                  </a:lnTo>
                  <a:lnTo>
                    <a:pt x="447167" y="400938"/>
                  </a:lnTo>
                  <a:lnTo>
                    <a:pt x="0" y="400938"/>
                  </a:lnTo>
                  <a:lnTo>
                    <a:pt x="0" y="133603"/>
                  </a:lnTo>
                  <a:close/>
                </a:path>
              </a:pathLst>
            </a:custGeom>
            <a:ln w="12700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11" name="object 11"/>
          <p:cNvGrpSpPr/>
          <p:nvPr/>
        </p:nvGrpSpPr>
        <p:grpSpPr>
          <a:xfrm>
            <a:off x="8180578" y="2610357"/>
            <a:ext cx="613410" cy="573405"/>
            <a:chOff x="8180578" y="2610357"/>
            <a:chExt cx="613410" cy="573405"/>
          </a:xfrm>
        </p:grpSpPr>
        <p:sp>
          <p:nvSpPr>
            <p:cNvPr id="12" name="object 12"/>
            <p:cNvSpPr/>
            <p:nvPr/>
          </p:nvSpPr>
          <p:spPr>
            <a:xfrm>
              <a:off x="8186928" y="2616707"/>
              <a:ext cx="600710" cy="560705"/>
            </a:xfrm>
            <a:custGeom>
              <a:avLst/>
              <a:gdLst/>
              <a:ahLst/>
              <a:cxnLst/>
              <a:rect l="l" t="t" r="r" b="b"/>
              <a:pathLst>
                <a:path w="600709" h="560705">
                  <a:moveTo>
                    <a:pt x="300100" y="0"/>
                  </a:moveTo>
                  <a:lnTo>
                    <a:pt x="229235" y="213994"/>
                  </a:lnTo>
                  <a:lnTo>
                    <a:pt x="0" y="213994"/>
                  </a:lnTo>
                  <a:lnTo>
                    <a:pt x="185420" y="346328"/>
                  </a:lnTo>
                  <a:lnTo>
                    <a:pt x="114680" y="560324"/>
                  </a:lnTo>
                  <a:lnTo>
                    <a:pt x="300100" y="428116"/>
                  </a:lnTo>
                  <a:lnTo>
                    <a:pt x="485521" y="560324"/>
                  </a:lnTo>
                  <a:lnTo>
                    <a:pt x="414781" y="346328"/>
                  </a:lnTo>
                  <a:lnTo>
                    <a:pt x="600201" y="213994"/>
                  </a:lnTo>
                  <a:lnTo>
                    <a:pt x="370967" y="213994"/>
                  </a:lnTo>
                  <a:lnTo>
                    <a:pt x="300100" y="0"/>
                  </a:lnTo>
                  <a:close/>
                </a:path>
              </a:pathLst>
            </a:custGeom>
            <a:solidFill>
              <a:srgbClr val="EB7B2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3"/>
            <p:cNvSpPr/>
            <p:nvPr/>
          </p:nvSpPr>
          <p:spPr>
            <a:xfrm>
              <a:off x="8186928" y="2616707"/>
              <a:ext cx="600710" cy="560705"/>
            </a:xfrm>
            <a:custGeom>
              <a:avLst/>
              <a:gdLst/>
              <a:ahLst/>
              <a:cxnLst/>
              <a:rect l="l" t="t" r="r" b="b"/>
              <a:pathLst>
                <a:path w="600709" h="560705">
                  <a:moveTo>
                    <a:pt x="0" y="213994"/>
                  </a:moveTo>
                  <a:lnTo>
                    <a:pt x="229235" y="213994"/>
                  </a:lnTo>
                  <a:lnTo>
                    <a:pt x="300100" y="0"/>
                  </a:lnTo>
                  <a:lnTo>
                    <a:pt x="370967" y="213994"/>
                  </a:lnTo>
                  <a:lnTo>
                    <a:pt x="600201" y="213994"/>
                  </a:lnTo>
                  <a:lnTo>
                    <a:pt x="414781" y="346328"/>
                  </a:lnTo>
                  <a:lnTo>
                    <a:pt x="485521" y="560324"/>
                  </a:lnTo>
                  <a:lnTo>
                    <a:pt x="300100" y="428116"/>
                  </a:lnTo>
                  <a:lnTo>
                    <a:pt x="114680" y="560324"/>
                  </a:lnTo>
                  <a:lnTo>
                    <a:pt x="185420" y="346328"/>
                  </a:lnTo>
                  <a:lnTo>
                    <a:pt x="0" y="213994"/>
                  </a:lnTo>
                  <a:close/>
                </a:path>
              </a:pathLst>
            </a:custGeom>
            <a:ln w="12700">
              <a:solidFill>
                <a:srgbClr val="AC5A1F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object 14"/>
          <p:cNvSpPr txBox="1"/>
          <p:nvPr/>
        </p:nvSpPr>
        <p:spPr>
          <a:xfrm>
            <a:off x="4751578" y="2547620"/>
            <a:ext cx="3493770" cy="14446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89560">
              <a:lnSpc>
                <a:spcPts val="281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“</a:t>
            </a:r>
            <a:r>
              <a:rPr sz="2200" dirty="0">
                <a:latin typeface="Calibri"/>
                <a:cs typeface="Calibri"/>
              </a:rPr>
              <a:t>Sees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what</a:t>
            </a:r>
            <a:r>
              <a:rPr sz="2200" spc="-8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needs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doing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and</a:t>
            </a:r>
            <a:endParaRPr sz="2200">
              <a:latin typeface="Calibri"/>
              <a:cs typeface="Calibri"/>
            </a:endParaRPr>
          </a:p>
          <a:p>
            <a:pPr marL="289560">
              <a:lnSpc>
                <a:spcPts val="2570"/>
              </a:lnSpc>
            </a:pPr>
            <a:r>
              <a:rPr sz="2200" dirty="0">
                <a:latin typeface="Calibri"/>
                <a:cs typeface="Calibri"/>
              </a:rPr>
              <a:t>does</a:t>
            </a:r>
            <a:r>
              <a:rPr sz="2200" spc="-100" dirty="0">
                <a:latin typeface="Calibri"/>
                <a:cs typeface="Calibri"/>
              </a:rPr>
              <a:t> </a:t>
            </a:r>
            <a:r>
              <a:rPr sz="2200" spc="-25" dirty="0">
                <a:latin typeface="Calibri"/>
                <a:cs typeface="Calibri"/>
              </a:rPr>
              <a:t>it”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790"/>
              </a:lnSpc>
              <a:spcBef>
                <a:spcPts val="210"/>
              </a:spcBef>
            </a:pPr>
            <a:r>
              <a:rPr sz="2400" spc="-10" dirty="0">
                <a:latin typeface="Calibri"/>
                <a:cs typeface="Calibri"/>
              </a:rPr>
              <a:t>“</a:t>
            </a:r>
            <a:r>
              <a:rPr sz="2200" spc="-10" dirty="0">
                <a:latin typeface="Calibri"/>
                <a:cs typeface="Calibri"/>
              </a:rPr>
              <a:t>Wants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learn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20" dirty="0">
                <a:latin typeface="Calibri"/>
                <a:cs typeface="Calibri"/>
              </a:rPr>
              <a:t>isn’t</a:t>
            </a:r>
            <a:endParaRPr sz="2200">
              <a:latin typeface="Calibri"/>
              <a:cs typeface="Calibri"/>
            </a:endParaRPr>
          </a:p>
          <a:p>
            <a:pPr marL="12700">
              <a:lnSpc>
                <a:spcPts val="2790"/>
              </a:lnSpc>
            </a:pPr>
            <a:r>
              <a:rPr sz="2200" dirty="0">
                <a:latin typeface="Calibri"/>
                <a:cs typeface="Calibri"/>
              </a:rPr>
              <a:t>scared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of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teamwork</a:t>
            </a:r>
            <a:r>
              <a:rPr sz="2400" spc="-10" dirty="0">
                <a:latin typeface="Calibri"/>
                <a:cs typeface="Calibri"/>
              </a:rPr>
              <a:t>”</a:t>
            </a:r>
            <a:endParaRPr sz="2400">
              <a:latin typeface="Calibri"/>
              <a:cs typeface="Calibri"/>
            </a:endParaRPr>
          </a:p>
        </p:txBody>
      </p:sp>
      <p:grpSp>
        <p:nvGrpSpPr>
          <p:cNvPr id="15" name="object 15"/>
          <p:cNvGrpSpPr/>
          <p:nvPr/>
        </p:nvGrpSpPr>
        <p:grpSpPr>
          <a:xfrm>
            <a:off x="3693921" y="3389121"/>
            <a:ext cx="727710" cy="547370"/>
            <a:chOff x="3693921" y="3389121"/>
            <a:chExt cx="727710" cy="547370"/>
          </a:xfrm>
        </p:grpSpPr>
        <p:sp>
          <p:nvSpPr>
            <p:cNvPr id="16" name="object 16"/>
            <p:cNvSpPr/>
            <p:nvPr/>
          </p:nvSpPr>
          <p:spPr>
            <a:xfrm>
              <a:off x="3700271" y="3395471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70">
                  <a:moveTo>
                    <a:pt x="447166" y="0"/>
                  </a:moveTo>
                  <a:lnTo>
                    <a:pt x="447166" y="133603"/>
                  </a:lnTo>
                  <a:lnTo>
                    <a:pt x="0" y="133603"/>
                  </a:lnTo>
                  <a:lnTo>
                    <a:pt x="0" y="400938"/>
                  </a:lnTo>
                  <a:lnTo>
                    <a:pt x="447166" y="400938"/>
                  </a:lnTo>
                  <a:lnTo>
                    <a:pt x="447166" y="534542"/>
                  </a:lnTo>
                  <a:lnTo>
                    <a:pt x="714501" y="267207"/>
                  </a:lnTo>
                  <a:lnTo>
                    <a:pt x="447166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7" name="object 17"/>
            <p:cNvSpPr/>
            <p:nvPr/>
          </p:nvSpPr>
          <p:spPr>
            <a:xfrm>
              <a:off x="3700271" y="3395471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70">
                  <a:moveTo>
                    <a:pt x="0" y="133603"/>
                  </a:moveTo>
                  <a:lnTo>
                    <a:pt x="447166" y="133603"/>
                  </a:lnTo>
                  <a:lnTo>
                    <a:pt x="447166" y="0"/>
                  </a:lnTo>
                  <a:lnTo>
                    <a:pt x="714501" y="267207"/>
                  </a:lnTo>
                  <a:lnTo>
                    <a:pt x="447166" y="534542"/>
                  </a:lnTo>
                  <a:lnTo>
                    <a:pt x="447166" y="400938"/>
                  </a:lnTo>
                  <a:lnTo>
                    <a:pt x="0" y="400938"/>
                  </a:lnTo>
                  <a:lnTo>
                    <a:pt x="0" y="133603"/>
                  </a:lnTo>
                  <a:close/>
                </a:path>
              </a:pathLst>
            </a:custGeom>
            <a:ln w="12700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8" name="object 18"/>
          <p:cNvSpPr txBox="1"/>
          <p:nvPr/>
        </p:nvSpPr>
        <p:spPr>
          <a:xfrm>
            <a:off x="1173886" y="2681173"/>
            <a:ext cx="2021839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Shows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Initiative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19" name="object 19"/>
          <p:cNvSpPr txBox="1"/>
          <p:nvPr/>
        </p:nvSpPr>
        <p:spPr>
          <a:xfrm>
            <a:off x="1173886" y="3426333"/>
            <a:ext cx="218694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200" dirty="0">
                <a:latin typeface="Calibri"/>
                <a:cs typeface="Calibri"/>
              </a:rPr>
              <a:t>Highly</a:t>
            </a:r>
            <a:r>
              <a:rPr sz="2200" spc="-11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Motivated</a:t>
            </a:r>
            <a:endParaRPr sz="2200">
              <a:latin typeface="Calibri"/>
              <a:cs typeface="Calibri"/>
            </a:endParaRPr>
          </a:p>
        </p:txBody>
      </p:sp>
      <p:sp>
        <p:nvSpPr>
          <p:cNvPr id="20" name="object 20"/>
          <p:cNvSpPr txBox="1"/>
          <p:nvPr/>
        </p:nvSpPr>
        <p:spPr>
          <a:xfrm>
            <a:off x="1173886" y="4185665"/>
            <a:ext cx="1431290" cy="36068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200" spc="-10" dirty="0">
                <a:latin typeface="Calibri"/>
                <a:cs typeface="Calibri"/>
              </a:rPr>
              <a:t>Respectful</a:t>
            </a:r>
            <a:endParaRPr sz="2200">
              <a:latin typeface="Calibri"/>
              <a:cs typeface="Calibri"/>
            </a:endParaRPr>
          </a:p>
        </p:txBody>
      </p:sp>
      <p:grpSp>
        <p:nvGrpSpPr>
          <p:cNvPr id="21" name="object 21"/>
          <p:cNvGrpSpPr/>
          <p:nvPr/>
        </p:nvGrpSpPr>
        <p:grpSpPr>
          <a:xfrm>
            <a:off x="3337305" y="4149597"/>
            <a:ext cx="727710" cy="547370"/>
            <a:chOff x="3337305" y="4149597"/>
            <a:chExt cx="727710" cy="547370"/>
          </a:xfrm>
        </p:grpSpPr>
        <p:sp>
          <p:nvSpPr>
            <p:cNvPr id="22" name="object 22"/>
            <p:cNvSpPr/>
            <p:nvPr/>
          </p:nvSpPr>
          <p:spPr>
            <a:xfrm>
              <a:off x="3343655" y="4155947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70">
                  <a:moveTo>
                    <a:pt x="447167" y="0"/>
                  </a:moveTo>
                  <a:lnTo>
                    <a:pt x="447167" y="133603"/>
                  </a:lnTo>
                  <a:lnTo>
                    <a:pt x="0" y="133603"/>
                  </a:lnTo>
                  <a:lnTo>
                    <a:pt x="0" y="400938"/>
                  </a:lnTo>
                  <a:lnTo>
                    <a:pt x="447167" y="400938"/>
                  </a:lnTo>
                  <a:lnTo>
                    <a:pt x="447167" y="534543"/>
                  </a:lnTo>
                  <a:lnTo>
                    <a:pt x="714502" y="267334"/>
                  </a:lnTo>
                  <a:lnTo>
                    <a:pt x="447167" y="0"/>
                  </a:lnTo>
                  <a:close/>
                </a:path>
              </a:pathLst>
            </a:custGeom>
            <a:solidFill>
              <a:srgbClr val="5B9BD3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3" name="object 23"/>
            <p:cNvSpPr/>
            <p:nvPr/>
          </p:nvSpPr>
          <p:spPr>
            <a:xfrm>
              <a:off x="3343655" y="4155947"/>
              <a:ext cx="715010" cy="534670"/>
            </a:xfrm>
            <a:custGeom>
              <a:avLst/>
              <a:gdLst/>
              <a:ahLst/>
              <a:cxnLst/>
              <a:rect l="l" t="t" r="r" b="b"/>
              <a:pathLst>
                <a:path w="715010" h="534670">
                  <a:moveTo>
                    <a:pt x="0" y="133603"/>
                  </a:moveTo>
                  <a:lnTo>
                    <a:pt x="447167" y="133603"/>
                  </a:lnTo>
                  <a:lnTo>
                    <a:pt x="447167" y="0"/>
                  </a:lnTo>
                  <a:lnTo>
                    <a:pt x="714502" y="267334"/>
                  </a:lnTo>
                  <a:lnTo>
                    <a:pt x="447167" y="534543"/>
                  </a:lnTo>
                  <a:lnTo>
                    <a:pt x="447167" y="400938"/>
                  </a:lnTo>
                  <a:lnTo>
                    <a:pt x="0" y="400938"/>
                  </a:lnTo>
                  <a:lnTo>
                    <a:pt x="0" y="133603"/>
                  </a:lnTo>
                  <a:close/>
                </a:path>
              </a:pathLst>
            </a:custGeom>
            <a:ln w="12700">
              <a:solidFill>
                <a:srgbClr val="416F9C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4" name="object 24"/>
          <p:cNvSpPr txBox="1"/>
          <p:nvPr/>
        </p:nvSpPr>
        <p:spPr>
          <a:xfrm>
            <a:off x="4527550" y="4256658"/>
            <a:ext cx="130429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>
                <a:latin typeface="Calibri"/>
                <a:cs typeface="Calibri"/>
              </a:rPr>
              <a:t>“</a:t>
            </a:r>
            <a:r>
              <a:rPr sz="2200" dirty="0">
                <a:latin typeface="Calibri"/>
                <a:cs typeface="Calibri"/>
              </a:rPr>
              <a:t>to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others</a:t>
            </a:r>
            <a:r>
              <a:rPr sz="2400" spc="-10" dirty="0">
                <a:latin typeface="Calibri"/>
                <a:cs typeface="Calibri"/>
              </a:rPr>
              <a:t>”</a:t>
            </a:r>
            <a:endParaRPr sz="2400">
              <a:latin typeface="Calibri"/>
              <a:cs typeface="Calibri"/>
            </a:endParaRPr>
          </a:p>
        </p:txBody>
      </p:sp>
      <p:sp>
        <p:nvSpPr>
          <p:cNvPr id="25" name="object 25"/>
          <p:cNvSpPr txBox="1"/>
          <p:nvPr/>
        </p:nvSpPr>
        <p:spPr>
          <a:xfrm>
            <a:off x="1513713" y="4943932"/>
            <a:ext cx="5809615" cy="148907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ctr">
              <a:lnSpc>
                <a:spcPct val="100000"/>
              </a:lnSpc>
              <a:spcBef>
                <a:spcPts val="100"/>
              </a:spcBef>
            </a:pPr>
            <a:r>
              <a:rPr sz="2400" b="1" spc="-35" dirty="0">
                <a:solidFill>
                  <a:srgbClr val="F06200"/>
                </a:solidFill>
                <a:latin typeface="Calibri"/>
                <a:cs typeface="Calibri"/>
              </a:rPr>
              <a:t>Technical</a:t>
            </a:r>
            <a:r>
              <a:rPr sz="2400" b="1" spc="-14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skills</a:t>
            </a:r>
            <a:r>
              <a:rPr sz="2400" b="1" spc="-5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are</a:t>
            </a:r>
            <a:r>
              <a:rPr sz="2400" b="1" spc="-6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06200"/>
                </a:solidFill>
                <a:latin typeface="Calibri"/>
                <a:cs typeface="Calibri"/>
              </a:rPr>
              <a:t>evaluated</a:t>
            </a:r>
            <a:r>
              <a:rPr sz="2400" b="1" spc="-5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but</a:t>
            </a:r>
            <a:r>
              <a:rPr sz="2400" b="1" spc="-4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20" dirty="0">
                <a:solidFill>
                  <a:srgbClr val="F06200"/>
                </a:solidFill>
                <a:latin typeface="Calibri"/>
                <a:cs typeface="Calibri"/>
              </a:rPr>
              <a:t>secondary</a:t>
            </a:r>
            <a:r>
              <a:rPr sz="2400" b="1" spc="-8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06200"/>
                </a:solidFill>
                <a:latin typeface="Calibri"/>
                <a:cs typeface="Calibri"/>
              </a:rPr>
              <a:t>to</a:t>
            </a:r>
            <a:endParaRPr sz="2400">
              <a:latin typeface="Calibri"/>
              <a:cs typeface="Calibri"/>
            </a:endParaRPr>
          </a:p>
          <a:p>
            <a:pPr algn="ctr">
              <a:lnSpc>
                <a:spcPct val="100000"/>
              </a:lnSpc>
              <a:spcBef>
                <a:spcPts val="5"/>
              </a:spcBef>
            </a:pPr>
            <a:r>
              <a:rPr sz="2400" b="1" spc="-10" dirty="0">
                <a:solidFill>
                  <a:srgbClr val="F06200"/>
                </a:solidFill>
                <a:latin typeface="Calibri"/>
                <a:cs typeface="Calibri"/>
              </a:rPr>
              <a:t>above</a:t>
            </a:r>
            <a:r>
              <a:rPr sz="2400" b="1" spc="-9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06200"/>
                </a:solidFill>
                <a:latin typeface="Calibri"/>
                <a:cs typeface="Calibri"/>
              </a:rPr>
              <a:t>attributes</a:t>
            </a:r>
            <a:endParaRPr sz="2400">
              <a:latin typeface="Calibri"/>
              <a:cs typeface="Calibri"/>
            </a:endParaRPr>
          </a:p>
          <a:p>
            <a:pPr marL="106680" marR="95885" algn="ctr">
              <a:lnSpc>
                <a:spcPct val="100000"/>
              </a:lnSpc>
            </a:pPr>
            <a:r>
              <a:rPr sz="2400" b="1" spc="-10" dirty="0">
                <a:solidFill>
                  <a:srgbClr val="F06200"/>
                </a:solidFill>
                <a:latin typeface="Calibri"/>
                <a:cs typeface="Calibri"/>
              </a:rPr>
              <a:t>Evidence</a:t>
            </a:r>
            <a:r>
              <a:rPr sz="2400" b="1" spc="-8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the</a:t>
            </a:r>
            <a:r>
              <a:rPr sz="2400" b="1" spc="-5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above</a:t>
            </a:r>
            <a:r>
              <a:rPr sz="2400" b="1" spc="-6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in</a:t>
            </a:r>
            <a:r>
              <a:rPr sz="2400" b="1" spc="-8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your</a:t>
            </a:r>
            <a:r>
              <a:rPr sz="2400" b="1" spc="-11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worklog</a:t>
            </a:r>
            <a:r>
              <a:rPr sz="2400" b="1" spc="-11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book</a:t>
            </a:r>
            <a:r>
              <a:rPr sz="2400" b="1" spc="-10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25" dirty="0">
                <a:solidFill>
                  <a:srgbClr val="F06200"/>
                </a:solidFill>
                <a:latin typeface="Calibri"/>
                <a:cs typeface="Calibri"/>
              </a:rPr>
              <a:t>for </a:t>
            </a:r>
            <a:r>
              <a:rPr sz="2400" b="1" spc="-10" dirty="0">
                <a:solidFill>
                  <a:srgbClr val="F06200"/>
                </a:solidFill>
                <a:latin typeface="Calibri"/>
                <a:cs typeface="Calibri"/>
              </a:rPr>
              <a:t>reflective</a:t>
            </a:r>
            <a:r>
              <a:rPr sz="2400" b="1" spc="-4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report</a:t>
            </a:r>
            <a:r>
              <a:rPr sz="2400" b="1" spc="-8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and</a:t>
            </a:r>
            <a:r>
              <a:rPr sz="2400" b="1" spc="-65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job</a:t>
            </a:r>
            <a:r>
              <a:rPr sz="2400" b="1" spc="-8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06200"/>
                </a:solidFill>
                <a:latin typeface="Calibri"/>
                <a:cs typeface="Calibri"/>
              </a:rPr>
              <a:t>interviews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B1BC509C-18FD-D366-4404-FE638320CA4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0800" y="2057400"/>
            <a:ext cx="3125372" cy="3429000"/>
          </a:xfrm>
          <a:prstGeom prst="rect">
            <a:avLst/>
          </a:prstGeom>
        </p:spPr>
      </p:pic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A640C40-F02C-94DF-45E7-57B64029F02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1981200" y="1676400"/>
            <a:ext cx="4693284" cy="276999"/>
          </a:xfrm>
        </p:spPr>
        <p:txBody>
          <a:bodyPr/>
          <a:lstStyle/>
          <a:p>
            <a:r>
              <a:rPr lang="en-NZ" dirty="0"/>
              <a:t>Source: Linkedin</a:t>
            </a:r>
          </a:p>
        </p:txBody>
      </p:sp>
    </p:spTree>
    <p:extLst>
      <p:ext uri="{BB962C8B-B14F-4D97-AF65-F5344CB8AC3E}">
        <p14:creationId xmlns:p14="http://schemas.microsoft.com/office/powerpoint/2010/main" val="3621289324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173886" y="511555"/>
            <a:ext cx="3267710" cy="29813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Build</a:t>
            </a:r>
            <a:r>
              <a:rPr sz="2400" b="1" spc="-9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a</a:t>
            </a:r>
            <a:r>
              <a:rPr sz="2400" b="1" spc="-8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dirty="0">
                <a:solidFill>
                  <a:srgbClr val="F06200"/>
                </a:solidFill>
                <a:latin typeface="Calibri"/>
                <a:cs typeface="Calibri"/>
              </a:rPr>
              <a:t>team</a:t>
            </a:r>
            <a:r>
              <a:rPr sz="2400" b="1" spc="-80" dirty="0">
                <a:solidFill>
                  <a:srgbClr val="F06200"/>
                </a:solidFill>
                <a:latin typeface="Calibri"/>
                <a:cs typeface="Calibri"/>
              </a:rPr>
              <a:t> </a:t>
            </a:r>
            <a:r>
              <a:rPr sz="2400" b="1" spc="-10" dirty="0">
                <a:solidFill>
                  <a:srgbClr val="F06200"/>
                </a:solidFill>
                <a:latin typeface="Calibri"/>
                <a:cs typeface="Calibri"/>
              </a:rPr>
              <a:t>culture</a:t>
            </a:r>
            <a:endParaRPr sz="2400">
              <a:latin typeface="Calibri"/>
              <a:cs typeface="Calibri"/>
            </a:endParaRPr>
          </a:p>
          <a:p>
            <a:pPr>
              <a:lnSpc>
                <a:spcPct val="100000"/>
              </a:lnSpc>
              <a:spcBef>
                <a:spcPts val="250"/>
              </a:spcBef>
            </a:pP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Collective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team</a:t>
            </a:r>
            <a:r>
              <a:rPr sz="2400" spc="-7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effort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10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spc="-35" dirty="0">
                <a:latin typeface="Calibri"/>
                <a:cs typeface="Calibri"/>
              </a:rPr>
              <a:t>Task</a:t>
            </a:r>
            <a:r>
              <a:rPr sz="2400" spc="-10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sharing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695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spc="-20" dirty="0">
                <a:latin typeface="Calibri"/>
                <a:cs typeface="Calibri"/>
              </a:rPr>
              <a:t>Leadership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in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tasks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0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Coaching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and</a:t>
            </a:r>
            <a:r>
              <a:rPr sz="2400" spc="-4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mentoring</a:t>
            </a:r>
            <a:endParaRPr sz="2400">
              <a:latin typeface="Calibri"/>
              <a:cs typeface="Calibri"/>
            </a:endParaRPr>
          </a:p>
          <a:p>
            <a:pPr marL="240029" indent="-227329">
              <a:lnSpc>
                <a:spcPct val="100000"/>
              </a:lnSpc>
              <a:spcBef>
                <a:spcPts val="705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Quality</a:t>
            </a:r>
            <a:r>
              <a:rPr sz="2400" spc="-4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driven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2"/>
          <p:cNvPicPr/>
          <p:nvPr/>
        </p:nvPicPr>
        <p:blipFill>
          <a:blip r:embed="rId2" cstate="print"/>
          <a:stretch>
            <a:fillRect/>
          </a:stretch>
        </p:blipFill>
        <p:spPr>
          <a:xfrm>
            <a:off x="0" y="0"/>
            <a:ext cx="9144000" cy="6857998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287527"/>
            <a:ext cx="7563484" cy="958850"/>
          </a:xfrm>
          <a:prstGeom prst="rect">
            <a:avLst/>
          </a:prstGeom>
        </p:spPr>
        <p:txBody>
          <a:bodyPr vert="horz" wrap="square" lIns="0" tIns="63500" rIns="0" bIns="0" rtlCol="0">
            <a:spAutoFit/>
          </a:bodyPr>
          <a:lstStyle/>
          <a:p>
            <a:pPr marL="12700" marR="5080">
              <a:lnSpc>
                <a:spcPts val="3500"/>
              </a:lnSpc>
              <a:spcBef>
                <a:spcPts val="500"/>
              </a:spcBef>
              <a:tabLst>
                <a:tab pos="5543550" algn="l"/>
              </a:tabLst>
            </a:pPr>
            <a:r>
              <a:rPr sz="3200" dirty="0"/>
              <a:t>First</a:t>
            </a:r>
            <a:r>
              <a:rPr sz="3200" spc="-90" dirty="0"/>
              <a:t> </a:t>
            </a:r>
            <a:r>
              <a:rPr sz="3200" dirty="0"/>
              <a:t>R</a:t>
            </a:r>
            <a:r>
              <a:rPr sz="3200" spc="-55" dirty="0"/>
              <a:t> </a:t>
            </a:r>
            <a:r>
              <a:rPr sz="3200" dirty="0"/>
              <a:t>&amp;</a:t>
            </a:r>
            <a:r>
              <a:rPr sz="3200" spc="-55" dirty="0"/>
              <a:t> </a:t>
            </a:r>
            <a:r>
              <a:rPr sz="3200" dirty="0"/>
              <a:t>D</a:t>
            </a:r>
            <a:r>
              <a:rPr sz="3200" spc="-70" dirty="0"/>
              <a:t> </a:t>
            </a:r>
            <a:r>
              <a:rPr sz="3200" dirty="0"/>
              <a:t>assessment-</a:t>
            </a:r>
            <a:r>
              <a:rPr sz="3200" spc="-125" dirty="0"/>
              <a:t> </a:t>
            </a:r>
            <a:r>
              <a:rPr sz="3200" spc="-10" dirty="0"/>
              <a:t>Prepare</a:t>
            </a:r>
            <a:r>
              <a:rPr sz="3200" dirty="0"/>
              <a:t>	and</a:t>
            </a:r>
            <a:r>
              <a:rPr sz="3200" spc="-70" dirty="0"/>
              <a:t> </a:t>
            </a:r>
            <a:r>
              <a:rPr sz="3200" spc="-20" dirty="0"/>
              <a:t>present </a:t>
            </a:r>
            <a:r>
              <a:rPr sz="3200" dirty="0"/>
              <a:t>a</a:t>
            </a:r>
            <a:r>
              <a:rPr sz="3200" spc="-15" dirty="0"/>
              <a:t> </a:t>
            </a:r>
            <a:r>
              <a:rPr sz="3200" dirty="0"/>
              <a:t>R</a:t>
            </a:r>
            <a:r>
              <a:rPr sz="3200" spc="-25" dirty="0"/>
              <a:t> </a:t>
            </a:r>
            <a:r>
              <a:rPr sz="3200" dirty="0"/>
              <a:t>&amp;</a:t>
            </a:r>
            <a:r>
              <a:rPr sz="3200" spc="-20" dirty="0"/>
              <a:t> </a:t>
            </a:r>
            <a:r>
              <a:rPr sz="3200" dirty="0"/>
              <a:t>D</a:t>
            </a:r>
            <a:r>
              <a:rPr sz="3200" spc="-30" dirty="0"/>
              <a:t> </a:t>
            </a:r>
            <a:r>
              <a:rPr sz="3200" dirty="0"/>
              <a:t>proposal-</a:t>
            </a:r>
            <a:r>
              <a:rPr sz="3200" spc="-75" dirty="0"/>
              <a:t> </a:t>
            </a:r>
            <a:r>
              <a:rPr sz="3200" spc="-25" dirty="0"/>
              <a:t>10%</a:t>
            </a:r>
            <a:endParaRPr sz="3200"/>
          </a:p>
        </p:txBody>
      </p:sp>
      <p:sp>
        <p:nvSpPr>
          <p:cNvPr id="3" name="object 3"/>
          <p:cNvSpPr txBox="1"/>
          <p:nvPr/>
        </p:nvSpPr>
        <p:spPr>
          <a:xfrm>
            <a:off x="1173886" y="1358366"/>
            <a:ext cx="7623175" cy="2172335"/>
          </a:xfrm>
          <a:prstGeom prst="rect">
            <a:avLst/>
          </a:prstGeom>
        </p:spPr>
        <p:txBody>
          <a:bodyPr vert="horz" wrap="square" lIns="0" tIns="100965" rIns="0" bIns="0" rtlCol="0">
            <a:spAutoFit/>
          </a:bodyPr>
          <a:lstStyle/>
          <a:p>
            <a:pPr marL="240665" indent="-227965">
              <a:lnSpc>
                <a:spcPct val="100000"/>
              </a:lnSpc>
              <a:spcBef>
                <a:spcPts val="79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What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D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proposal?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(cover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more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this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next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week)</a:t>
            </a:r>
            <a:endParaRPr sz="2000" dirty="0">
              <a:latin typeface="Calibri"/>
              <a:cs typeface="Calibri"/>
            </a:endParaRPr>
          </a:p>
          <a:p>
            <a:pPr marL="240665" marR="5080" indent="-228600">
              <a:lnSpc>
                <a:spcPts val="2160"/>
              </a:lnSpc>
              <a:spcBef>
                <a:spcPts val="969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D</a:t>
            </a:r>
            <a:r>
              <a:rPr sz="1800" dirty="0">
                <a:latin typeface="Calibri"/>
                <a:cs typeface="Calibri"/>
              </a:rPr>
              <a:t>ue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Week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lang="en-NZ" sz="1800" spc="-45" dirty="0">
                <a:latin typeface="Calibri"/>
                <a:cs typeface="Calibri"/>
              </a:rPr>
              <a:t>6</a:t>
            </a:r>
            <a:r>
              <a:rPr sz="1800" dirty="0">
                <a:latin typeface="Calibri"/>
                <a:cs typeface="Calibri"/>
              </a:rPr>
              <a:t>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panel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presentation-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team,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lang="en-NZ" sz="1800" spc="-30" dirty="0">
                <a:latin typeface="Calibri"/>
                <a:cs typeface="Calibri"/>
              </a:rPr>
              <a:t>supervisor</a:t>
            </a:r>
            <a:r>
              <a:rPr sz="1800" spc="-30" dirty="0">
                <a:latin typeface="Calibri"/>
                <a:cs typeface="Calibri"/>
              </a:rPr>
              <a:t>,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moderator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(plus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teaching </a:t>
            </a:r>
            <a:r>
              <a:rPr sz="1800" dirty="0">
                <a:latin typeface="Calibri"/>
                <a:cs typeface="Calibri"/>
              </a:rPr>
              <a:t>team)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duration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45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minutes.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ct val="100000"/>
              </a:lnSpc>
              <a:spcBef>
                <a:spcPts val="71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Get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started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asp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so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that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114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come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up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with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reliable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proposal</a:t>
            </a:r>
            <a:endParaRPr sz="2000" dirty="0">
              <a:latin typeface="Calibri"/>
              <a:cs typeface="Calibri"/>
            </a:endParaRPr>
          </a:p>
          <a:p>
            <a:pPr marL="240665" indent="-227965">
              <a:lnSpc>
                <a:spcPts val="2300"/>
              </a:lnSpc>
              <a:spcBef>
                <a:spcPts val="80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30" dirty="0">
                <a:latin typeface="Calibri"/>
                <a:cs typeface="Calibri"/>
              </a:rPr>
              <a:t>Templates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plans-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use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PMI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templates </a:t>
            </a:r>
            <a:r>
              <a:rPr sz="2000" dirty="0">
                <a:latin typeface="Calibri"/>
                <a:cs typeface="Calibri"/>
              </a:rPr>
              <a:t>(provided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Canvas)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or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client</a:t>
            </a:r>
            <a:endParaRPr sz="2000" dirty="0">
              <a:latin typeface="Calibri"/>
              <a:cs typeface="Calibri"/>
            </a:endParaRPr>
          </a:p>
          <a:p>
            <a:pPr marL="240665">
              <a:lnSpc>
                <a:spcPts val="2300"/>
              </a:lnSpc>
            </a:pPr>
            <a:r>
              <a:rPr sz="2000" spc="-10" dirty="0">
                <a:latin typeface="Calibri"/>
                <a:cs typeface="Calibri"/>
              </a:rPr>
              <a:t>templates</a:t>
            </a:r>
            <a:endParaRPr sz="20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9339" y="725551"/>
            <a:ext cx="7056755" cy="56375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52069">
              <a:lnSpc>
                <a:spcPts val="1590"/>
              </a:lnSpc>
              <a:spcBef>
                <a:spcPts val="105"/>
              </a:spcBef>
            </a:pPr>
            <a:r>
              <a:rPr sz="1400" b="1" spc="-20" dirty="0">
                <a:latin typeface="Calibri"/>
                <a:cs typeface="Calibri"/>
              </a:rPr>
              <a:t>Project</a:t>
            </a:r>
            <a:r>
              <a:rPr sz="1400" b="1" spc="-3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proposal-</a:t>
            </a:r>
            <a:r>
              <a:rPr sz="1400" b="1" spc="-6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the</a:t>
            </a:r>
            <a:r>
              <a:rPr sz="1400" b="1" spc="-65" dirty="0">
                <a:latin typeface="Calibri"/>
                <a:cs typeface="Calibri"/>
              </a:rPr>
              <a:t> </a:t>
            </a:r>
            <a:r>
              <a:rPr sz="1400" b="1" spc="-20" dirty="0">
                <a:latin typeface="Calibri"/>
                <a:cs typeface="Calibri"/>
              </a:rPr>
              <a:t>following</a:t>
            </a:r>
            <a:r>
              <a:rPr sz="1400" b="1" spc="-5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plans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and</a:t>
            </a:r>
            <a:r>
              <a:rPr sz="1400" b="1" spc="-50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documents</a:t>
            </a:r>
            <a:r>
              <a:rPr sz="1400" b="1" spc="-7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may</a:t>
            </a:r>
            <a:r>
              <a:rPr sz="1400" b="1" spc="-20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be</a:t>
            </a:r>
            <a:r>
              <a:rPr sz="1400" b="1" spc="-2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useful</a:t>
            </a:r>
            <a:r>
              <a:rPr sz="1400" b="1" spc="-4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for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dirty="0">
                <a:latin typeface="Calibri"/>
                <a:cs typeface="Calibri"/>
              </a:rPr>
              <a:t>your</a:t>
            </a:r>
            <a:r>
              <a:rPr sz="1400" b="1" spc="-15" dirty="0">
                <a:latin typeface="Calibri"/>
                <a:cs typeface="Calibri"/>
              </a:rPr>
              <a:t> </a:t>
            </a:r>
            <a:r>
              <a:rPr sz="1400" b="1" spc="-10" dirty="0">
                <a:latin typeface="Calibri"/>
                <a:cs typeface="Calibri"/>
              </a:rPr>
              <a:t>project.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30" dirty="0">
                <a:latin typeface="Calibri"/>
                <a:cs typeface="Calibri"/>
              </a:rPr>
              <a:t>Team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contract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(download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PMI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code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of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conduct)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Project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charter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Conflict</a:t>
            </a:r>
            <a:r>
              <a:rPr sz="1400" spc="-20" dirty="0">
                <a:latin typeface="Calibri"/>
                <a:cs typeface="Calibri"/>
              </a:rPr>
              <a:t> resolution </a:t>
            </a:r>
            <a:r>
              <a:rPr sz="1400" spc="-10" dirty="0">
                <a:latin typeface="Calibri"/>
                <a:cs typeface="Calibri"/>
              </a:rPr>
              <a:t>process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Stakeholder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register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Stakeholder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management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strategy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2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20" dirty="0">
                <a:latin typeface="Calibri"/>
                <a:cs typeface="Calibri"/>
              </a:rPr>
              <a:t>Communication</a:t>
            </a:r>
            <a:r>
              <a:rPr sz="1400" spc="5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plan-</a:t>
            </a:r>
            <a:endParaRPr sz="1400" dirty="0">
              <a:latin typeface="Calibri"/>
              <a:cs typeface="Calibri"/>
            </a:endParaRPr>
          </a:p>
          <a:p>
            <a:pPr marL="697865" lvl="1" indent="-227965">
              <a:lnSpc>
                <a:spcPts val="1305"/>
              </a:lnSpc>
              <a:buFont typeface="Arial"/>
              <a:buChar char="•"/>
              <a:tabLst>
                <a:tab pos="697865" algn="l"/>
              </a:tabLst>
            </a:pPr>
            <a:r>
              <a:rPr sz="1200" i="1" spc="-20" dirty="0">
                <a:latin typeface="Calibri"/>
                <a:cs typeface="Calibri"/>
              </a:rPr>
              <a:t>template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(agenda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-10" dirty="0">
                <a:latin typeface="Calibri"/>
                <a:cs typeface="Calibri"/>
              </a:rPr>
              <a:t> minutes)</a:t>
            </a:r>
            <a:r>
              <a:rPr sz="1200" i="1" spc="-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for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team,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mentor, </a:t>
            </a:r>
            <a:r>
              <a:rPr sz="1200" i="1" dirty="0">
                <a:latin typeface="Calibri"/>
                <a:cs typeface="Calibri"/>
              </a:rPr>
              <a:t>client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meetings),</a:t>
            </a:r>
            <a:endParaRPr sz="1200" dirty="0">
              <a:latin typeface="Calibri"/>
              <a:cs typeface="Calibri"/>
            </a:endParaRPr>
          </a:p>
          <a:p>
            <a:pPr marL="697865" lvl="1" indent="-227965">
              <a:lnSpc>
                <a:spcPts val="1300"/>
              </a:lnSpc>
              <a:buFont typeface="Arial"/>
              <a:buChar char="•"/>
              <a:tabLst>
                <a:tab pos="697865" algn="l"/>
              </a:tabLst>
            </a:pPr>
            <a:r>
              <a:rPr sz="1200" i="1" spc="-20" dirty="0">
                <a:latin typeface="Calibri"/>
                <a:cs typeface="Calibri"/>
              </a:rPr>
              <a:t>Off-</a:t>
            </a:r>
            <a:r>
              <a:rPr sz="1200" i="1" dirty="0">
                <a:latin typeface="Calibri"/>
                <a:cs typeface="Calibri"/>
              </a:rPr>
              <a:t>site</a:t>
            </a:r>
            <a:r>
              <a:rPr sz="1200" i="1" spc="-7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(R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&amp;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D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lab)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schedule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for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semester</a:t>
            </a:r>
            <a:r>
              <a:rPr sz="1200" i="1" spc="-45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(12-</a:t>
            </a:r>
            <a:r>
              <a:rPr sz="1200" i="1" dirty="0">
                <a:latin typeface="Calibri"/>
                <a:cs typeface="Calibri"/>
              </a:rPr>
              <a:t>15 hours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per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week)</a:t>
            </a:r>
            <a:endParaRPr sz="1200" dirty="0">
              <a:latin typeface="Calibri"/>
              <a:cs typeface="Calibri"/>
            </a:endParaRPr>
          </a:p>
          <a:p>
            <a:pPr marL="697865" lvl="1" indent="-227965">
              <a:lnSpc>
                <a:spcPts val="1295"/>
              </a:lnSpc>
              <a:buFont typeface="Arial"/>
              <a:buChar char="•"/>
              <a:tabLst>
                <a:tab pos="697865" algn="l"/>
              </a:tabLst>
            </a:pPr>
            <a:r>
              <a:rPr sz="1200" i="1" spc="-10" dirty="0">
                <a:latin typeface="Calibri"/>
                <a:cs typeface="Calibri"/>
              </a:rPr>
              <a:t>Mentor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meeting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schedule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for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 </a:t>
            </a:r>
            <a:r>
              <a:rPr sz="1200" i="1" spc="-10" dirty="0">
                <a:latin typeface="Calibri"/>
                <a:cs typeface="Calibri"/>
              </a:rPr>
              <a:t>semester</a:t>
            </a:r>
            <a:endParaRPr sz="1200" dirty="0">
              <a:latin typeface="Calibri"/>
              <a:cs typeface="Calibri"/>
            </a:endParaRPr>
          </a:p>
          <a:p>
            <a:pPr marL="697865" lvl="1" indent="-227965">
              <a:lnSpc>
                <a:spcPts val="1300"/>
              </a:lnSpc>
              <a:buFont typeface="Arial"/>
              <a:buChar char="•"/>
              <a:tabLst>
                <a:tab pos="697865" algn="l"/>
              </a:tabLst>
            </a:pPr>
            <a:r>
              <a:rPr sz="1200" i="1" dirty="0">
                <a:latin typeface="Calibri"/>
                <a:cs typeface="Calibri"/>
              </a:rPr>
              <a:t>Client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meeting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schedule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&amp;</a:t>
            </a:r>
            <a:r>
              <a:rPr sz="1200" i="1" spc="-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project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updates</a:t>
            </a:r>
            <a:r>
              <a:rPr sz="1200" i="1" spc="-45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(status)</a:t>
            </a:r>
            <a:r>
              <a:rPr sz="1200" i="1" spc="-7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for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semester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ts val="1845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Feasibility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study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document</a:t>
            </a:r>
            <a:r>
              <a:rPr sz="1400" spc="10" dirty="0">
                <a:latin typeface="Calibri"/>
                <a:cs typeface="Calibri"/>
              </a:rPr>
              <a:t> </a:t>
            </a:r>
            <a:r>
              <a:rPr sz="1600" b="1" spc="-20" dirty="0">
                <a:latin typeface="Calibri"/>
                <a:cs typeface="Calibri"/>
              </a:rPr>
              <a:t>(</a:t>
            </a:r>
            <a:r>
              <a:rPr sz="1200" b="1" spc="-20" dirty="0">
                <a:latin typeface="Calibri"/>
                <a:cs typeface="Calibri"/>
              </a:rPr>
              <a:t>technical,</a:t>
            </a:r>
            <a:r>
              <a:rPr sz="1200" b="1" spc="-10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operational,</a:t>
            </a:r>
            <a:r>
              <a:rPr sz="1200" b="1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economic,</a:t>
            </a:r>
            <a:r>
              <a:rPr sz="1200" b="1" dirty="0">
                <a:latin typeface="Calibri"/>
                <a:cs typeface="Calibri"/>
              </a:rPr>
              <a:t> &amp;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dirty="0">
                <a:latin typeface="Calibri"/>
                <a:cs typeface="Calibri"/>
              </a:rPr>
              <a:t>schedule</a:t>
            </a:r>
            <a:r>
              <a:rPr sz="1200" b="1" spc="-15" dirty="0">
                <a:latin typeface="Calibri"/>
                <a:cs typeface="Calibri"/>
              </a:rPr>
              <a:t> </a:t>
            </a:r>
            <a:r>
              <a:rPr sz="1200" b="1" spc="-10" dirty="0">
                <a:latin typeface="Calibri"/>
                <a:cs typeface="Calibri"/>
              </a:rPr>
              <a:t>feasibility-</a:t>
            </a:r>
            <a:r>
              <a:rPr sz="1200" b="1" spc="-55" dirty="0">
                <a:latin typeface="Calibri"/>
                <a:cs typeface="Calibri"/>
              </a:rPr>
              <a:t> </a:t>
            </a:r>
            <a:r>
              <a:rPr sz="1200" b="1" spc="-20" dirty="0">
                <a:latin typeface="Calibri"/>
                <a:cs typeface="Calibri"/>
              </a:rPr>
              <a:t>fact-</a:t>
            </a:r>
            <a:r>
              <a:rPr sz="1200" b="1" spc="-10" dirty="0">
                <a:latin typeface="Calibri"/>
                <a:cs typeface="Calibri"/>
              </a:rPr>
              <a:t>finding)</a:t>
            </a:r>
            <a:endParaRPr sz="1200" dirty="0">
              <a:latin typeface="Calibri"/>
              <a:cs typeface="Calibri"/>
            </a:endParaRPr>
          </a:p>
          <a:p>
            <a:pPr marL="697865" marR="45720" lvl="1" indent="-228600">
              <a:lnSpc>
                <a:spcPct val="90400"/>
              </a:lnSpc>
              <a:spcBef>
                <a:spcPts val="125"/>
              </a:spcBef>
              <a:buFont typeface="Arial"/>
              <a:buChar char="•"/>
              <a:tabLst>
                <a:tab pos="697865" algn="l"/>
              </a:tabLst>
            </a:pPr>
            <a:r>
              <a:rPr sz="1200" i="1" dirty="0">
                <a:latin typeface="Calibri"/>
                <a:cs typeface="Calibri"/>
              </a:rPr>
              <a:t>Will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help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identify</a:t>
            </a:r>
            <a:r>
              <a:rPr sz="1200" i="1" spc="-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-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justify</a:t>
            </a:r>
            <a:r>
              <a:rPr sz="1200" i="1" spc="-5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issue/opportunity-</a:t>
            </a:r>
            <a:r>
              <a:rPr sz="1200" i="1" spc="-10" dirty="0">
                <a:latin typeface="Calibri"/>
                <a:cs typeface="Calibri"/>
              </a:rPr>
              <a:t>(rationale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for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project) , identify</a:t>
            </a:r>
            <a:r>
              <a:rPr sz="1200" i="1" spc="-5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project</a:t>
            </a:r>
            <a:r>
              <a:rPr sz="1200" i="1" spc="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scope,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long </a:t>
            </a:r>
            <a:r>
              <a:rPr sz="1200" i="1" dirty="0">
                <a:latin typeface="Calibri"/>
                <a:cs typeface="Calibri"/>
              </a:rPr>
              <a:t>and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short-</a:t>
            </a:r>
            <a:r>
              <a:rPr sz="1200" i="1" spc="-10" dirty="0">
                <a:latin typeface="Calibri"/>
                <a:cs typeface="Calibri"/>
              </a:rPr>
              <a:t>term</a:t>
            </a:r>
            <a:r>
              <a:rPr sz="1200" i="1" spc="-5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benefits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of</a:t>
            </a:r>
            <a:r>
              <a:rPr sz="1200" i="1" spc="-2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proposed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solution,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spc="-10" dirty="0">
                <a:latin typeface="Calibri"/>
                <a:cs typeface="Calibri"/>
              </a:rPr>
              <a:t>identify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all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stakeholders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(client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side)</a:t>
            </a:r>
            <a:r>
              <a:rPr sz="1200" i="1" spc="-1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impacted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by</a:t>
            </a:r>
            <a:r>
              <a:rPr sz="1200" i="1" spc="-20" dirty="0">
                <a:latin typeface="Calibri"/>
                <a:cs typeface="Calibri"/>
              </a:rPr>
              <a:t> </a:t>
            </a:r>
            <a:r>
              <a:rPr sz="1200" i="1" spc="-25" dirty="0">
                <a:latin typeface="Calibri"/>
                <a:cs typeface="Calibri"/>
              </a:rPr>
              <a:t>the </a:t>
            </a:r>
            <a:r>
              <a:rPr sz="1200" i="1" dirty="0">
                <a:latin typeface="Calibri"/>
                <a:cs typeface="Calibri"/>
              </a:rPr>
              <a:t>project,</a:t>
            </a:r>
            <a:r>
              <a:rPr sz="1200" i="1" spc="-40" dirty="0">
                <a:latin typeface="Calibri"/>
                <a:cs typeface="Calibri"/>
              </a:rPr>
              <a:t> </a:t>
            </a:r>
            <a:r>
              <a:rPr sz="1200" i="1" spc="-20" dirty="0">
                <a:latin typeface="Calibri"/>
                <a:cs typeface="Calibri"/>
              </a:rPr>
              <a:t>infrastructure</a:t>
            </a:r>
            <a:r>
              <a:rPr sz="1200" i="1" spc="-5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&amp;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skills</a:t>
            </a:r>
            <a:r>
              <a:rPr sz="1200" i="1" spc="-30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needed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to</a:t>
            </a:r>
            <a:r>
              <a:rPr sz="1200" i="1" spc="-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deliver</a:t>
            </a:r>
            <a:r>
              <a:rPr sz="1200" i="1" spc="-1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the</a:t>
            </a:r>
            <a:r>
              <a:rPr sz="1200" i="1" spc="-3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project,</a:t>
            </a:r>
            <a:r>
              <a:rPr sz="1200" i="1" spc="245" dirty="0">
                <a:latin typeface="Calibri"/>
                <a:cs typeface="Calibri"/>
              </a:rPr>
              <a:t> </a:t>
            </a:r>
            <a:r>
              <a:rPr sz="1200" i="1" dirty="0">
                <a:latin typeface="Calibri"/>
                <a:cs typeface="Calibri"/>
              </a:rPr>
              <a:t>risks</a:t>
            </a:r>
            <a:r>
              <a:rPr sz="1200" i="1" spc="-20" dirty="0">
                <a:latin typeface="Calibri"/>
                <a:cs typeface="Calibri"/>
              </a:rPr>
              <a:t> etc.</a:t>
            </a:r>
            <a:endParaRPr sz="1200" dirty="0">
              <a:latin typeface="Calibri"/>
              <a:cs typeface="Calibri"/>
            </a:endParaRPr>
          </a:p>
          <a:p>
            <a:pPr marL="240665" indent="-227965">
              <a:lnSpc>
                <a:spcPts val="1355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20" dirty="0">
                <a:latin typeface="Calibri"/>
                <a:cs typeface="Calibri"/>
              </a:rPr>
              <a:t>Requirements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document</a:t>
            </a:r>
            <a:r>
              <a:rPr sz="1400" spc="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(capture</a:t>
            </a:r>
            <a:r>
              <a:rPr sz="1400" i="1" spc="-40" dirty="0">
                <a:latin typeface="Calibri"/>
                <a:cs typeface="Calibri"/>
              </a:rPr>
              <a:t> </a:t>
            </a:r>
            <a:r>
              <a:rPr sz="1400" i="1" dirty="0">
                <a:latin typeface="Calibri"/>
                <a:cs typeface="Calibri"/>
              </a:rPr>
              <a:t>all</a:t>
            </a:r>
            <a:r>
              <a:rPr sz="1400" i="1" spc="-10" dirty="0">
                <a:latin typeface="Calibri"/>
                <a:cs typeface="Calibri"/>
              </a:rPr>
              <a:t> possible</a:t>
            </a:r>
            <a:r>
              <a:rPr sz="1400" i="1" spc="-60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high-</a:t>
            </a:r>
            <a:r>
              <a:rPr sz="1400" i="1" dirty="0">
                <a:latin typeface="Calibri"/>
                <a:cs typeface="Calibri"/>
              </a:rPr>
              <a:t>level</a:t>
            </a:r>
            <a:r>
              <a:rPr sz="1400" i="1" spc="-2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requirements)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35"/>
              </a:lnSpc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Scope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statement</a:t>
            </a:r>
            <a:r>
              <a:rPr sz="1400" spc="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document-</a:t>
            </a:r>
            <a:r>
              <a:rPr sz="1400" spc="25" dirty="0">
                <a:latin typeface="Calibri"/>
                <a:cs typeface="Calibri"/>
              </a:rPr>
              <a:t> </a:t>
            </a:r>
            <a:r>
              <a:rPr sz="1400" i="1" spc="-25" dirty="0">
                <a:latin typeface="Calibri"/>
                <a:cs typeface="Calibri"/>
              </a:rPr>
              <a:t>functional/non-</a:t>
            </a:r>
            <a:r>
              <a:rPr sz="1400" i="1" spc="-10" dirty="0">
                <a:latin typeface="Calibri"/>
                <a:cs typeface="Calibri"/>
              </a:rPr>
              <a:t>functional/regulatory</a:t>
            </a:r>
            <a:r>
              <a:rPr sz="1400" i="1" spc="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requirements;</a:t>
            </a:r>
            <a:endParaRPr sz="1400" dirty="0">
              <a:latin typeface="Calibri"/>
              <a:cs typeface="Calibri"/>
            </a:endParaRPr>
          </a:p>
          <a:p>
            <a:pPr marL="241300">
              <a:lnSpc>
                <a:spcPts val="1465"/>
              </a:lnSpc>
            </a:pPr>
            <a:r>
              <a:rPr sz="1400" i="1" spc="-10" dirty="0">
                <a:latin typeface="Calibri"/>
                <a:cs typeface="Calibri"/>
              </a:rPr>
              <a:t>project/product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deliverables;</a:t>
            </a:r>
            <a:r>
              <a:rPr sz="1400" i="1" spc="-1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project</a:t>
            </a:r>
            <a:r>
              <a:rPr sz="1400" i="1" spc="-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success</a:t>
            </a:r>
            <a:r>
              <a:rPr sz="1400" i="1" spc="5" dirty="0">
                <a:latin typeface="Calibri"/>
                <a:cs typeface="Calibri"/>
              </a:rPr>
              <a:t> </a:t>
            </a:r>
            <a:r>
              <a:rPr sz="1400" i="1" spc="-10" dirty="0">
                <a:latin typeface="Calibri"/>
                <a:cs typeface="Calibri"/>
              </a:rPr>
              <a:t>criteria)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455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WBS-</a:t>
            </a:r>
            <a:r>
              <a:rPr sz="1400" spc="-9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Approach/Method</a:t>
            </a:r>
            <a:r>
              <a:rPr sz="1400" spc="1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including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individual</a:t>
            </a:r>
            <a:r>
              <a:rPr sz="1400" spc="-2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practices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49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Project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schedule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Milestone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Report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20" dirty="0">
                <a:latin typeface="Calibri"/>
                <a:cs typeface="Calibri"/>
              </a:rPr>
              <a:t>Document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that</a:t>
            </a:r>
            <a:r>
              <a:rPr sz="1400" spc="-20" dirty="0">
                <a:latin typeface="Calibri"/>
                <a:cs typeface="Calibri"/>
              </a:rPr>
              <a:t> identifies</a:t>
            </a:r>
            <a:r>
              <a:rPr sz="1400" spc="-1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required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technical</a:t>
            </a:r>
            <a:r>
              <a:rPr sz="1400" spc="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infrastructure, </a:t>
            </a:r>
            <a:r>
              <a:rPr sz="1400" spc="-10" dirty="0">
                <a:latin typeface="Calibri"/>
                <a:cs typeface="Calibri"/>
              </a:rPr>
              <a:t>roles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and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skills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to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deliver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the</a:t>
            </a:r>
            <a:r>
              <a:rPr sz="1400" spc="-4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project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Adopted</a:t>
            </a:r>
            <a:r>
              <a:rPr sz="1400" spc="-4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team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roles</a:t>
            </a:r>
            <a:r>
              <a:rPr sz="1400" spc="-65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&amp;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tasks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30" dirty="0">
                <a:latin typeface="Calibri"/>
                <a:cs typeface="Calibri"/>
              </a:rPr>
              <a:t>Team</a:t>
            </a:r>
            <a:r>
              <a:rPr sz="1400" spc="-7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skills</a:t>
            </a:r>
            <a:r>
              <a:rPr sz="1400" spc="-25" dirty="0">
                <a:latin typeface="Calibri"/>
                <a:cs typeface="Calibri"/>
              </a:rPr>
              <a:t> </a:t>
            </a:r>
            <a:r>
              <a:rPr sz="1400" spc="-35" dirty="0">
                <a:latin typeface="Calibri"/>
                <a:cs typeface="Calibri"/>
              </a:rPr>
              <a:t>register,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including</a:t>
            </a:r>
            <a:r>
              <a:rPr sz="1400" spc="29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missing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skills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25" dirty="0">
                <a:latin typeface="Calibri"/>
                <a:cs typeface="Calibri"/>
              </a:rPr>
              <a:t>Training</a:t>
            </a:r>
            <a:r>
              <a:rPr sz="1400" spc="-1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plan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Change</a:t>
            </a:r>
            <a:r>
              <a:rPr sz="1400" spc="-20" dirty="0">
                <a:latin typeface="Calibri"/>
                <a:cs typeface="Calibri"/>
              </a:rPr>
              <a:t> management</a:t>
            </a:r>
            <a:r>
              <a:rPr sz="1400" spc="-5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plan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Quality</a:t>
            </a:r>
            <a:r>
              <a:rPr sz="1400" spc="-7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assurance</a:t>
            </a:r>
            <a:r>
              <a:rPr sz="1400" spc="-6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plan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00"/>
              </a:lnSpc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Risk</a:t>
            </a:r>
            <a:r>
              <a:rPr sz="1400" spc="-5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register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550"/>
              </a:lnSpc>
              <a:buFont typeface="Arial"/>
              <a:buChar char="•"/>
              <a:tabLst>
                <a:tab pos="240665" algn="l"/>
              </a:tabLst>
            </a:pPr>
            <a:r>
              <a:rPr sz="1400" dirty="0">
                <a:latin typeface="Calibri"/>
                <a:cs typeface="Calibri"/>
              </a:rPr>
              <a:t>Issue</a:t>
            </a:r>
            <a:r>
              <a:rPr sz="1400" spc="-50" dirty="0">
                <a:latin typeface="Calibri"/>
                <a:cs typeface="Calibri"/>
              </a:rPr>
              <a:t> </a:t>
            </a:r>
            <a:r>
              <a:rPr sz="1400" dirty="0">
                <a:latin typeface="Calibri"/>
                <a:cs typeface="Calibri"/>
              </a:rPr>
              <a:t>log</a:t>
            </a:r>
            <a:r>
              <a:rPr sz="1400" spc="-80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register</a:t>
            </a:r>
            <a:endParaRPr sz="1400" dirty="0">
              <a:latin typeface="Calibri"/>
              <a:cs typeface="Calibri"/>
            </a:endParaRPr>
          </a:p>
          <a:p>
            <a:pPr marL="240665" indent="-227965">
              <a:lnSpc>
                <a:spcPts val="1639"/>
              </a:lnSpc>
              <a:buFont typeface="Arial"/>
              <a:buChar char="•"/>
              <a:tabLst>
                <a:tab pos="240665" algn="l"/>
              </a:tabLst>
            </a:pPr>
            <a:r>
              <a:rPr sz="1400" spc="-10" dirty="0">
                <a:latin typeface="Calibri"/>
                <a:cs typeface="Calibri"/>
              </a:rPr>
              <a:t>Project</a:t>
            </a:r>
            <a:r>
              <a:rPr sz="1400" spc="-35" dirty="0">
                <a:latin typeface="Calibri"/>
                <a:cs typeface="Calibri"/>
              </a:rPr>
              <a:t> </a:t>
            </a:r>
            <a:r>
              <a:rPr sz="1400" spc="-10" dirty="0">
                <a:latin typeface="Calibri"/>
                <a:cs typeface="Calibri"/>
              </a:rPr>
              <a:t>review</a:t>
            </a:r>
            <a:r>
              <a:rPr sz="1400" spc="-30" dirty="0">
                <a:latin typeface="Calibri"/>
                <a:cs typeface="Calibri"/>
              </a:rPr>
              <a:t> </a:t>
            </a:r>
            <a:r>
              <a:rPr sz="1400" spc="-20" dirty="0">
                <a:latin typeface="Calibri"/>
                <a:cs typeface="Calibri"/>
              </a:rPr>
              <a:t>plan</a:t>
            </a:r>
            <a:endParaRPr sz="1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1064463" y="1495120"/>
            <a:ext cx="6732905" cy="39179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114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for</a:t>
            </a:r>
            <a:r>
              <a:rPr sz="2400" spc="-9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the</a:t>
            </a:r>
            <a:r>
              <a:rPr sz="2400" spc="-11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week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once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you</a:t>
            </a:r>
            <a:r>
              <a:rPr sz="2400" spc="-90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know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your</a:t>
            </a:r>
            <a:r>
              <a:rPr sz="2400" spc="-80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project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spc="-20" dirty="0">
                <a:latin typeface="Calibri"/>
                <a:cs typeface="Calibri"/>
              </a:rPr>
              <a:t>team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304292"/>
            <a:ext cx="218694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1.</a:t>
            </a:r>
            <a:r>
              <a:rPr sz="2500" spc="-90" dirty="0"/>
              <a:t> </a:t>
            </a:r>
            <a:r>
              <a:rPr sz="2500" spc="-55" dirty="0"/>
              <a:t>Team</a:t>
            </a:r>
            <a:r>
              <a:rPr sz="2500" spc="-70" dirty="0"/>
              <a:t> </a:t>
            </a:r>
            <a:r>
              <a:rPr sz="2500" spc="-10" dirty="0"/>
              <a:t>meeting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173886" y="843788"/>
            <a:ext cx="7604125" cy="3913504"/>
          </a:xfrm>
          <a:prstGeom prst="rect">
            <a:avLst/>
          </a:prstGeom>
        </p:spPr>
        <p:txBody>
          <a:bodyPr vert="horz" wrap="square" lIns="0" tIns="34290" rIns="0" bIns="0" rtlCol="0">
            <a:spAutoFit/>
          </a:bodyPr>
          <a:lstStyle/>
          <a:p>
            <a:pPr marL="238760" marR="428625" indent="-226695" algn="just">
              <a:lnSpc>
                <a:spcPts val="2290"/>
              </a:lnSpc>
              <a:spcBef>
                <a:spcPts val="27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Have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kick-</a:t>
            </a:r>
            <a:r>
              <a:rPr sz="2000" dirty="0">
                <a:latin typeface="Calibri"/>
                <a:cs typeface="Calibri"/>
              </a:rPr>
              <a:t>off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meeting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get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to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know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each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other,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discuss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the 	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10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scope,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client,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mentor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&amp;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offsite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schedule,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etc.</a:t>
            </a:r>
            <a:endParaRPr sz="2000">
              <a:latin typeface="Calibri"/>
              <a:cs typeface="Calibri"/>
            </a:endParaRPr>
          </a:p>
          <a:p>
            <a:pPr marL="238760" marR="694055" indent="-226695" algn="just">
              <a:lnSpc>
                <a:spcPct val="91800"/>
              </a:lnSpc>
              <a:spcBef>
                <a:spcPts val="944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Select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manager.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Your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will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need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project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manager 	</a:t>
            </a:r>
            <a:r>
              <a:rPr sz="2000" dirty="0">
                <a:latin typeface="Calibri"/>
                <a:cs typeface="Calibri"/>
              </a:rPr>
              <a:t>(team</a:t>
            </a:r>
            <a:r>
              <a:rPr sz="2000" spc="-1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leader)-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coordination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communication.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40" dirty="0">
                <a:latin typeface="Calibri"/>
                <a:cs typeface="Calibri"/>
              </a:rPr>
              <a:t>However, </a:t>
            </a:r>
            <a:r>
              <a:rPr sz="2000" spc="-25" dirty="0">
                <a:latin typeface="Calibri"/>
                <a:cs typeface="Calibri"/>
              </a:rPr>
              <a:t>all 	decision-</a:t>
            </a:r>
            <a:r>
              <a:rPr sz="2000" spc="-10" dirty="0">
                <a:latin typeface="Calibri"/>
                <a:cs typeface="Calibri"/>
              </a:rPr>
              <a:t>making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must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collective</a:t>
            </a:r>
            <a:r>
              <a:rPr sz="2000" spc="-4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team</a:t>
            </a:r>
            <a:r>
              <a:rPr sz="2000" spc="-3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responsibility.</a:t>
            </a:r>
            <a:endParaRPr sz="2000">
              <a:latin typeface="Calibri"/>
              <a:cs typeface="Calibri"/>
            </a:endParaRPr>
          </a:p>
          <a:p>
            <a:pPr marL="239395" indent="-226695" algn="just">
              <a:lnSpc>
                <a:spcPct val="100000"/>
              </a:lnSpc>
              <a:spcBef>
                <a:spcPts val="700"/>
              </a:spcBef>
              <a:buClr>
                <a:srgbClr val="F5821F"/>
              </a:buClr>
              <a:buFont typeface="Arial"/>
              <a:buChar char="•"/>
              <a:tabLst>
                <a:tab pos="239395" algn="l"/>
              </a:tabLst>
            </a:pP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Write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up</a:t>
            </a:r>
            <a:r>
              <a:rPr sz="20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your</a:t>
            </a:r>
            <a:r>
              <a:rPr sz="20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</a:t>
            </a:r>
            <a:r>
              <a:rPr sz="2000" b="1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contract</a:t>
            </a:r>
            <a:endParaRPr sz="2000">
              <a:latin typeface="Calibri"/>
              <a:cs typeface="Calibri"/>
            </a:endParaRPr>
          </a:p>
          <a:p>
            <a:pPr marL="240665" marR="64135" indent="-228600">
              <a:lnSpc>
                <a:spcPct val="91700"/>
              </a:lnSpc>
              <a:spcBef>
                <a:spcPts val="10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Think</a:t>
            </a:r>
            <a:r>
              <a:rPr sz="2000" u="sng" spc="-8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about</a:t>
            </a:r>
            <a:r>
              <a:rPr sz="2000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2000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team</a:t>
            </a:r>
            <a:r>
              <a:rPr sz="2000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structure</a:t>
            </a:r>
            <a:r>
              <a:rPr sz="2000" u="none" spc="-20" dirty="0">
                <a:latin typeface="Calibri"/>
                <a:cs typeface="Calibri"/>
              </a:rPr>
              <a:t>-</a:t>
            </a:r>
            <a:r>
              <a:rPr sz="2000" u="none" spc="-4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an</a:t>
            </a:r>
            <a:r>
              <a:rPr sz="2000" u="none" spc="-7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appropriate</a:t>
            </a:r>
            <a:r>
              <a:rPr sz="2000" u="none" spc="-55" dirty="0">
                <a:latin typeface="Calibri"/>
                <a:cs typeface="Calibri"/>
              </a:rPr>
              <a:t> </a:t>
            </a:r>
            <a:r>
              <a:rPr sz="2000" u="none" spc="-10" dirty="0">
                <a:latin typeface="Calibri"/>
                <a:cs typeface="Calibri"/>
              </a:rPr>
              <a:t>structure</a:t>
            </a:r>
            <a:r>
              <a:rPr sz="2000" u="none" spc="-7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must</a:t>
            </a:r>
            <a:r>
              <a:rPr sz="2000" u="none" spc="-70" dirty="0">
                <a:latin typeface="Calibri"/>
                <a:cs typeface="Calibri"/>
              </a:rPr>
              <a:t> </a:t>
            </a:r>
            <a:r>
              <a:rPr sz="2000" u="none" spc="-25" dirty="0">
                <a:latin typeface="Calibri"/>
                <a:cs typeface="Calibri"/>
              </a:rPr>
              <a:t>be </a:t>
            </a:r>
            <a:r>
              <a:rPr sz="2000" u="none" dirty="0">
                <a:latin typeface="Calibri"/>
                <a:cs typeface="Calibri"/>
              </a:rPr>
              <a:t>adopted</a:t>
            </a:r>
            <a:r>
              <a:rPr sz="2000" u="none" spc="-5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once</a:t>
            </a:r>
            <a:r>
              <a:rPr sz="2000" u="none" spc="-9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a</a:t>
            </a:r>
            <a:r>
              <a:rPr sz="2000" u="none" spc="-4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good</a:t>
            </a:r>
            <a:r>
              <a:rPr sz="2000" u="none" spc="-90" dirty="0">
                <a:latin typeface="Calibri"/>
                <a:cs typeface="Calibri"/>
              </a:rPr>
              <a:t> </a:t>
            </a:r>
            <a:r>
              <a:rPr sz="2000" u="none" spc="-20" dirty="0">
                <a:latin typeface="Calibri"/>
                <a:cs typeface="Calibri"/>
              </a:rPr>
              <a:t>understanding</a:t>
            </a:r>
            <a:r>
              <a:rPr sz="2000" u="none" spc="-6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is</a:t>
            </a:r>
            <a:r>
              <a:rPr sz="2000" u="none" spc="-3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gained</a:t>
            </a:r>
            <a:r>
              <a:rPr sz="2000" u="none" spc="-3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of</a:t>
            </a:r>
            <a:r>
              <a:rPr sz="2000" u="none" spc="-7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the</a:t>
            </a:r>
            <a:r>
              <a:rPr sz="2000" u="none" spc="-3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project</a:t>
            </a:r>
            <a:r>
              <a:rPr sz="2000" u="none" spc="-55" dirty="0">
                <a:latin typeface="Calibri"/>
                <a:cs typeface="Calibri"/>
              </a:rPr>
              <a:t> </a:t>
            </a:r>
            <a:r>
              <a:rPr sz="2000" u="none" spc="-10" dirty="0">
                <a:latin typeface="Calibri"/>
                <a:cs typeface="Calibri"/>
              </a:rPr>
              <a:t>scope, </a:t>
            </a:r>
            <a:r>
              <a:rPr sz="2000" u="none" spc="-30" dirty="0">
                <a:latin typeface="Calibri"/>
                <a:cs typeface="Calibri"/>
              </a:rPr>
              <a:t>stakeholders,</a:t>
            </a:r>
            <a:r>
              <a:rPr sz="2000" u="none" spc="-1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method,</a:t>
            </a:r>
            <a:r>
              <a:rPr sz="2000" u="none" spc="-7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and</a:t>
            </a:r>
            <a:r>
              <a:rPr sz="2000" u="none" spc="-70" dirty="0">
                <a:latin typeface="Calibri"/>
                <a:cs typeface="Calibri"/>
              </a:rPr>
              <a:t> </a:t>
            </a:r>
            <a:r>
              <a:rPr sz="2000" u="none" spc="-20" dirty="0">
                <a:latin typeface="Calibri"/>
                <a:cs typeface="Calibri"/>
              </a:rPr>
              <a:t>practices</a:t>
            </a:r>
            <a:r>
              <a:rPr sz="2000" u="none" spc="-5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[WBS]).</a:t>
            </a:r>
            <a:r>
              <a:rPr sz="2000" u="none" spc="-10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This</a:t>
            </a:r>
            <a:r>
              <a:rPr sz="2000" u="none" spc="-5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may</a:t>
            </a:r>
            <a:r>
              <a:rPr sz="2000" u="none" spc="-85" dirty="0">
                <a:latin typeface="Calibri"/>
                <a:cs typeface="Calibri"/>
              </a:rPr>
              <a:t> </a:t>
            </a:r>
            <a:r>
              <a:rPr sz="2000" u="none" spc="-10" dirty="0">
                <a:latin typeface="Calibri"/>
                <a:cs typeface="Calibri"/>
              </a:rPr>
              <a:t>take</a:t>
            </a:r>
            <a:r>
              <a:rPr sz="2000" u="none" spc="-7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a</a:t>
            </a:r>
            <a:r>
              <a:rPr sz="2000" u="none" spc="-65" dirty="0">
                <a:latin typeface="Calibri"/>
                <a:cs typeface="Calibri"/>
              </a:rPr>
              <a:t> </a:t>
            </a:r>
            <a:r>
              <a:rPr sz="2000" u="none" spc="-10" dirty="0">
                <a:latin typeface="Calibri"/>
                <a:cs typeface="Calibri"/>
              </a:rPr>
              <a:t>few</a:t>
            </a:r>
            <a:r>
              <a:rPr sz="2000" u="none" spc="-80" dirty="0">
                <a:latin typeface="Calibri"/>
                <a:cs typeface="Calibri"/>
              </a:rPr>
              <a:t> </a:t>
            </a:r>
            <a:r>
              <a:rPr sz="2000" u="none" spc="-10" dirty="0">
                <a:latin typeface="Calibri"/>
                <a:cs typeface="Calibri"/>
              </a:rPr>
              <a:t>weeks </a:t>
            </a:r>
            <a:r>
              <a:rPr sz="2000" u="none" dirty="0">
                <a:latin typeface="Calibri"/>
                <a:cs typeface="Calibri"/>
              </a:rPr>
              <a:t>to</a:t>
            </a:r>
            <a:r>
              <a:rPr sz="2000" u="none" spc="-65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sort</a:t>
            </a:r>
            <a:r>
              <a:rPr sz="2000" u="none" spc="-35" dirty="0">
                <a:latin typeface="Calibri"/>
                <a:cs typeface="Calibri"/>
              </a:rPr>
              <a:t> </a:t>
            </a:r>
            <a:r>
              <a:rPr sz="2000" u="none" spc="-20" dirty="0">
                <a:latin typeface="Calibri"/>
                <a:cs typeface="Calibri"/>
              </a:rPr>
              <a:t>out.</a:t>
            </a:r>
            <a:endParaRPr sz="2000">
              <a:latin typeface="Calibri"/>
              <a:cs typeface="Calibri"/>
            </a:endParaRPr>
          </a:p>
          <a:p>
            <a:pPr marL="240665" marR="5080" indent="-228600">
              <a:lnSpc>
                <a:spcPts val="2210"/>
              </a:lnSpc>
              <a:spcBef>
                <a:spcPts val="102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Any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(job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expectations</a:t>
            </a:r>
            <a:r>
              <a:rPr sz="2000" spc="-3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and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tasks)</a:t>
            </a:r>
            <a:r>
              <a:rPr sz="2000" spc="40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would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12</a:t>
            </a:r>
            <a:r>
              <a:rPr sz="2000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20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15</a:t>
            </a:r>
            <a:r>
              <a:rPr sz="2000" u="sng" spc="-7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20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hours</a:t>
            </a:r>
            <a:r>
              <a:rPr sz="2000" u="none" spc="-1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of</a:t>
            </a:r>
            <a:r>
              <a:rPr sz="2000" u="none" spc="-5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work</a:t>
            </a:r>
            <a:r>
              <a:rPr sz="2000" u="none" spc="-40" dirty="0">
                <a:latin typeface="Calibri"/>
                <a:cs typeface="Calibri"/>
              </a:rPr>
              <a:t> </a:t>
            </a:r>
            <a:r>
              <a:rPr sz="2000" u="none" dirty="0">
                <a:latin typeface="Calibri"/>
                <a:cs typeface="Calibri"/>
              </a:rPr>
              <a:t>per</a:t>
            </a:r>
            <a:r>
              <a:rPr sz="2000" u="none" spc="-50" dirty="0">
                <a:latin typeface="Calibri"/>
                <a:cs typeface="Calibri"/>
              </a:rPr>
              <a:t> </a:t>
            </a:r>
            <a:r>
              <a:rPr sz="2000" u="none" spc="-20" dirty="0">
                <a:latin typeface="Calibri"/>
                <a:cs typeface="Calibri"/>
              </a:rPr>
              <a:t>week</a:t>
            </a:r>
            <a:endParaRPr sz="20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78788" y="193039"/>
            <a:ext cx="483108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/>
              <a:t>Look</a:t>
            </a:r>
            <a:r>
              <a:rPr sz="2000" spc="-65" dirty="0"/>
              <a:t> </a:t>
            </a:r>
            <a:r>
              <a:rPr sz="2000" dirty="0"/>
              <a:t>into</a:t>
            </a:r>
            <a:r>
              <a:rPr sz="2000" spc="-75" dirty="0"/>
              <a:t> </a:t>
            </a:r>
            <a:r>
              <a:rPr sz="2000" dirty="0"/>
              <a:t>industry</a:t>
            </a:r>
            <a:r>
              <a:rPr sz="2000" spc="-100" dirty="0"/>
              <a:t> </a:t>
            </a:r>
            <a:r>
              <a:rPr sz="2000" dirty="0"/>
              <a:t>roles</a:t>
            </a:r>
            <a:r>
              <a:rPr sz="2000" spc="-45" dirty="0"/>
              <a:t> </a:t>
            </a:r>
            <a:r>
              <a:rPr sz="2000" dirty="0"/>
              <a:t>for</a:t>
            </a:r>
            <a:r>
              <a:rPr sz="2000" spc="-50" dirty="0"/>
              <a:t> </a:t>
            </a:r>
            <a:r>
              <a:rPr sz="2000" dirty="0"/>
              <a:t>your</a:t>
            </a:r>
            <a:r>
              <a:rPr sz="2000" spc="-40" dirty="0"/>
              <a:t> </a:t>
            </a:r>
            <a:r>
              <a:rPr sz="2000" dirty="0"/>
              <a:t>R</a:t>
            </a:r>
            <a:r>
              <a:rPr sz="2000" spc="-55" dirty="0"/>
              <a:t> </a:t>
            </a:r>
            <a:r>
              <a:rPr sz="2000" dirty="0"/>
              <a:t>&amp;</a:t>
            </a:r>
            <a:r>
              <a:rPr sz="2000" spc="-55" dirty="0"/>
              <a:t> </a:t>
            </a:r>
            <a:r>
              <a:rPr sz="2000" dirty="0"/>
              <a:t>D</a:t>
            </a:r>
            <a:r>
              <a:rPr sz="2000" spc="-50" dirty="0"/>
              <a:t> </a:t>
            </a:r>
            <a:r>
              <a:rPr sz="2000" spc="-10" dirty="0"/>
              <a:t>project</a:t>
            </a:r>
            <a:endParaRPr sz="2000"/>
          </a:p>
        </p:txBody>
      </p:sp>
      <p:sp>
        <p:nvSpPr>
          <p:cNvPr id="3" name="object 3"/>
          <p:cNvSpPr txBox="1"/>
          <p:nvPr/>
        </p:nvSpPr>
        <p:spPr>
          <a:xfrm>
            <a:off x="1173886" y="768807"/>
            <a:ext cx="7513320" cy="258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240665" indent="-227965">
              <a:lnSpc>
                <a:spcPts val="2305"/>
              </a:lnSpc>
              <a:spcBef>
                <a:spcPts val="10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dirty="0">
                <a:latin typeface="Calibri"/>
                <a:cs typeface="Calibri"/>
              </a:rPr>
              <a:t>Based</a:t>
            </a:r>
            <a:r>
              <a:rPr sz="2000" spc="-5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your</a:t>
            </a:r>
            <a:r>
              <a:rPr sz="2000" spc="-9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Major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what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industry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role</a:t>
            </a:r>
            <a:r>
              <a:rPr sz="2000" spc="-4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are</a:t>
            </a:r>
            <a:r>
              <a:rPr sz="2000" spc="-6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you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spc="-20" dirty="0">
                <a:latin typeface="Calibri"/>
                <a:cs typeface="Calibri"/>
              </a:rPr>
              <a:t>targeting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when</a:t>
            </a:r>
            <a:r>
              <a:rPr sz="2000" spc="-70" dirty="0">
                <a:latin typeface="Calibri"/>
                <a:cs typeface="Calibri"/>
              </a:rPr>
              <a:t> </a:t>
            </a:r>
            <a:r>
              <a:rPr sz="2000" spc="-25" dirty="0">
                <a:latin typeface="Calibri"/>
                <a:cs typeface="Calibri"/>
              </a:rPr>
              <a:t>you</a:t>
            </a:r>
            <a:endParaRPr sz="2000" dirty="0">
              <a:latin typeface="Calibri"/>
              <a:cs typeface="Calibri"/>
            </a:endParaRPr>
          </a:p>
          <a:p>
            <a:pPr marL="240665">
              <a:lnSpc>
                <a:spcPts val="2305"/>
              </a:lnSpc>
            </a:pPr>
            <a:r>
              <a:rPr sz="2000" spc="-10" dirty="0">
                <a:latin typeface="Calibri"/>
                <a:cs typeface="Calibri"/>
              </a:rPr>
              <a:t>graduate?</a:t>
            </a:r>
            <a:endParaRPr sz="20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9"/>
              </a:spcBef>
              <a:buClr>
                <a:srgbClr val="F5821F"/>
              </a:buClr>
              <a:buChar char="-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lang="en-NZ" sz="1800" spc="-80" dirty="0">
                <a:latin typeface="Calibri"/>
                <a:cs typeface="Calibri"/>
              </a:rPr>
              <a:t>knowledge, </a:t>
            </a:r>
            <a:r>
              <a:rPr sz="1800" dirty="0">
                <a:latin typeface="Calibri"/>
                <a:cs typeface="Calibri"/>
              </a:rPr>
              <a:t>skills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requirements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tasks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associated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with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role</a:t>
            </a:r>
            <a:endParaRPr sz="1800" dirty="0">
              <a:latin typeface="Calibri"/>
              <a:cs typeface="Calibri"/>
            </a:endParaRPr>
          </a:p>
          <a:p>
            <a:pPr marL="697865" lvl="1" indent="-228600">
              <a:lnSpc>
                <a:spcPct val="100000"/>
              </a:lnSpc>
              <a:spcBef>
                <a:spcPts val="300"/>
              </a:spcBef>
              <a:buClr>
                <a:srgbClr val="F5821F"/>
              </a:buClr>
              <a:buChar char="-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Adopt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practice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much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possible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&amp;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project</a:t>
            </a:r>
            <a:endParaRPr sz="1800" dirty="0">
              <a:latin typeface="Calibri"/>
              <a:cs typeface="Calibri"/>
            </a:endParaRPr>
          </a:p>
          <a:p>
            <a:pPr marL="697865" lvl="1" indent="-228600">
              <a:lnSpc>
                <a:spcPts val="2030"/>
              </a:lnSpc>
              <a:spcBef>
                <a:spcPts val="240"/>
              </a:spcBef>
              <a:buClr>
                <a:srgbClr val="F5821F"/>
              </a:buClr>
              <a:buChar char="-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What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skills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do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now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role?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skills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missing</a:t>
            </a:r>
            <a:r>
              <a:rPr lang="en-NZ" sz="1800" dirty="0">
                <a:latin typeface="Calibri"/>
                <a:cs typeface="Calibri"/>
              </a:rPr>
              <a:t> for the project</a:t>
            </a:r>
            <a:r>
              <a:rPr sz="1800" dirty="0">
                <a:latin typeface="Calibri"/>
                <a:cs typeface="Calibri"/>
              </a:rPr>
              <a:t>?</a:t>
            </a:r>
            <a:r>
              <a:rPr sz="1800" spc="31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Hence,</a:t>
            </a:r>
            <a:endParaRPr sz="1800" dirty="0">
              <a:latin typeface="Calibri"/>
              <a:cs typeface="Calibri"/>
            </a:endParaRPr>
          </a:p>
          <a:p>
            <a:pPr marL="697865">
              <a:lnSpc>
                <a:spcPts val="2030"/>
              </a:lnSpc>
            </a:pP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skills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would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want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achieve.</a:t>
            </a:r>
            <a:endParaRPr sz="1800" dirty="0">
              <a:latin typeface="Calibri"/>
              <a:cs typeface="Calibri"/>
            </a:endParaRPr>
          </a:p>
          <a:p>
            <a:pPr marL="697865" marR="138430" lvl="1" indent="-228600">
              <a:lnSpc>
                <a:spcPts val="1910"/>
              </a:lnSpc>
              <a:spcBef>
                <a:spcPts val="509"/>
              </a:spcBef>
              <a:buClr>
                <a:srgbClr val="F5821F"/>
              </a:buClr>
              <a:buChar char="-"/>
              <a:tabLst>
                <a:tab pos="697865" algn="l"/>
              </a:tabLst>
            </a:pPr>
            <a:r>
              <a:rPr sz="1800" dirty="0">
                <a:latin typeface="Calibri"/>
                <a:cs typeface="Calibri"/>
              </a:rPr>
              <a:t>M/C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document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over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project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timeline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(two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semesters)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identify </a:t>
            </a:r>
            <a:r>
              <a:rPr sz="1800" dirty="0">
                <a:latin typeface="Calibri"/>
                <a:cs typeface="Calibri"/>
              </a:rPr>
              <a:t>what</a:t>
            </a:r>
            <a:r>
              <a:rPr sz="1800" spc="-9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achieved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did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not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achieve.</a:t>
            </a:r>
            <a:endParaRPr sz="1800" dirty="0">
              <a:latin typeface="Calibri"/>
              <a:cs typeface="Calibri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120952" y="3484880"/>
            <a:ext cx="7725409" cy="248920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800"/>
              </a:lnSpc>
            </a:pPr>
            <a:r>
              <a:rPr sz="1600" i="1" dirty="0">
                <a:latin typeface="Calibri"/>
                <a:cs typeface="Calibri"/>
              </a:rPr>
              <a:t>you</a:t>
            </a:r>
            <a:r>
              <a:rPr sz="1600" i="1" spc="-7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will</a:t>
            </a:r>
            <a:r>
              <a:rPr sz="1600" i="1" spc="-8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understand</a:t>
            </a:r>
            <a:r>
              <a:rPr sz="1600" i="1" spc="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reality</a:t>
            </a:r>
            <a:r>
              <a:rPr sz="1600" i="1" spc="-8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1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have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facts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for</a:t>
            </a:r>
            <a:r>
              <a:rPr sz="1600" i="1" spc="-4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writing</a:t>
            </a:r>
            <a:r>
              <a:rPr sz="1600" i="1" spc="-60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the</a:t>
            </a:r>
            <a:r>
              <a:rPr sz="1600" i="1" spc="-50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reflective</a:t>
            </a:r>
            <a:r>
              <a:rPr sz="1600" i="1" spc="-9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report</a:t>
            </a:r>
            <a:r>
              <a:rPr sz="1600" i="1" spc="-35" dirty="0">
                <a:latin typeface="Calibri"/>
                <a:cs typeface="Calibri"/>
              </a:rPr>
              <a:t> </a:t>
            </a:r>
            <a:r>
              <a:rPr sz="1600" i="1" dirty="0">
                <a:latin typeface="Calibri"/>
                <a:cs typeface="Calibri"/>
              </a:rPr>
              <a:t>and</a:t>
            </a:r>
            <a:r>
              <a:rPr sz="1600" i="1" spc="-2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information</a:t>
            </a:r>
            <a:r>
              <a:rPr sz="1600" i="1" spc="-40" dirty="0">
                <a:latin typeface="Calibri"/>
                <a:cs typeface="Calibri"/>
              </a:rPr>
              <a:t> </a:t>
            </a:r>
            <a:r>
              <a:rPr sz="1600" i="1" spc="-25" dirty="0">
                <a:latin typeface="Calibri"/>
                <a:cs typeface="Calibri"/>
              </a:rPr>
              <a:t>for</a:t>
            </a:r>
            <a:endParaRPr sz="1600" dirty="0">
              <a:latin typeface="Calibri"/>
              <a:cs typeface="Calibri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161694" y="3733800"/>
            <a:ext cx="1327785" cy="198388"/>
          </a:xfrm>
          <a:prstGeom prst="rect">
            <a:avLst/>
          </a:prstGeom>
          <a:solidFill>
            <a:srgbClr val="FFFF00"/>
          </a:solidFill>
        </p:spPr>
        <p:txBody>
          <a:bodyPr vert="horz" wrap="square" lIns="0" tIns="0" rIns="0" bIns="0" rtlCol="0">
            <a:spAutoFit/>
          </a:bodyPr>
          <a:lstStyle/>
          <a:p>
            <a:pPr>
              <a:lnSpc>
                <a:spcPts val="1525"/>
              </a:lnSpc>
            </a:pPr>
            <a:r>
              <a:rPr sz="1600" i="1" dirty="0">
                <a:latin typeface="Calibri"/>
                <a:cs typeface="Calibri"/>
              </a:rPr>
              <a:t>job</a:t>
            </a:r>
            <a:r>
              <a:rPr sz="1600" i="1" spc="-5" dirty="0">
                <a:latin typeface="Calibri"/>
                <a:cs typeface="Calibri"/>
              </a:rPr>
              <a:t> </a:t>
            </a:r>
            <a:r>
              <a:rPr sz="1600" i="1" spc="-10" dirty="0">
                <a:latin typeface="Calibri"/>
                <a:cs typeface="Calibri"/>
              </a:rPr>
              <a:t>interviews</a:t>
            </a:r>
            <a:endParaRPr sz="16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359105"/>
            <a:ext cx="3321914" cy="38215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dirty="0"/>
              <a:t>2.</a:t>
            </a:r>
            <a:r>
              <a:rPr sz="2400" spc="-120" dirty="0"/>
              <a:t> </a:t>
            </a:r>
            <a:r>
              <a:rPr lang="en-NZ" sz="2400" dirty="0"/>
              <a:t>Supervisor </a:t>
            </a:r>
            <a:r>
              <a:rPr sz="2400" spc="-100" dirty="0"/>
              <a:t> </a:t>
            </a:r>
            <a:r>
              <a:rPr sz="2400" spc="-10" dirty="0"/>
              <a:t>meeting</a:t>
            </a:r>
            <a:endParaRPr sz="2400" dirty="0"/>
          </a:p>
        </p:txBody>
      </p:sp>
      <p:sp>
        <p:nvSpPr>
          <p:cNvPr id="3" name="object 3"/>
          <p:cNvSpPr txBox="1"/>
          <p:nvPr/>
        </p:nvSpPr>
        <p:spPr>
          <a:xfrm>
            <a:off x="1097686" y="897128"/>
            <a:ext cx="7650480" cy="1710689"/>
          </a:xfrm>
          <a:prstGeom prst="rect">
            <a:avLst/>
          </a:prstGeom>
        </p:spPr>
        <p:txBody>
          <a:bodyPr vert="horz" wrap="square" lIns="0" tIns="48260" rIns="0" bIns="0" rtlCol="0">
            <a:spAutoFit/>
          </a:bodyPr>
          <a:lstStyle/>
          <a:p>
            <a:pPr marL="240665" marR="82550" indent="-228600">
              <a:lnSpc>
                <a:spcPts val="1900"/>
              </a:lnSpc>
              <a:spcBef>
                <a:spcPts val="38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Contact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your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academic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lang="en-NZ" sz="1800" dirty="0">
                <a:latin typeface="Calibri"/>
                <a:cs typeface="Calibri"/>
              </a:rPr>
              <a:t>supervisor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6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soon</a:t>
            </a:r>
            <a:r>
              <a:rPr sz="1800" b="1" spc="-100" dirty="0">
                <a:latin typeface="Calibri"/>
                <a:cs typeface="Calibri"/>
              </a:rPr>
              <a:t> </a:t>
            </a:r>
            <a:r>
              <a:rPr sz="1800" b="1" dirty="0">
                <a:latin typeface="Calibri"/>
                <a:cs typeface="Calibri"/>
              </a:rPr>
              <a:t>as</a:t>
            </a:r>
            <a:r>
              <a:rPr sz="1800" b="1" spc="-65" dirty="0">
                <a:latin typeface="Calibri"/>
                <a:cs typeface="Calibri"/>
              </a:rPr>
              <a:t> </a:t>
            </a:r>
            <a:r>
              <a:rPr sz="1800" b="1" spc="-10" dirty="0">
                <a:latin typeface="Calibri"/>
                <a:cs typeface="Calibri"/>
              </a:rPr>
              <a:t>possible</a:t>
            </a:r>
            <a:r>
              <a:rPr sz="1800" spc="-10" dirty="0">
                <a:latin typeface="Calibri"/>
                <a:cs typeface="Calibri"/>
              </a:rPr>
              <a:t>.</a:t>
            </a:r>
            <a:r>
              <a:rPr sz="1800" spc="-110" dirty="0">
                <a:latin typeface="Calibri"/>
                <a:cs typeface="Calibri"/>
              </a:rPr>
              <a:t> </a:t>
            </a:r>
            <a:r>
              <a:rPr lang="en-NZ" sz="1800" dirty="0">
                <a:latin typeface="Calibri"/>
                <a:cs typeface="Calibri"/>
              </a:rPr>
              <a:t>Provide your team’s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contact </a:t>
            </a:r>
            <a:r>
              <a:rPr sz="1800" dirty="0">
                <a:latin typeface="Calibri"/>
                <a:cs typeface="Calibri"/>
              </a:rPr>
              <a:t>details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and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schedule.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Identify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schedule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team’s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times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when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all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members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are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free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to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meet.</a:t>
            </a:r>
            <a:endParaRPr sz="1800" dirty="0">
              <a:latin typeface="Calibri"/>
              <a:cs typeface="Calibri"/>
            </a:endParaRPr>
          </a:p>
          <a:p>
            <a:pPr marL="240665" indent="-227965">
              <a:lnSpc>
                <a:spcPts val="2020"/>
              </a:lnSpc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2000" spc="-10" dirty="0">
                <a:latin typeface="Calibri"/>
                <a:cs typeface="Calibri"/>
              </a:rPr>
              <a:t>Arrange</a:t>
            </a:r>
            <a:r>
              <a:rPr sz="2000" spc="-9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for</a:t>
            </a:r>
            <a:r>
              <a:rPr sz="2000" spc="-8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a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mentor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lang="en-NZ" sz="2000" dirty="0">
                <a:latin typeface="Calibri"/>
                <a:cs typeface="Calibri"/>
              </a:rPr>
              <a:t>kick-off</a:t>
            </a:r>
            <a:r>
              <a:rPr sz="2000" spc="-7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meeting</a:t>
            </a:r>
            <a:r>
              <a:rPr sz="2000" spc="-6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(short</a:t>
            </a:r>
            <a:r>
              <a:rPr sz="2000" spc="-55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one</a:t>
            </a:r>
            <a:r>
              <a:rPr lang="en-NZ" sz="2000" dirty="0">
                <a:latin typeface="Calibri"/>
                <a:cs typeface="Calibri"/>
              </a:rPr>
              <a:t>,</a:t>
            </a:r>
            <a:r>
              <a:rPr sz="2000" spc="-80" dirty="0">
                <a:latin typeface="Calibri"/>
                <a:cs typeface="Calibri"/>
              </a:rPr>
              <a:t> </a:t>
            </a:r>
            <a:r>
              <a:rPr sz="2000" dirty="0">
                <a:latin typeface="Calibri"/>
                <a:cs typeface="Calibri"/>
              </a:rPr>
              <a:t>15-20</a:t>
            </a:r>
            <a:r>
              <a:rPr sz="2000" spc="-105" dirty="0">
                <a:latin typeface="Calibri"/>
                <a:cs typeface="Calibri"/>
              </a:rPr>
              <a:t> </a:t>
            </a:r>
            <a:r>
              <a:rPr sz="2000" spc="-10" dirty="0">
                <a:latin typeface="Calibri"/>
                <a:cs typeface="Calibri"/>
              </a:rPr>
              <a:t>minutes)</a:t>
            </a:r>
            <a:endParaRPr sz="2000" dirty="0">
              <a:latin typeface="Calibri"/>
              <a:cs typeface="Calibri"/>
            </a:endParaRPr>
          </a:p>
          <a:p>
            <a:pPr marL="697865" marR="5080" lvl="1" indent="-228600">
              <a:lnSpc>
                <a:spcPct val="88400"/>
              </a:lnSpc>
              <a:spcBef>
                <a:spcPts val="175"/>
              </a:spcBef>
              <a:buClr>
                <a:srgbClr val="F5821F"/>
              </a:buClr>
              <a:buFont typeface="Arial"/>
              <a:buChar char="•"/>
              <a:tabLst>
                <a:tab pos="697865" algn="l"/>
              </a:tabLst>
            </a:pPr>
            <a:r>
              <a:rPr sz="1600" spc="-10" dirty="0">
                <a:latin typeface="Calibri"/>
                <a:cs typeface="Calibri"/>
              </a:rPr>
              <a:t>Agenda-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project and</a:t>
            </a:r>
            <a:r>
              <a:rPr sz="1600" spc="-7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team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intro,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identify</a:t>
            </a:r>
            <a:r>
              <a:rPr sz="1600" spc="-8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weekly</a:t>
            </a:r>
            <a:r>
              <a:rPr sz="1600" spc="-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meeting</a:t>
            </a:r>
            <a:r>
              <a:rPr sz="1600" spc="-40" dirty="0">
                <a:latin typeface="Calibri"/>
                <a:cs typeface="Calibri"/>
              </a:rPr>
              <a:t> </a:t>
            </a:r>
            <a:r>
              <a:rPr sz="1600" spc="-20" dirty="0">
                <a:latin typeface="Calibri"/>
                <a:cs typeface="Calibri"/>
              </a:rPr>
              <a:t>(day/time)</a:t>
            </a:r>
            <a:r>
              <a:rPr sz="1600" spc="-30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&amp;</a:t>
            </a:r>
            <a:r>
              <a:rPr sz="1600" spc="-5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agenda</a:t>
            </a:r>
            <a:r>
              <a:rPr sz="1600" spc="-8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items </a:t>
            </a:r>
            <a:r>
              <a:rPr sz="1600" dirty="0">
                <a:latin typeface="Calibri"/>
                <a:cs typeface="Calibri"/>
              </a:rPr>
              <a:t>for</a:t>
            </a:r>
            <a:r>
              <a:rPr sz="1600" spc="-65" dirty="0">
                <a:latin typeface="Calibri"/>
                <a:cs typeface="Calibri"/>
              </a:rPr>
              <a:t> </a:t>
            </a:r>
            <a:r>
              <a:rPr sz="1600" dirty="0">
                <a:latin typeface="Calibri"/>
                <a:cs typeface="Calibri"/>
              </a:rPr>
              <a:t>weekly</a:t>
            </a:r>
            <a:r>
              <a:rPr sz="1600" spc="-45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mentor</a:t>
            </a:r>
            <a:r>
              <a:rPr sz="1600" spc="-50" dirty="0">
                <a:latin typeface="Calibri"/>
                <a:cs typeface="Calibri"/>
              </a:rPr>
              <a:t> </a:t>
            </a:r>
            <a:r>
              <a:rPr sz="1600" spc="-10" dirty="0">
                <a:latin typeface="Calibri"/>
                <a:cs typeface="Calibri"/>
              </a:rPr>
              <a:t>meetings,</a:t>
            </a:r>
            <a:r>
              <a:rPr sz="1600" spc="-75" dirty="0"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including</a:t>
            </a:r>
            <a:r>
              <a:rPr sz="16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sz="1600" b="1" u="sng" spc="-6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how</a:t>
            </a:r>
            <a:r>
              <a:rPr sz="16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6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approach</a:t>
            </a:r>
            <a:r>
              <a:rPr sz="16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600" b="1" u="sng" spc="-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6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client</a:t>
            </a:r>
            <a:r>
              <a:rPr sz="1600" b="1" u="none" spc="-9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for</a:t>
            </a:r>
            <a:r>
              <a:rPr sz="1600" u="none" spc="-60" dirty="0">
                <a:latin typeface="Calibri"/>
                <a:cs typeface="Calibri"/>
              </a:rPr>
              <a:t> </a:t>
            </a:r>
            <a:r>
              <a:rPr sz="1600" u="none" spc="-25" dirty="0">
                <a:latin typeface="Calibri"/>
                <a:cs typeface="Calibri"/>
              </a:rPr>
              <a:t>the </a:t>
            </a:r>
            <a:r>
              <a:rPr sz="1600" u="none" dirty="0">
                <a:latin typeface="Calibri"/>
                <a:cs typeface="Calibri"/>
              </a:rPr>
              <a:t>first</a:t>
            </a:r>
            <a:r>
              <a:rPr sz="1600" u="none" spc="-8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meeting</a:t>
            </a:r>
            <a:r>
              <a:rPr sz="1600" u="none" spc="-60" dirty="0">
                <a:latin typeface="Calibri"/>
                <a:cs typeface="Calibri"/>
              </a:rPr>
              <a:t> </a:t>
            </a:r>
            <a:r>
              <a:rPr sz="1600" u="none" spc="-10" dirty="0">
                <a:latin typeface="Calibri"/>
                <a:cs typeface="Calibri"/>
              </a:rPr>
              <a:t>(target</a:t>
            </a:r>
            <a:r>
              <a:rPr sz="1600" u="none" spc="-3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to</a:t>
            </a:r>
            <a:r>
              <a:rPr sz="1600" u="none" spc="-6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meet</a:t>
            </a:r>
            <a:r>
              <a:rPr sz="1600" u="none" spc="-2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the</a:t>
            </a:r>
            <a:r>
              <a:rPr sz="1600" u="none" spc="-6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client</a:t>
            </a:r>
            <a:r>
              <a:rPr sz="1600" u="none" spc="-8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by</a:t>
            </a:r>
            <a:r>
              <a:rPr sz="1600" u="none" spc="-7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the</a:t>
            </a:r>
            <a:r>
              <a:rPr sz="1600" u="none" spc="-7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end</a:t>
            </a:r>
            <a:r>
              <a:rPr sz="1600" u="none" spc="-55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of</a:t>
            </a:r>
            <a:r>
              <a:rPr sz="1600" u="none" spc="-60" dirty="0">
                <a:latin typeface="Calibri"/>
                <a:cs typeface="Calibri"/>
              </a:rPr>
              <a:t> </a:t>
            </a:r>
            <a:r>
              <a:rPr sz="1600" u="none" dirty="0">
                <a:latin typeface="Calibri"/>
                <a:cs typeface="Calibri"/>
              </a:rPr>
              <a:t>next</a:t>
            </a:r>
            <a:r>
              <a:rPr sz="1600" u="none" spc="-60" dirty="0">
                <a:latin typeface="Calibri"/>
                <a:cs typeface="Calibri"/>
              </a:rPr>
              <a:t> </a:t>
            </a:r>
            <a:r>
              <a:rPr sz="1600" u="none" spc="-10" dirty="0">
                <a:latin typeface="Calibri"/>
                <a:cs typeface="Calibri"/>
              </a:rPr>
              <a:t>week).</a:t>
            </a:r>
            <a:endParaRPr sz="1600" dirty="0">
              <a:latin typeface="Calibri"/>
              <a:cs typeface="Calibri"/>
            </a:endParaRPr>
          </a:p>
        </p:txBody>
      </p:sp>
      <p:graphicFrame>
        <p:nvGraphicFramePr>
          <p:cNvPr id="4" name="object 4"/>
          <p:cNvGraphicFramePr>
            <a:graphicFrameLocks noGrp="1"/>
          </p:cNvGraphicFramePr>
          <p:nvPr/>
        </p:nvGraphicFramePr>
        <p:xfrm>
          <a:off x="1889505" y="3041840"/>
          <a:ext cx="4598033" cy="3265170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124269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62166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3055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4739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67563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680085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170180">
                <a:tc>
                  <a:txBody>
                    <a:bodyPr/>
                    <a:lstStyle/>
                    <a:p>
                      <a:pPr marL="30480">
                        <a:lnSpc>
                          <a:spcPts val="1105"/>
                        </a:lnSpc>
                      </a:pPr>
                      <a:r>
                        <a:rPr sz="1050" b="1" dirty="0">
                          <a:latin typeface="Tahoma"/>
                          <a:cs typeface="Tahoma"/>
                        </a:rPr>
                        <a:t>Galaxy</a:t>
                      </a:r>
                      <a:r>
                        <a:rPr sz="1050" b="1" spc="15" dirty="0">
                          <a:latin typeface="Tahoma"/>
                          <a:cs typeface="Tahoma"/>
                        </a:rPr>
                        <a:t> </a:t>
                      </a:r>
                      <a:r>
                        <a:rPr sz="1050" b="1" spc="-20" dirty="0">
                          <a:latin typeface="Tahoma"/>
                          <a:cs typeface="Tahoma"/>
                        </a:rPr>
                        <a:t>Team</a:t>
                      </a:r>
                      <a:endParaRPr sz="1050">
                        <a:latin typeface="Tahoma"/>
                        <a:cs typeface="Tahoma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b="1" spc="-10" dirty="0">
                          <a:latin typeface="Calibri"/>
                          <a:cs typeface="Calibri"/>
                        </a:rPr>
                        <a:t>Members: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Email</a:t>
                      </a:r>
                      <a:r>
                        <a:rPr sz="105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addresses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Ford</a:t>
                      </a:r>
                      <a:r>
                        <a:rPr sz="1050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Prefect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2"/>
                        </a:rPr>
                        <a:t>fp@betelgeuse.gal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Trillian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gridSpan="2"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3"/>
                        </a:rPr>
                        <a:t>tr@betelgeuse.gal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Marvin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4"/>
                        </a:rPr>
                        <a:t>marvin@betelgeuse.gal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Zaphod</a:t>
                      </a:r>
                      <a:r>
                        <a:rPr sz="1050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Beeblebrox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gridSpan="3"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u="sng" spc="-10" dirty="0">
                          <a:solidFill>
                            <a:srgbClr val="0000FF"/>
                          </a:solidFill>
                          <a:uFill>
                            <a:solidFill>
                              <a:srgbClr val="0000FF"/>
                            </a:solidFill>
                          </a:uFill>
                          <a:latin typeface="Calibri"/>
                          <a:cs typeface="Calibri"/>
                          <a:hlinkClick r:id="rId5"/>
                        </a:rPr>
                        <a:t>zaphod@betelgeuse.gal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74625">
                <a:tc gridSpan="6"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b="1" dirty="0">
                          <a:latin typeface="Calibri"/>
                          <a:cs typeface="Calibri"/>
                        </a:rPr>
                        <a:t>Table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 below</a:t>
                      </a:r>
                      <a:r>
                        <a:rPr sz="1050" b="1" spc="-4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10" dirty="0">
                          <a:latin typeface="Calibri"/>
                          <a:cs typeface="Calibri"/>
                        </a:rPr>
                        <a:t>indicates</a:t>
                      </a:r>
                      <a:r>
                        <a:rPr sz="105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days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and</a:t>
                      </a:r>
                      <a:r>
                        <a:rPr sz="1050" b="1" spc="-2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times</a:t>
                      </a:r>
                      <a:r>
                        <a:rPr sz="105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when</a:t>
                      </a:r>
                      <a:r>
                        <a:rPr sz="1050" b="1" spc="-3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all</a:t>
                      </a:r>
                      <a:r>
                        <a:rPr sz="105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team</a:t>
                      </a:r>
                      <a:r>
                        <a:rPr sz="1050" b="1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members</a:t>
                      </a:r>
                      <a:r>
                        <a:rPr sz="1050" b="1" spc="-4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are</a:t>
                      </a:r>
                      <a:r>
                        <a:rPr sz="1050" b="1" spc="-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free</a:t>
                      </a:r>
                      <a:r>
                        <a:rPr sz="1050" b="1" spc="15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dirty="0">
                          <a:latin typeface="Calibri"/>
                          <a:cs typeface="Calibri"/>
                        </a:rPr>
                        <a:t>to</a:t>
                      </a:r>
                      <a:r>
                        <a:rPr sz="1050" b="1" spc="-5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b="1" spc="-20" dirty="0">
                          <a:latin typeface="Calibri"/>
                          <a:cs typeface="Calibri"/>
                        </a:rPr>
                        <a:t>meet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tc hMerge="1">
                  <a:txBody>
                    <a:bodyPr/>
                    <a:lstStyle/>
                    <a:p>
                      <a:endParaRPr/>
                    </a:p>
                  </a:txBody>
                  <a:tcPr marL="0" marR="0" marT="0" marB="0"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7526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Monday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Tuesday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Wednesday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Thursday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045"/>
                        </a:lnSpc>
                      </a:pPr>
                      <a:r>
                        <a:rPr sz="1050" spc="-10" dirty="0">
                          <a:latin typeface="Calibri"/>
                          <a:cs typeface="Calibri"/>
                        </a:rPr>
                        <a:t>Friday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9am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20" dirty="0">
                          <a:latin typeface="Calibri"/>
                          <a:cs typeface="Calibri"/>
                        </a:rPr>
                        <a:t>10am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50"/>
                        </a:lnSpc>
                      </a:pPr>
                      <a:r>
                        <a:rPr sz="1050" spc="-20" dirty="0">
                          <a:latin typeface="Calibri"/>
                          <a:cs typeface="Calibri"/>
                        </a:rPr>
                        <a:t>11am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22860">
                        <a:lnSpc>
                          <a:spcPts val="1045"/>
                        </a:lnSpc>
                      </a:pPr>
                      <a:r>
                        <a:rPr sz="1050" spc="-20" dirty="0">
                          <a:latin typeface="Calibri"/>
                          <a:cs typeface="Calibri"/>
                        </a:rPr>
                        <a:t>noon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50"/>
                        </a:lnSpc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1pm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22860">
                        <a:lnSpc>
                          <a:spcPts val="1050"/>
                        </a:lnSpc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2pm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 marL="22860">
                        <a:lnSpc>
                          <a:spcPts val="1050"/>
                        </a:lnSpc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3pm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170815">
                <a:tc>
                  <a:txBody>
                    <a:bodyPr/>
                    <a:lstStyle/>
                    <a:p>
                      <a:pPr marL="22860">
                        <a:lnSpc>
                          <a:spcPts val="1050"/>
                        </a:lnSpc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4pm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  <a:tr h="174625">
                <a:tc>
                  <a:txBody>
                    <a:bodyPr/>
                    <a:lstStyle/>
                    <a:p>
                      <a:pPr marL="22860">
                        <a:lnSpc>
                          <a:spcPts val="1050"/>
                        </a:lnSpc>
                      </a:pPr>
                      <a:r>
                        <a:rPr sz="1050" spc="-25" dirty="0">
                          <a:latin typeface="Calibri"/>
                          <a:cs typeface="Calibri"/>
                        </a:rPr>
                        <a:t>5pm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9525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000000"/>
                      </a:solidFill>
                      <a:prstDash val="solid"/>
                    </a:lnL>
                    <a:lnR w="19050">
                      <a:solidFill>
                        <a:srgbClr val="000000"/>
                      </a:solidFill>
                      <a:prstDash val="solid"/>
                    </a:lnR>
                    <a:lnT w="9525">
                      <a:solidFill>
                        <a:srgbClr val="000000"/>
                      </a:solidFill>
                      <a:prstDash val="solid"/>
                    </a:lnT>
                    <a:lnB w="19050">
                      <a:solidFill>
                        <a:srgbClr val="000000"/>
                      </a:solidFill>
                      <a:prstDash val="solid"/>
                    </a:lnB>
                    <a:solidFill>
                      <a:srgbClr val="FAD3B4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8415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10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19050">
                      <a:solidFill>
                        <a:srgbClr val="000000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70180"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solidFill>
                      <a:srgbClr val="FAD3B4"/>
                    </a:solidFill>
                  </a:tcPr>
                </a:tc>
                <a:tc>
                  <a:txBody>
                    <a:bodyPr/>
                    <a:lstStyle/>
                    <a:p>
                      <a:pPr marL="23495">
                        <a:lnSpc>
                          <a:spcPts val="1050"/>
                        </a:lnSpc>
                      </a:pPr>
                      <a:r>
                        <a:rPr sz="1050" dirty="0">
                          <a:latin typeface="Calibri"/>
                          <a:cs typeface="Calibri"/>
                        </a:rPr>
                        <a:t>=</a:t>
                      </a:r>
                      <a:r>
                        <a:rPr sz="1050" spc="-60" dirty="0">
                          <a:latin typeface="Calibri"/>
                          <a:cs typeface="Calibri"/>
                        </a:rPr>
                        <a:t> </a:t>
                      </a:r>
                      <a:r>
                        <a:rPr sz="1050" spc="-10" dirty="0">
                          <a:latin typeface="Calibri"/>
                          <a:cs typeface="Calibri"/>
                        </a:rPr>
                        <a:t>available</a:t>
                      </a:r>
                      <a:endParaRPr sz="1050">
                        <a:latin typeface="Calibri"/>
                        <a:cs typeface="Calibri"/>
                      </a:endParaRPr>
                    </a:p>
                  </a:txBody>
                  <a:tcPr marL="0" marR="0" marT="0" marB="0"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lnSpc>
                          <a:spcPct val="100000"/>
                        </a:lnSpc>
                      </a:pPr>
                      <a:endParaRPr sz="900" dirty="0">
                        <a:latin typeface="Times New Roman"/>
                        <a:cs typeface="Times New Roman"/>
                      </a:endParaRPr>
                    </a:p>
                  </a:txBody>
                  <a:tcPr marL="0" marR="0" marT="0" marB="0">
                    <a:lnL w="9525">
                      <a:solidFill>
                        <a:srgbClr val="DADCDD"/>
                      </a:solidFill>
                      <a:prstDash val="solid"/>
                    </a:lnL>
                    <a:lnR w="9525">
                      <a:solidFill>
                        <a:srgbClr val="DADCDD"/>
                      </a:solidFill>
                      <a:prstDash val="solid"/>
                    </a:lnR>
                    <a:lnT w="9525">
                      <a:solidFill>
                        <a:srgbClr val="DADCDD"/>
                      </a:solidFill>
                      <a:prstDash val="solid"/>
                    </a:lnT>
                    <a:lnB w="9525">
                      <a:solidFill>
                        <a:srgbClr val="DADCDD"/>
                      </a:solidFill>
                      <a:prstDash val="soli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8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48613" y="359740"/>
            <a:ext cx="3591560" cy="40640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500" dirty="0"/>
              <a:t>3.</a:t>
            </a:r>
            <a:r>
              <a:rPr sz="2500" spc="-60" dirty="0"/>
              <a:t> </a:t>
            </a:r>
            <a:r>
              <a:rPr sz="2500" spc="-20" dirty="0"/>
              <a:t>Understanding</a:t>
            </a:r>
            <a:r>
              <a:rPr sz="2500" spc="-60" dirty="0"/>
              <a:t> </a:t>
            </a:r>
            <a:r>
              <a:rPr sz="2500" dirty="0"/>
              <a:t>the</a:t>
            </a:r>
            <a:r>
              <a:rPr sz="2500" spc="-50" dirty="0"/>
              <a:t> </a:t>
            </a:r>
            <a:r>
              <a:rPr sz="2500" spc="-10" dirty="0"/>
              <a:t>scope</a:t>
            </a:r>
            <a:endParaRPr sz="2500"/>
          </a:p>
        </p:txBody>
      </p:sp>
      <p:sp>
        <p:nvSpPr>
          <p:cNvPr id="3" name="object 3"/>
          <p:cNvSpPr txBox="1"/>
          <p:nvPr/>
        </p:nvSpPr>
        <p:spPr>
          <a:xfrm>
            <a:off x="1173886" y="894975"/>
            <a:ext cx="7794625" cy="4276725"/>
          </a:xfrm>
          <a:prstGeom prst="rect">
            <a:avLst/>
          </a:prstGeom>
        </p:spPr>
        <p:txBody>
          <a:bodyPr vert="horz" wrap="square" lIns="0" tIns="139700" rIns="0" bIns="0" rtlCol="0">
            <a:spAutoFit/>
          </a:bodyPr>
          <a:lstStyle/>
          <a:p>
            <a:pPr marL="285750" indent="-273050">
              <a:lnSpc>
                <a:spcPct val="100000"/>
              </a:lnSpc>
              <a:spcBef>
                <a:spcPts val="1100"/>
              </a:spcBef>
              <a:buAutoNum type="arabicPeriod"/>
              <a:tabLst>
                <a:tab pos="285750" algn="l"/>
              </a:tabLst>
            </a:pPr>
            <a:r>
              <a:rPr sz="2200" spc="-10" dirty="0">
                <a:latin typeface="Calibri"/>
                <a:cs typeface="Calibri"/>
              </a:rPr>
              <a:t>Research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work</a:t>
            </a:r>
            <a:r>
              <a:rPr sz="2200" spc="-6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&amp;</a:t>
            </a:r>
            <a:r>
              <a:rPr sz="2200" spc="-6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fact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finding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(most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important</a:t>
            </a:r>
            <a:r>
              <a:rPr sz="2200" spc="-7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thing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in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any</a:t>
            </a:r>
            <a:r>
              <a:rPr sz="2200" spc="-7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project)</a:t>
            </a:r>
            <a:endParaRPr sz="2200">
              <a:latin typeface="Calibri"/>
              <a:cs typeface="Calibri"/>
            </a:endParaRPr>
          </a:p>
          <a:p>
            <a:pPr marL="240665" lvl="1" indent="-227965">
              <a:lnSpc>
                <a:spcPct val="100000"/>
              </a:lnSpc>
              <a:spcBef>
                <a:spcPts val="82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Heaps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similar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types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of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products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web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ideas</a:t>
            </a:r>
            <a:endParaRPr sz="1800">
              <a:latin typeface="Calibri"/>
              <a:cs typeface="Calibri"/>
            </a:endParaRPr>
          </a:p>
          <a:p>
            <a:pPr marL="240665" marR="5080" lvl="1" indent="-228600">
              <a:lnSpc>
                <a:spcPts val="2100"/>
              </a:lnSpc>
              <a:spcBef>
                <a:spcPts val="865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meetings-</a:t>
            </a:r>
            <a:r>
              <a:rPr sz="1800" spc="-8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extract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information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</a:t>
            </a:r>
            <a:r>
              <a:rPr sz="1800" spc="-7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ideas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that</a:t>
            </a:r>
            <a:r>
              <a:rPr sz="1800" spc="-7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they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have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35" dirty="0">
                <a:latin typeface="Calibri"/>
                <a:cs typeface="Calibri"/>
              </a:rPr>
              <a:t>including </a:t>
            </a:r>
            <a:r>
              <a:rPr sz="1800" spc="-70" dirty="0">
                <a:latin typeface="Calibri"/>
                <a:cs typeface="Calibri"/>
              </a:rPr>
              <a:t>gathering</a:t>
            </a:r>
            <a:r>
              <a:rPr sz="1800" spc="-10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information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their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current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IT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infrastructure</a:t>
            </a:r>
            <a:endParaRPr sz="1800">
              <a:latin typeface="Calibri"/>
              <a:cs typeface="Calibri"/>
            </a:endParaRPr>
          </a:p>
          <a:p>
            <a:pPr marL="286385" indent="-273685">
              <a:lnSpc>
                <a:spcPct val="100000"/>
              </a:lnSpc>
              <a:spcBef>
                <a:spcPts val="605"/>
              </a:spcBef>
              <a:buAutoNum type="arabicPeriod" startAt="2"/>
              <a:tabLst>
                <a:tab pos="286385" algn="l"/>
              </a:tabLst>
            </a:pPr>
            <a:r>
              <a:rPr sz="2200" dirty="0">
                <a:latin typeface="Calibri"/>
                <a:cs typeface="Calibri"/>
              </a:rPr>
              <a:t>Identify</a:t>
            </a:r>
            <a:r>
              <a:rPr sz="2200" spc="-4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and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capture</a:t>
            </a:r>
            <a:r>
              <a:rPr sz="2200" spc="-8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all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the</a:t>
            </a:r>
            <a:r>
              <a:rPr sz="2200" spc="-35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possibilities</a:t>
            </a:r>
            <a:r>
              <a:rPr sz="2200" spc="-9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for</a:t>
            </a:r>
            <a:r>
              <a:rPr sz="2200" spc="-55" dirty="0">
                <a:latin typeface="Calibri"/>
                <a:cs typeface="Calibri"/>
              </a:rPr>
              <a:t> </a:t>
            </a:r>
            <a:r>
              <a:rPr sz="2200" dirty="0">
                <a:latin typeface="Calibri"/>
                <a:cs typeface="Calibri"/>
              </a:rPr>
              <a:t>product</a:t>
            </a:r>
            <a:r>
              <a:rPr sz="2200" spc="-90" dirty="0">
                <a:latin typeface="Calibri"/>
                <a:cs typeface="Calibri"/>
              </a:rPr>
              <a:t> </a:t>
            </a:r>
            <a:r>
              <a:rPr sz="2200" spc="-10" dirty="0">
                <a:latin typeface="Calibri"/>
                <a:cs typeface="Calibri"/>
              </a:rPr>
              <a:t>ideas</a:t>
            </a:r>
            <a:endParaRPr sz="2200">
              <a:latin typeface="Calibri"/>
              <a:cs typeface="Calibri"/>
            </a:endParaRPr>
          </a:p>
          <a:p>
            <a:pPr marL="240665" marR="76200" lvl="1" indent="-228600">
              <a:lnSpc>
                <a:spcPct val="88100"/>
              </a:lnSpc>
              <a:spcBef>
                <a:spcPts val="1130"/>
              </a:spcBef>
              <a:buClr>
                <a:srgbClr val="F5821F"/>
              </a:buClr>
              <a:buFont typeface="Arial"/>
              <a:buChar char="•"/>
              <a:tabLst>
                <a:tab pos="240665" algn="l"/>
              </a:tabLst>
            </a:pPr>
            <a:r>
              <a:rPr sz="1800" spc="-20" dirty="0">
                <a:latin typeface="Calibri"/>
                <a:cs typeface="Calibri"/>
              </a:rPr>
              <a:t>Features,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epics,</a:t>
            </a:r>
            <a:r>
              <a:rPr sz="1800" spc="-4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or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high-</a:t>
            </a:r>
            <a:r>
              <a:rPr sz="1800" dirty="0">
                <a:latin typeface="Calibri"/>
                <a:cs typeface="Calibri"/>
              </a:rPr>
              <a:t>level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requirements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for</a:t>
            </a:r>
            <a:r>
              <a:rPr sz="1800" spc="-5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3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product,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captured</a:t>
            </a:r>
            <a:r>
              <a:rPr sz="1800" spc="-1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in</a:t>
            </a:r>
            <a:r>
              <a:rPr sz="1800" spc="-30" dirty="0">
                <a:latin typeface="Calibri"/>
                <a:cs typeface="Calibri"/>
              </a:rPr>
              <a:t> </a:t>
            </a:r>
            <a:r>
              <a:rPr sz="1800" spc="-25" dirty="0">
                <a:latin typeface="Calibri"/>
                <a:cs typeface="Calibri"/>
              </a:rPr>
              <a:t>the </a:t>
            </a:r>
            <a:r>
              <a:rPr sz="1800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requirements</a:t>
            </a:r>
            <a:r>
              <a:rPr sz="1800" u="sng" spc="-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document</a:t>
            </a:r>
            <a:r>
              <a:rPr sz="1800" u="none" spc="-10" dirty="0">
                <a:latin typeface="Calibri"/>
                <a:cs typeface="Calibri"/>
              </a:rPr>
              <a:t>-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keep</a:t>
            </a:r>
            <a:r>
              <a:rPr sz="1800" u="none" spc="-4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updating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this</a:t>
            </a:r>
            <a:r>
              <a:rPr sz="1800" u="none" spc="-50" dirty="0">
                <a:latin typeface="Calibri"/>
                <a:cs typeface="Calibri"/>
              </a:rPr>
              <a:t> </a:t>
            </a:r>
            <a:r>
              <a:rPr sz="1800" u="none" spc="-10" dirty="0">
                <a:latin typeface="Calibri"/>
                <a:cs typeface="Calibri"/>
              </a:rPr>
              <a:t>throughout</a:t>
            </a:r>
            <a:r>
              <a:rPr sz="1800" u="none" spc="-65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the</a:t>
            </a:r>
            <a:r>
              <a:rPr sz="1800" u="none" spc="-4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project</a:t>
            </a:r>
            <a:r>
              <a:rPr sz="1800" u="none" spc="-7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as</a:t>
            </a:r>
            <a:r>
              <a:rPr sz="1800" u="none" spc="-70" dirty="0">
                <a:latin typeface="Calibri"/>
                <a:cs typeface="Calibri"/>
              </a:rPr>
              <a:t> </a:t>
            </a:r>
            <a:r>
              <a:rPr sz="1800" u="none" dirty="0">
                <a:latin typeface="Calibri"/>
                <a:cs typeface="Calibri"/>
              </a:rPr>
              <a:t>new</a:t>
            </a:r>
            <a:r>
              <a:rPr sz="1800" u="none" spc="-60" dirty="0">
                <a:latin typeface="Calibri"/>
                <a:cs typeface="Calibri"/>
              </a:rPr>
              <a:t> </a:t>
            </a:r>
            <a:r>
              <a:rPr sz="1800" u="none" spc="-10" dirty="0">
                <a:latin typeface="Calibri"/>
                <a:cs typeface="Calibri"/>
              </a:rPr>
              <a:t>ideas emerge.</a:t>
            </a:r>
            <a:endParaRPr sz="1800">
              <a:latin typeface="Calibri"/>
              <a:cs typeface="Calibri"/>
            </a:endParaRPr>
          </a:p>
          <a:p>
            <a:pPr marL="292735" lvl="1" indent="-280035">
              <a:lnSpc>
                <a:spcPts val="2130"/>
              </a:lnSpc>
              <a:spcBef>
                <a:spcPts val="730"/>
              </a:spcBef>
              <a:buClr>
                <a:srgbClr val="F5821F"/>
              </a:buClr>
              <a:buFont typeface="Arial"/>
              <a:buChar char="•"/>
              <a:tabLst>
                <a:tab pos="292735" algn="l"/>
              </a:tabLst>
            </a:pPr>
            <a:r>
              <a:rPr sz="1800" dirty="0">
                <a:latin typeface="Calibri"/>
                <a:cs typeface="Calibri"/>
              </a:rPr>
              <a:t>Have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client</a:t>
            </a:r>
            <a:r>
              <a:rPr sz="1800" spc="-5" dirty="0">
                <a:latin typeface="Calibri"/>
                <a:cs typeface="Calibri"/>
              </a:rPr>
              <a:t> </a:t>
            </a:r>
            <a:r>
              <a:rPr sz="1800" spc="-20" dirty="0">
                <a:latin typeface="Calibri"/>
                <a:cs typeface="Calibri"/>
              </a:rPr>
              <a:t>agreement</a:t>
            </a:r>
            <a:r>
              <a:rPr sz="1800" spc="-8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on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the</a:t>
            </a:r>
            <a:r>
              <a:rPr sz="1800" spc="-5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ones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which</a:t>
            </a:r>
            <a:r>
              <a:rPr sz="1800" spc="-25" dirty="0">
                <a:latin typeface="Calibri"/>
                <a:cs typeface="Calibri"/>
              </a:rPr>
              <a:t> </a:t>
            </a:r>
            <a:r>
              <a:rPr sz="1800" spc="-10" dirty="0">
                <a:latin typeface="Calibri"/>
                <a:cs typeface="Calibri"/>
              </a:rPr>
              <a:t>your</a:t>
            </a:r>
            <a:r>
              <a:rPr sz="1800" spc="-6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team</a:t>
            </a:r>
            <a:r>
              <a:rPr sz="1800" spc="-9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will</a:t>
            </a:r>
            <a:r>
              <a:rPr sz="1800" spc="-40" dirty="0">
                <a:latin typeface="Calibri"/>
                <a:cs typeface="Calibri"/>
              </a:rPr>
              <a:t> </a:t>
            </a:r>
            <a:r>
              <a:rPr sz="1800" dirty="0">
                <a:latin typeface="Calibri"/>
                <a:cs typeface="Calibri"/>
              </a:rPr>
              <a:t>deliver-</a:t>
            </a:r>
            <a:r>
              <a:rPr sz="1800" spc="-65" dirty="0"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Scope</a:t>
            </a:r>
            <a:endParaRPr sz="1800">
              <a:latin typeface="Calibri"/>
              <a:cs typeface="Calibri"/>
            </a:endParaRPr>
          </a:p>
          <a:p>
            <a:pPr marL="292735">
              <a:lnSpc>
                <a:spcPts val="2130"/>
              </a:lnSpc>
            </a:pP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Statement</a:t>
            </a:r>
            <a:r>
              <a:rPr sz="1800" u="sng" spc="-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document</a:t>
            </a:r>
            <a:r>
              <a:rPr sz="1800" u="none" spc="-10" dirty="0">
                <a:latin typeface="Calibri"/>
                <a:cs typeface="Calibri"/>
              </a:rPr>
              <a:t>.</a:t>
            </a:r>
            <a:endParaRPr sz="1800">
              <a:latin typeface="Calibri"/>
              <a:cs typeface="Calibri"/>
            </a:endParaRPr>
          </a:p>
          <a:p>
            <a:pPr marL="12700" marR="163830" algn="just">
              <a:lnSpc>
                <a:spcPct val="88100"/>
              </a:lnSpc>
              <a:spcBef>
                <a:spcPts val="1005"/>
              </a:spcBef>
            </a:pP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Note-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for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800" b="1" u="sng" spc="-3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proposal,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don’t</a:t>
            </a:r>
            <a:r>
              <a:rPr sz="18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need</a:t>
            </a:r>
            <a:r>
              <a:rPr sz="1800" b="1" u="sng" spc="-3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to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create</a:t>
            </a:r>
            <a:r>
              <a:rPr sz="1800" b="1" u="sng" spc="-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analysis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design</a:t>
            </a:r>
            <a:r>
              <a:rPr sz="1800" b="1" u="sng" spc="-2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models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or</a:t>
            </a:r>
            <a:r>
              <a:rPr sz="1800" b="1" u="sng" spc="-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none" spc="-50" dirty="0">
                <a:latin typeface="Calibri"/>
                <a:cs typeface="Calibri"/>
              </a:rPr>
              <a:t>a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product</a:t>
            </a:r>
            <a:r>
              <a:rPr sz="1800" b="1" u="sng" spc="4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backlog.</a:t>
            </a:r>
            <a:r>
              <a:rPr sz="1800" b="1" u="sng" spc="4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These</a:t>
            </a:r>
            <a:r>
              <a:rPr sz="1800" b="1" u="sng" spc="4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800" b="1" u="sng" spc="4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1800" b="1" u="sng" spc="4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done</a:t>
            </a:r>
            <a:r>
              <a:rPr sz="1800" b="1" u="sng" spc="49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when</a:t>
            </a:r>
            <a:r>
              <a:rPr sz="1800" b="1" u="sng" spc="45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the</a:t>
            </a:r>
            <a:r>
              <a:rPr sz="1800" b="1" u="sng" spc="44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plans</a:t>
            </a:r>
            <a:r>
              <a:rPr sz="1800" b="1" u="sng" spc="4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in</a:t>
            </a:r>
            <a:r>
              <a:rPr sz="1800" b="1" u="sng" spc="48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your</a:t>
            </a:r>
            <a:r>
              <a:rPr sz="1800" b="1" u="sng" spc="4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proposal</a:t>
            </a:r>
            <a:r>
              <a:rPr sz="1800" b="1" u="sng" spc="48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are</a:t>
            </a:r>
            <a:r>
              <a:rPr sz="1800" b="1" u="none" spc="-25" dirty="0">
                <a:latin typeface="Calibri"/>
                <a:cs typeface="Calibri"/>
              </a:rPr>
              <a:t> 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executed</a:t>
            </a:r>
            <a:r>
              <a:rPr sz="1800" b="1" u="sng" spc="-114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and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will</a:t>
            </a:r>
            <a:r>
              <a:rPr sz="1800" b="1" u="sng" spc="-4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be</a:t>
            </a:r>
            <a:r>
              <a:rPr sz="1800" b="1" u="none" spc="-45" dirty="0"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part</a:t>
            </a:r>
            <a:r>
              <a:rPr sz="1800" b="1" u="sng" spc="-2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of</a:t>
            </a:r>
            <a:r>
              <a:rPr sz="1800" b="1" u="sng" spc="-1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your</a:t>
            </a:r>
            <a:r>
              <a:rPr sz="1800" b="1" u="sng" spc="-6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mid-term</a:t>
            </a:r>
            <a:r>
              <a:rPr sz="1800" b="1" u="sng" spc="-7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project</a:t>
            </a:r>
            <a:r>
              <a:rPr sz="1800" b="1" u="sng" spc="-55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 </a:t>
            </a:r>
            <a:r>
              <a:rPr sz="1800" b="1" u="sng" spc="-10" dirty="0">
                <a:uFill>
                  <a:solidFill>
                    <a:srgbClr val="000000"/>
                  </a:solidFill>
                </a:uFill>
                <a:latin typeface="Calibri"/>
                <a:cs typeface="Calibri"/>
              </a:rPr>
              <a:t>review.</a:t>
            </a:r>
            <a:endParaRPr sz="18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73886" y="557276"/>
            <a:ext cx="202755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dirty="0"/>
              <a:t>Next</a:t>
            </a:r>
            <a:r>
              <a:rPr spc="-195" dirty="0"/>
              <a:t> </a:t>
            </a:r>
            <a:r>
              <a:rPr spc="-20" dirty="0"/>
              <a:t>week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930960" y="1451228"/>
            <a:ext cx="4145279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dirty="0">
                <a:latin typeface="Calibri"/>
                <a:cs typeface="Calibri"/>
              </a:rPr>
              <a:t>Focus</a:t>
            </a:r>
            <a:r>
              <a:rPr sz="2400" spc="-7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on</a:t>
            </a:r>
            <a:r>
              <a:rPr sz="2400" spc="-55" dirty="0">
                <a:latin typeface="Calibri"/>
                <a:cs typeface="Calibri"/>
              </a:rPr>
              <a:t> </a:t>
            </a:r>
            <a:r>
              <a:rPr sz="2400" dirty="0">
                <a:latin typeface="Calibri"/>
                <a:cs typeface="Calibri"/>
              </a:rPr>
              <a:t>Project</a:t>
            </a:r>
            <a:r>
              <a:rPr sz="2400" spc="-85" dirty="0">
                <a:latin typeface="Calibri"/>
                <a:cs typeface="Calibri"/>
              </a:rPr>
              <a:t> </a:t>
            </a:r>
            <a:r>
              <a:rPr sz="2400" spc="-10" dirty="0">
                <a:latin typeface="Calibri"/>
                <a:cs typeface="Calibri"/>
              </a:rPr>
              <a:t>proposal</a:t>
            </a:r>
            <a:endParaRPr sz="2400" dirty="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149096" y="655701"/>
            <a:ext cx="6102985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0"/>
              </a:spcBef>
            </a:pPr>
            <a:r>
              <a:rPr spc="-20" dirty="0"/>
              <a:t>Referencing-</a:t>
            </a:r>
            <a:r>
              <a:rPr spc="-150" dirty="0"/>
              <a:t> </a:t>
            </a:r>
            <a:r>
              <a:rPr dirty="0"/>
              <a:t>use</a:t>
            </a:r>
            <a:r>
              <a:rPr spc="-130" dirty="0"/>
              <a:t> </a:t>
            </a:r>
            <a:r>
              <a:rPr spc="-45" dirty="0"/>
              <a:t>APA</a:t>
            </a:r>
            <a:r>
              <a:rPr spc="-155" dirty="0"/>
              <a:t> </a:t>
            </a:r>
            <a:r>
              <a:rPr dirty="0"/>
              <a:t>7</a:t>
            </a:r>
            <a:r>
              <a:rPr sz="3600" baseline="20833" dirty="0"/>
              <a:t>th</a:t>
            </a:r>
            <a:r>
              <a:rPr sz="3600" spc="209" baseline="20833" dirty="0"/>
              <a:t> </a:t>
            </a:r>
            <a:r>
              <a:rPr sz="3600" spc="-10" dirty="0"/>
              <a:t>Edition</a:t>
            </a:r>
            <a:endParaRPr sz="3600"/>
          </a:p>
        </p:txBody>
      </p:sp>
      <p:sp>
        <p:nvSpPr>
          <p:cNvPr id="3" name="object 3"/>
          <p:cNvSpPr txBox="1"/>
          <p:nvPr/>
        </p:nvSpPr>
        <p:spPr>
          <a:xfrm>
            <a:off x="1173886" y="1802638"/>
            <a:ext cx="510984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0029" indent="-227329">
              <a:lnSpc>
                <a:spcPct val="100000"/>
              </a:lnSpc>
              <a:spcBef>
                <a:spcPts val="100"/>
              </a:spcBef>
              <a:buClr>
                <a:srgbClr val="F5821F"/>
              </a:buClr>
              <a:buFont typeface="Arial"/>
              <a:buChar char="•"/>
              <a:tabLst>
                <a:tab pos="240029" algn="l"/>
              </a:tabLst>
            </a:pPr>
            <a:r>
              <a:rPr sz="2400" u="sng" spc="-10" dirty="0">
                <a:solidFill>
                  <a:srgbClr val="0000FF"/>
                </a:solidFill>
                <a:uFill>
                  <a:solidFill>
                    <a:srgbClr val="0461C1"/>
                  </a:solidFill>
                </a:uFill>
                <a:latin typeface="Calibri"/>
                <a:cs typeface="Calibri"/>
                <a:hlinkClick r:id="rId2"/>
              </a:rPr>
              <a:t>https://aut.ac.nz.libguides.com/APA7th</a:t>
            </a:r>
            <a:endParaRPr sz="2400">
              <a:latin typeface="Calibri"/>
              <a:cs typeface="Calibri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16908</TotalTime>
  <Words>3955</Words>
  <Application>Microsoft Office PowerPoint</Application>
  <PresentationFormat>On-screen Show (4:3)</PresentationFormat>
  <Paragraphs>435</Paragraphs>
  <Slides>36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36</vt:i4>
      </vt:variant>
    </vt:vector>
  </HeadingPairs>
  <TitlesOfParts>
    <vt:vector size="41" baseType="lpstr">
      <vt:lpstr>Arial</vt:lpstr>
      <vt:lpstr>Calibri</vt:lpstr>
      <vt:lpstr>Tahoma</vt:lpstr>
      <vt:lpstr>Times New Roman</vt:lpstr>
      <vt:lpstr>Office Theme</vt:lpstr>
      <vt:lpstr>PowerPoint Presentation</vt:lpstr>
      <vt:lpstr>Workshop Agenda</vt:lpstr>
      <vt:lpstr>Project Allocations S2 2025</vt:lpstr>
      <vt:lpstr>But I want to change my project...</vt:lpstr>
      <vt:lpstr>BCIS Project Teaching Team 2025 (Stakeholders)</vt:lpstr>
      <vt:lpstr>BCIS Project Teaching Team 2025 (Stakeholders)</vt:lpstr>
      <vt:lpstr>R &amp; D paper (project)- why it is a critical paper?</vt:lpstr>
      <vt:lpstr>Your project deliverable- a functional prototype</vt:lpstr>
      <vt:lpstr>Canvas: Course materials and announcements</vt:lpstr>
      <vt:lpstr>Starting point- having a vision for all assessments (AUT requirements)</vt:lpstr>
      <vt:lpstr>Breakdown of assessments S1 &amp; S2- all BCIS majors for COMP702 &amp; COM703 students</vt:lpstr>
      <vt:lpstr>Conjoint Students Only- Project Course (60 points)</vt:lpstr>
      <vt:lpstr>PowerPoint Presentation</vt:lpstr>
      <vt:lpstr>BCIS R&amp;D &amp; Conjoint Projects and Assessment Guides</vt:lpstr>
      <vt:lpstr>Schedule and topics for the workshop</vt:lpstr>
      <vt:lpstr>Workshops (Tuesday 2-4pm)</vt:lpstr>
      <vt:lpstr>R &amp; D Offsite hours</vt:lpstr>
      <vt:lpstr>Offsite hours- team workspace &amp; access</vt:lpstr>
      <vt:lpstr>Worklog book</vt:lpstr>
      <vt:lpstr>Worklog book</vt:lpstr>
      <vt:lpstr>PowerPoint Presentation</vt:lpstr>
      <vt:lpstr>PowerPoint Presentation</vt:lpstr>
      <vt:lpstr>How’s the BCIS Project different?</vt:lpstr>
      <vt:lpstr>Required for R &amp; D teamwork</vt:lpstr>
      <vt:lpstr>PowerPoint Presentation</vt:lpstr>
      <vt:lpstr>PowerPoint Presentation</vt:lpstr>
      <vt:lpstr>PowerPoint Presentation</vt:lpstr>
      <vt:lpstr>First R &amp; D assessment- Prepare and present a R &amp; D proposal- 10%</vt:lpstr>
      <vt:lpstr>PowerPoint Presentation</vt:lpstr>
      <vt:lpstr>PowerPoint Presentation</vt:lpstr>
      <vt:lpstr>1. Team meeting</vt:lpstr>
      <vt:lpstr>Look into industry roles for your R &amp; D project</vt:lpstr>
      <vt:lpstr>2. Supervisor  meeting</vt:lpstr>
      <vt:lpstr>3. Understanding the scope</vt:lpstr>
      <vt:lpstr>Next week</vt:lpstr>
      <vt:lpstr>Referencing- use APA 7th Edition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Text</dc:title>
  <dc:creator>Remko de Jong</dc:creator>
  <cp:lastModifiedBy>Ramesh Lal</cp:lastModifiedBy>
  <cp:revision>43</cp:revision>
  <dcterms:created xsi:type="dcterms:W3CDTF">2024-07-12T01:05:45Z</dcterms:created>
  <dcterms:modified xsi:type="dcterms:W3CDTF">2025-07-23T22:42:15Z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2024-02-27T00:00:00Z</vt:filetime>
  </property>
  <property fmtid="{D5CDD505-2E9C-101B-9397-08002B2CF9AE}" pid="3" name="Creator">
    <vt:lpwstr>Microsoft® PowerPoint® for Microsoft 365</vt:lpwstr>
  </property>
  <property fmtid="{D5CDD505-2E9C-101B-9397-08002B2CF9AE}" pid="4" name="LastSaved">
    <vt:filetime>2024-07-12T00:00:00Z</vt:filetime>
  </property>
  <property fmtid="{D5CDD505-2E9C-101B-9397-08002B2CF9AE}" pid="5" name="Producer">
    <vt:lpwstr>Microsoft® PowerPoint® for Microsoft 365</vt:lpwstr>
  </property>
</Properties>
</file>